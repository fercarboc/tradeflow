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Conservador</c:v>
                </c:pt>
              </c:strCache>
            </c:strRef>
          </c:tx>
          <c:spPr>
            <a:solidFill>
              <a:srgbClr val="8899aa"/>
            </a:solidFill>
            <a:ln w="25560">
              <a:solidFill>
                <a:srgbClr val="8899aa"/>
              </a:solidFill>
              <a:round/>
            </a:ln>
          </c:spPr>
          <c:marker>
            <c:symbol val="circle"/>
            <c:size val="6"/>
            <c:spPr>
              <a:solidFill>
                <a:srgbClr val="8899aa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5</c:v>
                </c:pt>
                <c:pt idx="1">
                  <c:v>18</c:v>
                </c:pt>
                <c:pt idx="2">
                  <c:v>38</c:v>
                </c:pt>
                <c:pt idx="3">
                  <c:v>62</c:v>
                </c:pt>
                <c:pt idx="4">
                  <c:v>90</c:v>
                </c:pt>
                <c:pt idx="5">
                  <c:v>119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1a5a96"/>
            </a:solidFill>
            <a:ln w="25560">
              <a:solidFill>
                <a:srgbClr val="1a5a96"/>
              </a:solidFill>
              <a:round/>
            </a:ln>
          </c:spPr>
          <c:marker>
            <c:symbol val="circle"/>
            <c:size val="6"/>
            <c:spPr>
              <a:solidFill>
                <a:srgbClr val="1a5a96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6"/>
                <c:pt idx="0">
                  <c:v>8</c:v>
                </c:pt>
                <c:pt idx="1">
                  <c:v>32</c:v>
                </c:pt>
                <c:pt idx="2">
                  <c:v>78</c:v>
                </c:pt>
                <c:pt idx="3">
                  <c:v>145</c:v>
                </c:pt>
                <c:pt idx="4">
                  <c:v>228</c:v>
                </c:pt>
                <c:pt idx="5">
                  <c:v>318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Agresivo</c:v>
                </c:pt>
              </c:strCache>
            </c:strRef>
          </c:tx>
          <c:spPr>
            <a:solidFill>
              <a:srgbClr val="4a6741"/>
            </a:solidFill>
            <a:ln w="25560">
              <a:solidFill>
                <a:srgbClr val="4a6741"/>
              </a:solidFill>
              <a:round/>
            </a:ln>
          </c:spPr>
          <c:marker>
            <c:symbol val="circle"/>
            <c:size val="6"/>
            <c:spPr>
              <a:solidFill>
                <a:srgbClr val="4a6741"/>
              </a:solidFill>
            </c:spPr>
          </c:marker>
          <c:dLbls>
            <c:txPr>
              <a:bodyPr wrap="square"/>
              <a:lstStyle/>
              <a:p>
                <a:pPr>
                  <a:defRPr b="0" sz="12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M6</c:v>
                </c:pt>
                <c:pt idx="1">
                  <c:v>M12</c:v>
                </c:pt>
                <c:pt idx="2">
                  <c:v>M18</c:v>
                </c:pt>
                <c:pt idx="3">
                  <c:v>M24</c:v>
                </c:pt>
                <c:pt idx="4">
                  <c:v>M30</c:v>
                </c:pt>
                <c:pt idx="5">
                  <c:v>M36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6"/>
                <c:pt idx="0">
                  <c:v>15</c:v>
                </c:pt>
                <c:pt idx="1">
                  <c:v>68</c:v>
                </c:pt>
                <c:pt idx="2">
                  <c:v>210</c:v>
                </c:pt>
                <c:pt idx="3">
                  <c:v>450</c:v>
                </c:pt>
                <c:pt idx="4">
                  <c:v>680</c:v>
                </c:pt>
                <c:pt idx="5">
                  <c:v>927</c:v>
                </c:pt>
              </c:numCache>
            </c:numRef>
          </c:val>
          <c:smooth val="1"/>
        </c:ser>
        <c:hiLowLines>
          <c:spPr>
            <a:ln w="0">
              <a:noFill/>
            </a:ln>
          </c:spPr>
        </c:hiLowLines>
        <c:marker val="1"/>
        <c:axId val="20509489"/>
        <c:axId val="71228665"/>
      </c:lineChart>
      <c:catAx>
        <c:axId val="2050948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99aa"/>
                </a:solidFill>
                <a:latin typeface="Arial"/>
              </a:defRPr>
            </a:pPr>
          </a:p>
        </c:txPr>
        <c:crossAx val="71228665"/>
        <c:crosses val="autoZero"/>
        <c:auto val="1"/>
        <c:lblAlgn val="ctr"/>
        <c:lblOffset val="100"/>
        <c:noMultiLvlLbl val="0"/>
      </c:catAx>
      <c:valAx>
        <c:axId val="71228665"/>
        <c:scaling>
          <c:orientation val="minMax"/>
        </c:scaling>
        <c:delete val="0"/>
        <c:axPos val="l"/>
        <c:majorGridlines>
          <c:spPr>
            <a:ln w="6480">
              <a:solidFill>
                <a:srgbClr val="dde3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pc="-1" strike="noStrike">
                <a:solidFill>
                  <a:srgbClr val="8899aa"/>
                </a:solidFill>
                <a:latin typeface="Arial"/>
              </a:defRPr>
            </a:pPr>
          </a:p>
        </c:txPr>
        <c:crossAx val="20509489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solidFill>
      <a:srgbClr val="f5f6f8"/>
    </a:solidFill>
    <a:ln w="0">
      <a:noFill/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desplazar la diapositiva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5D196F4-154E-4480-B1ED-486577454D08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A5D826-E1AA-4FD1-9A5C-0292792792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C34991-6A8C-4AEC-B942-A20ADA6D7E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8CEAC63-E9C1-49FB-B696-728EE5F22E9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326476-C4F8-488F-92FF-850CDA057A8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AF3968-4F36-4640-AB63-4EC5DD35C86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0BDB9BA-2FB7-45A6-97AF-46301B0127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E8820F-A384-4914-956E-75FAC63CCB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6D42B1-E384-42C7-9E44-8FF67A9F37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9F970F-C0E8-493E-92CA-D38730F491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35F1C3-2D6F-479C-AB26-D567CAB2B0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CFE6D2-C3E1-42C4-BEE7-2A53C93819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9859FE-605F-4D96-A34B-759A71CEFE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76665D-07B2-4CE6-A2AF-220EF5AD84B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8B5F9A5-437E-4A4A-9204-E597A41A8F2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BA43AD-ADFC-46F5-8166-0B9D3926DBB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354564B-3A3B-4FD7-BDA5-7C0FB02872E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543618-7941-4B28-9F78-9FBC5ABFCC1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41A9ED0-5235-4CFA-9D00-A10B96B4050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EA4EC9-417D-42C5-89C6-6AE3F6D4286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F86EBA-BDFA-4B9D-8038-5B939EAA21D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ED014EE-232A-4AF5-8E25-B1EAC8D88D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95FE48-90D1-4DE1-9BB6-BC41E0963D2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&lt;número&gt;</a:t>
            </a:fld>
            <a:endParaRPr b="0" lang="es-E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pc="-1" strike="noStrike">
                <a:solidFill>
                  <a:srgbClr val="000000"/>
                </a:solidFill>
                <a:latin typeface="Calibri"/>
              </a:rPr>
              <a:t>Pulse para editar el formato del texto de título</a:t>
            </a:r>
            <a:endParaRPr b="0" lang="es-E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Calibri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400" spc="-1" strike="noStrike">
                <a:solidFill>
                  <a:srgbClr val="000000"/>
                </a:solidFill>
                <a:latin typeface="Calibri"/>
              </a:rPr>
              <a:t>Segundo nivel del esquema</a:t>
            </a:r>
            <a:endParaRPr b="0" lang="es-E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Tercer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Calibri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7132320" y="-1097280"/>
            <a:ext cx="3657240" cy="3657240"/>
          </a:xfrm>
          <a:prstGeom prst="ellipse">
            <a:avLst/>
          </a:prstGeom>
          <a:solidFill>
            <a:srgbClr val="1a3a5c">
              <a:alpha val="60000"/>
            </a:srgbClr>
          </a:solidFill>
          <a:ln w="12700">
            <a:solidFill>
              <a:srgbClr val="1a3a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-731520" y="3474720"/>
            <a:ext cx="2285640" cy="2285640"/>
          </a:xfrm>
          <a:prstGeom prst="ellipse">
            <a:avLst/>
          </a:prstGeom>
          <a:solidFill>
            <a:srgbClr val="c8922a">
              <a:alpha val="30000"/>
            </a:srgbClr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48640" y="45720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SEED ROUND · 2026 · CONFIDENCIAL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48640" y="914400"/>
            <a:ext cx="64004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200" spc="-1" strike="noStrike">
                <a:solidFill>
                  <a:srgbClr val="ffffff"/>
                </a:solidFill>
                <a:latin typeface="Cambria"/>
                <a:ea typeface="Cambria"/>
              </a:rPr>
              <a:t>TrabFlow</a:t>
            </a:r>
            <a:endParaRPr b="0" lang="es-ES" sz="7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48640" y="2148840"/>
            <a:ext cx="6857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sz="2000"/>
              <a:t>La IA que gestiona todo el ciclo de trabajo del instalador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0" y="3840480"/>
            <a:ext cx="9143640" cy="1298160"/>
          </a:xfrm>
          <a:prstGeom prst="rect">
            <a:avLst/>
          </a:prstGeom>
          <a:solidFill>
            <a:srgbClr val="0f2030"/>
          </a:solidFill>
          <a:ln w="12700">
            <a:solidFill>
              <a:srgbClr val="0f2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457200" y="4005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3,4M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4507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aacc"/>
                </a:solidFill>
                <a:latin typeface="Calibri"/>
                <a:ea typeface="Calibri"/>
              </a:rPr>
              <a:t>autónomos en España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3017520" y="4005000"/>
            <a:ext cx="360" cy="777240"/>
          </a:xfrm>
          <a:prstGeom prst="line">
            <a:avLst/>
          </a:prstGeom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9"/>
          <p:cNvSpPr/>
          <p:nvPr/>
        </p:nvSpPr>
        <p:spPr>
          <a:xfrm>
            <a:off x="3383280" y="4005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&lt; 3 min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3383280" y="4507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aacc"/>
                </a:solidFill>
                <a:latin typeface="Calibri"/>
                <a:ea typeface="Calibri"/>
              </a:rPr>
              <a:t>de voz a factura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11"/>
          <p:cNvSpPr/>
          <p:nvPr/>
        </p:nvSpPr>
        <p:spPr>
          <a:xfrm>
            <a:off x="5943600" y="4005000"/>
            <a:ext cx="360" cy="777240"/>
          </a:xfrm>
          <a:prstGeom prst="line">
            <a:avLst/>
          </a:prstGeom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309360" y="4005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IA vertical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6309360" y="45079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aacc"/>
                </a:solidFill>
                <a:latin typeface="Calibri"/>
                <a:ea typeface="Calibri"/>
              </a:rPr>
              <a:t>RITE · REBT · AEAT · IVA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4"/>
          <p:cNvSpPr/>
          <p:nvPr/>
        </p:nvSpPr>
        <p:spPr>
          <a:xfrm>
            <a:off x="548640" y="4846320"/>
            <a:ext cx="3657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TrabFlow Technologies, S.L.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15"/>
          <p:cNvSpPr/>
          <p:nvPr/>
        </p:nvSpPr>
        <p:spPr>
          <a:xfrm>
            <a:off x="7498080" y="4846320"/>
            <a:ext cx="1462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trabflow.com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EL PROBLEMA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457200" y="548640"/>
            <a:ext cx="5486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El instalador trabaja más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en la oficina que en la obra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2"/>
          <p:cNvSpPr/>
          <p:nvPr/>
        </p:nvSpPr>
        <p:spPr>
          <a:xfrm>
            <a:off x="457200" y="2057400"/>
            <a:ext cx="2377080" cy="2605680"/>
          </a:xfrm>
          <a:prstGeom prst="roundRect">
            <a:avLst>
              <a:gd name="adj" fmla="val 3846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3" name="Image 0" descr="preencoded.png"/>
          <p:cNvPicPr/>
          <p:nvPr/>
        </p:nvPicPr>
        <p:blipFill>
          <a:blip r:embed="rId1"/>
          <a:stretch/>
        </p:blipFill>
        <p:spPr>
          <a:xfrm>
            <a:off x="749880" y="2286000"/>
            <a:ext cx="456840" cy="456840"/>
          </a:xfrm>
          <a:prstGeom prst="rect">
            <a:avLst/>
          </a:prstGeom>
          <a:ln w="0">
            <a:noFill/>
          </a:ln>
        </p:spPr>
      </p:pic>
      <p:sp>
        <p:nvSpPr>
          <p:cNvPr id="64" name="Text 3"/>
          <p:cNvSpPr/>
          <p:nvPr/>
        </p:nvSpPr>
        <p:spPr>
          <a:xfrm>
            <a:off x="548640" y="283464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Cambria"/>
                <a:ea typeface="Cambria"/>
              </a:rPr>
              <a:t>2–3</a:t>
            </a:r>
            <a:endParaRPr b="0" lang="es-E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594360" y="3657600"/>
            <a:ext cx="21942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horas perdidas cada día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en tareas que no facturan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5"/>
          <p:cNvSpPr/>
          <p:nvPr/>
        </p:nvSpPr>
        <p:spPr>
          <a:xfrm>
            <a:off x="594360" y="4316040"/>
            <a:ext cx="2194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= €70/día de oportunidad perdida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67788"/>
                </a:solidFill>
                <a:latin typeface="Calibri"/>
                <a:ea typeface="Calibri"/>
              </a:rPr>
              <a:t>por instalador (a €35/hora)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306324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Image 1" descr="preencoded.png"/>
          <p:cNvPicPr/>
          <p:nvPr/>
        </p:nvPicPr>
        <p:blipFill>
          <a:blip r:embed="rId2"/>
          <a:stretch/>
        </p:blipFill>
        <p:spPr>
          <a:xfrm>
            <a:off x="354780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69" name="Text 7"/>
          <p:cNvSpPr/>
          <p:nvPr/>
        </p:nvSpPr>
        <p:spPr>
          <a:xfrm>
            <a:off x="311796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Presupuestos a mano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455364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Image 2" descr="preencoded.png"/>
          <p:cNvPicPr/>
          <p:nvPr/>
        </p:nvPicPr>
        <p:blipFill>
          <a:blip r:embed="rId3"/>
          <a:stretch/>
        </p:blipFill>
        <p:spPr>
          <a:xfrm>
            <a:off x="503820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2" name="Text 9"/>
          <p:cNvSpPr/>
          <p:nvPr/>
        </p:nvSpPr>
        <p:spPr>
          <a:xfrm>
            <a:off x="460872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Facturas en Excel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04404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Image 3" descr="preencoded.png"/>
          <p:cNvPicPr/>
          <p:nvPr/>
        </p:nvPicPr>
        <p:blipFill>
          <a:blip r:embed="rId4"/>
          <a:stretch/>
        </p:blipFill>
        <p:spPr>
          <a:xfrm>
            <a:off x="652896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5" name="Text 11"/>
          <p:cNvSpPr/>
          <p:nvPr/>
        </p:nvSpPr>
        <p:spPr>
          <a:xfrm>
            <a:off x="609912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Cobros sin seguimiento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7534800" y="205740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Image 4" descr="preencoded.png"/>
          <p:cNvPicPr/>
          <p:nvPr/>
        </p:nvPicPr>
        <p:blipFill>
          <a:blip r:embed="rId5"/>
          <a:stretch/>
        </p:blipFill>
        <p:spPr>
          <a:xfrm>
            <a:off x="8019360" y="224028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78" name="Text 13"/>
          <p:cNvSpPr/>
          <p:nvPr/>
        </p:nvSpPr>
        <p:spPr>
          <a:xfrm>
            <a:off x="7589520" y="265176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WhatsApp caótico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14"/>
          <p:cNvSpPr/>
          <p:nvPr/>
        </p:nvSpPr>
        <p:spPr>
          <a:xfrm>
            <a:off x="306324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5" descr="preencoded.png"/>
          <p:cNvPicPr/>
          <p:nvPr/>
        </p:nvPicPr>
        <p:blipFill>
          <a:blip r:embed="rId6"/>
          <a:stretch/>
        </p:blipFill>
        <p:spPr>
          <a:xfrm>
            <a:off x="354780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81" name="Text 15"/>
          <p:cNvSpPr/>
          <p:nvPr/>
        </p:nvSpPr>
        <p:spPr>
          <a:xfrm>
            <a:off x="311796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Planificación manual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455364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Image 6" descr="preencoded.png"/>
          <p:cNvPicPr/>
          <p:nvPr/>
        </p:nvPicPr>
        <p:blipFill>
          <a:blip r:embed="rId7"/>
          <a:stretch/>
        </p:blipFill>
        <p:spPr>
          <a:xfrm>
            <a:off x="503820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84" name="Text 17"/>
          <p:cNvSpPr/>
          <p:nvPr/>
        </p:nvSpPr>
        <p:spPr>
          <a:xfrm>
            <a:off x="460872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Materiales dispersos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8"/>
          <p:cNvSpPr/>
          <p:nvPr/>
        </p:nvSpPr>
        <p:spPr>
          <a:xfrm>
            <a:off x="604404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7" descr="preencoded.png"/>
          <p:cNvPicPr/>
          <p:nvPr/>
        </p:nvPicPr>
        <p:blipFill>
          <a:blip r:embed="rId8"/>
          <a:stretch/>
        </p:blipFill>
        <p:spPr>
          <a:xfrm>
            <a:off x="652896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87" name="Text 19"/>
          <p:cNvSpPr/>
          <p:nvPr/>
        </p:nvSpPr>
        <p:spPr>
          <a:xfrm>
            <a:off x="609912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Normativa sin consulta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20"/>
          <p:cNvSpPr/>
          <p:nvPr/>
        </p:nvSpPr>
        <p:spPr>
          <a:xfrm>
            <a:off x="7534800" y="3337560"/>
            <a:ext cx="1352880" cy="1142640"/>
          </a:xfrm>
          <a:prstGeom prst="roundRect">
            <a:avLst>
              <a:gd name="adj" fmla="val 5600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" name="Image 8" descr="preencoded.png"/>
          <p:cNvPicPr/>
          <p:nvPr/>
        </p:nvPicPr>
        <p:blipFill>
          <a:blip r:embed="rId9"/>
          <a:stretch/>
        </p:blipFill>
        <p:spPr>
          <a:xfrm>
            <a:off x="8019360" y="352044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90" name="Text 21"/>
          <p:cNvSpPr/>
          <p:nvPr/>
        </p:nvSpPr>
        <p:spPr>
          <a:xfrm>
            <a:off x="7589520" y="3931920"/>
            <a:ext cx="1243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Sin historial de datos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22"/>
          <p:cNvSpPr/>
          <p:nvPr/>
        </p:nvSpPr>
        <p:spPr>
          <a:xfrm>
            <a:off x="457200" y="4663440"/>
            <a:ext cx="8229240" cy="319680"/>
          </a:xfrm>
          <a:prstGeom prst="roundRect">
            <a:avLst>
              <a:gd name="adj" fmla="val 14286"/>
            </a:avLst>
          </a:prstGeom>
          <a:solidFill>
            <a:srgbClr val="fdf3e0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640080" y="4690800"/>
            <a:ext cx="7863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La mayoría sigue con papel, Excel y WhatsApp sueltos. No existe una plataforma diseñada específicamente para ellos.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4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EL PRODUCTO EN ACCIÓN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57200" y="5670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Del trabajo al cobro en menos de 3 minutos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32004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32004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4"/>
          <p:cNvSpPr/>
          <p:nvPr/>
        </p:nvSpPr>
        <p:spPr>
          <a:xfrm>
            <a:off x="18288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Cliente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llama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5"/>
          <p:cNvSpPr/>
          <p:nvPr/>
        </p:nvSpPr>
        <p:spPr>
          <a:xfrm>
            <a:off x="82296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125280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125280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111564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Dicta el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trabajo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9"/>
          <p:cNvSpPr/>
          <p:nvPr/>
        </p:nvSpPr>
        <p:spPr>
          <a:xfrm>
            <a:off x="175536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2185560" y="1920240"/>
            <a:ext cx="502560" cy="5025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218556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204840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IA genera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presupuesto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268812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311796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311796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6"/>
          <p:cNvSpPr/>
          <p:nvPr/>
        </p:nvSpPr>
        <p:spPr>
          <a:xfrm>
            <a:off x="298080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Envía por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WhatsApp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7"/>
          <p:cNvSpPr/>
          <p:nvPr/>
        </p:nvSpPr>
        <p:spPr>
          <a:xfrm>
            <a:off x="362088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8"/>
          <p:cNvSpPr/>
          <p:nvPr/>
        </p:nvSpPr>
        <p:spPr>
          <a:xfrm>
            <a:off x="405072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9"/>
          <p:cNvSpPr/>
          <p:nvPr/>
        </p:nvSpPr>
        <p:spPr>
          <a:xfrm>
            <a:off x="405072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20"/>
          <p:cNvSpPr/>
          <p:nvPr/>
        </p:nvSpPr>
        <p:spPr>
          <a:xfrm>
            <a:off x="391356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Cliente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acepta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21"/>
          <p:cNvSpPr/>
          <p:nvPr/>
        </p:nvSpPr>
        <p:spPr>
          <a:xfrm>
            <a:off x="455364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22"/>
          <p:cNvSpPr/>
          <p:nvPr/>
        </p:nvSpPr>
        <p:spPr>
          <a:xfrm>
            <a:off x="498348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3"/>
          <p:cNvSpPr/>
          <p:nvPr/>
        </p:nvSpPr>
        <p:spPr>
          <a:xfrm>
            <a:off x="498348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4"/>
          <p:cNvSpPr/>
          <p:nvPr/>
        </p:nvSpPr>
        <p:spPr>
          <a:xfrm>
            <a:off x="484632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Ruta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automática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25"/>
          <p:cNvSpPr/>
          <p:nvPr/>
        </p:nvSpPr>
        <p:spPr>
          <a:xfrm>
            <a:off x="548640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Shape 26"/>
          <p:cNvSpPr/>
          <p:nvPr/>
        </p:nvSpPr>
        <p:spPr>
          <a:xfrm>
            <a:off x="591624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7"/>
          <p:cNvSpPr/>
          <p:nvPr/>
        </p:nvSpPr>
        <p:spPr>
          <a:xfrm>
            <a:off x="591624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7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8"/>
          <p:cNvSpPr/>
          <p:nvPr/>
        </p:nvSpPr>
        <p:spPr>
          <a:xfrm>
            <a:off x="577908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Trabajo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completado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29"/>
          <p:cNvSpPr/>
          <p:nvPr/>
        </p:nvSpPr>
        <p:spPr>
          <a:xfrm>
            <a:off x="641880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30"/>
          <p:cNvSpPr/>
          <p:nvPr/>
        </p:nvSpPr>
        <p:spPr>
          <a:xfrm>
            <a:off x="6849000" y="1920240"/>
            <a:ext cx="502560" cy="5025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31"/>
          <p:cNvSpPr/>
          <p:nvPr/>
        </p:nvSpPr>
        <p:spPr>
          <a:xfrm>
            <a:off x="684900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8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32"/>
          <p:cNvSpPr/>
          <p:nvPr/>
        </p:nvSpPr>
        <p:spPr>
          <a:xfrm>
            <a:off x="671184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Factura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generada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Shape 33"/>
          <p:cNvSpPr/>
          <p:nvPr/>
        </p:nvSpPr>
        <p:spPr>
          <a:xfrm>
            <a:off x="7351560" y="2166840"/>
            <a:ext cx="320040" cy="360"/>
          </a:xfrm>
          <a:prstGeom prst="line">
            <a:avLst/>
          </a:prstGeom>
          <a:ln w="1905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34"/>
          <p:cNvSpPr/>
          <p:nvPr/>
        </p:nvSpPr>
        <p:spPr>
          <a:xfrm>
            <a:off x="7781400" y="192024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35"/>
          <p:cNvSpPr/>
          <p:nvPr/>
        </p:nvSpPr>
        <p:spPr>
          <a:xfrm>
            <a:off x="7781400" y="1938600"/>
            <a:ext cx="502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9</a:t>
            </a:r>
            <a:endParaRPr b="0" lang="es-E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36"/>
          <p:cNvSpPr/>
          <p:nvPr/>
        </p:nvSpPr>
        <p:spPr>
          <a:xfrm>
            <a:off x="7644240" y="2487240"/>
            <a:ext cx="776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Cobro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aabbcc"/>
                </a:solidFill>
                <a:latin typeface="Calibri"/>
                <a:ea typeface="Calibri"/>
              </a:rPr>
              <a:t>controlado</a:t>
            </a:r>
            <a:endParaRPr b="0" lang="es-E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37"/>
          <p:cNvSpPr/>
          <p:nvPr/>
        </p:nvSpPr>
        <p:spPr>
          <a:xfrm>
            <a:off x="2926080" y="3337560"/>
            <a:ext cx="3291480" cy="822600"/>
          </a:xfrm>
          <a:prstGeom prst="roundRect">
            <a:avLst>
              <a:gd name="adj" fmla="val 888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38"/>
          <p:cNvSpPr/>
          <p:nvPr/>
        </p:nvSpPr>
        <p:spPr>
          <a:xfrm>
            <a:off x="2926080" y="3383280"/>
            <a:ext cx="3291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Todo esto: menos de 3 minutos</a:t>
            </a:r>
            <a:endParaRPr b="0" lang="es-E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Shape 39"/>
          <p:cNvSpPr/>
          <p:nvPr/>
        </p:nvSpPr>
        <p:spPr>
          <a:xfrm>
            <a:off x="457200" y="4343400"/>
            <a:ext cx="2605680" cy="6397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40"/>
          <p:cNvSpPr/>
          <p:nvPr/>
        </p:nvSpPr>
        <p:spPr>
          <a:xfrm>
            <a:off x="457200" y="43707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Sin escribir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41"/>
          <p:cNvSpPr/>
          <p:nvPr/>
        </p:nvSpPr>
        <p:spPr>
          <a:xfrm>
            <a:off x="457200" y="4636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Dicta desde la furgoneta o la obra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42"/>
          <p:cNvSpPr/>
          <p:nvPr/>
        </p:nvSpPr>
        <p:spPr>
          <a:xfrm>
            <a:off x="3291840" y="4343400"/>
            <a:ext cx="2605680" cy="6397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43"/>
          <p:cNvSpPr/>
          <p:nvPr/>
        </p:nvSpPr>
        <p:spPr>
          <a:xfrm>
            <a:off x="3291840" y="43707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Sin ordenador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44"/>
          <p:cNvSpPr/>
          <p:nvPr/>
        </p:nvSpPr>
        <p:spPr>
          <a:xfrm>
            <a:off x="3291840" y="4636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Todo desde el móvil, en cualquier lugar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45"/>
          <p:cNvSpPr/>
          <p:nvPr/>
        </p:nvSpPr>
        <p:spPr>
          <a:xfrm>
            <a:off x="6126480" y="4343400"/>
            <a:ext cx="2605680" cy="639720"/>
          </a:xfrm>
          <a:prstGeom prst="roundRect">
            <a:avLst>
              <a:gd name="adj" fmla="val 10000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46"/>
          <p:cNvSpPr/>
          <p:nvPr/>
        </p:nvSpPr>
        <p:spPr>
          <a:xfrm>
            <a:off x="6126480" y="437076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Sin perder el hilo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47"/>
          <p:cNvSpPr/>
          <p:nvPr/>
        </p:nvSpPr>
        <p:spPr>
          <a:xfrm>
            <a:off x="6126480" y="463608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La IA recuerda el contexto del trabajo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4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03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 1 · EL INSTALADOR HABLA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457200" y="567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1c2535"/>
                </a:solidFill>
                <a:latin typeface="Cambria"/>
                <a:ea typeface="Cambria"/>
              </a:rPr>
              <a:t>Una frase. Eso es todo.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"/>
          <p:cNvSpPr/>
          <p:nvPr/>
        </p:nvSpPr>
        <p:spPr>
          <a:xfrm>
            <a:off x="457200" y="1325880"/>
            <a:ext cx="8229240" cy="10512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Image 0" descr="preencoded.png"/>
          <p:cNvPicPr/>
          <p:nvPr/>
        </p:nvPicPr>
        <p:blipFill>
          <a:blip r:embed="rId1"/>
          <a:stretch/>
        </p:blipFill>
        <p:spPr>
          <a:xfrm>
            <a:off x="658440" y="150876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147" name="Text 3"/>
          <p:cNvSpPr/>
          <p:nvPr/>
        </p:nvSpPr>
        <p:spPr>
          <a:xfrm>
            <a:off x="1188720" y="141732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1c2535"/>
                </a:solidFill>
                <a:latin typeface="Cambria"/>
                <a:ea typeface="Cambria"/>
              </a:rPr>
              <a:t>"Hacer presupuesto para cambio de bañera por plato de ducha en Calle Valencia 245, con demolición y nueva instalación completa de fontanería."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4"/>
          <p:cNvSpPr/>
          <p:nvPr/>
        </p:nvSpPr>
        <p:spPr>
          <a:xfrm>
            <a:off x="457200" y="2651760"/>
            <a:ext cx="26330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5"/>
          <p:cNvSpPr/>
          <p:nvPr/>
        </p:nvSpPr>
        <p:spPr>
          <a:xfrm>
            <a:off x="1463040" y="2715840"/>
            <a:ext cx="621360" cy="6213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6"/>
          <p:cNvSpPr/>
          <p:nvPr/>
        </p:nvSpPr>
        <p:spPr>
          <a:xfrm>
            <a:off x="1463040" y="271584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7"/>
          <p:cNvSpPr/>
          <p:nvPr/>
        </p:nvSpPr>
        <p:spPr>
          <a:xfrm>
            <a:off x="594360" y="3429000"/>
            <a:ext cx="235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Reconoce el tipo de trabajo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8"/>
          <p:cNvSpPr/>
          <p:nvPr/>
        </p:nvSpPr>
        <p:spPr>
          <a:xfrm>
            <a:off x="594360" y="3767400"/>
            <a:ext cx="2358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Demolición + fontanería completa → detecta la actuación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9"/>
          <p:cNvSpPr/>
          <p:nvPr/>
        </p:nvSpPr>
        <p:spPr>
          <a:xfrm>
            <a:off x="3273480" y="2651760"/>
            <a:ext cx="26330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0"/>
          <p:cNvSpPr/>
          <p:nvPr/>
        </p:nvSpPr>
        <p:spPr>
          <a:xfrm>
            <a:off x="4279320" y="2715840"/>
            <a:ext cx="621360" cy="6213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1"/>
          <p:cNvSpPr/>
          <p:nvPr/>
        </p:nvSpPr>
        <p:spPr>
          <a:xfrm>
            <a:off x="4279320" y="271584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2"/>
          <p:cNvSpPr/>
          <p:nvPr/>
        </p:nvSpPr>
        <p:spPr>
          <a:xfrm>
            <a:off x="3410640" y="3429000"/>
            <a:ext cx="235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Detecta los materiales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3"/>
          <p:cNvSpPr/>
          <p:nvPr/>
        </p:nvSpPr>
        <p:spPr>
          <a:xfrm>
            <a:off x="3410640" y="3767400"/>
            <a:ext cx="2358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Plato, mampara, tuberías, accesorios → Base Maestra propia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4"/>
          <p:cNvSpPr/>
          <p:nvPr/>
        </p:nvSpPr>
        <p:spPr>
          <a:xfrm>
            <a:off x="6089760" y="2651760"/>
            <a:ext cx="2633040" cy="15541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7095600" y="2715840"/>
            <a:ext cx="621360" cy="6213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7095600" y="2715840"/>
            <a:ext cx="621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6226920" y="3429000"/>
            <a:ext cx="2358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Ubica y personaliza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6226920" y="3767400"/>
            <a:ext cx="2358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Dirección del cliente registrada y asociada al presupuesto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9"/>
          <p:cNvSpPr/>
          <p:nvPr/>
        </p:nvSpPr>
        <p:spPr>
          <a:xfrm>
            <a:off x="457200" y="4389120"/>
            <a:ext cx="8229240" cy="456840"/>
          </a:xfrm>
          <a:prstGeom prst="roundRect">
            <a:avLst>
              <a:gd name="adj" fmla="val 12000"/>
            </a:avLst>
          </a:prstGeom>
          <a:solidFill>
            <a:srgbClr val="e8f4e8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0"/>
          <p:cNvSpPr/>
          <p:nvPr/>
        </p:nvSpPr>
        <p:spPr>
          <a:xfrm>
            <a:off x="640080" y="44258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4a6741"/>
                </a:solidFill>
                <a:latin typeface="Calibri"/>
                <a:ea typeface="Calibri"/>
              </a:rPr>
              <a:t>La IA no improvisa. Detecta el tipo de actuación y llama a la plantilla predefinida de la Base Maestra.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1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04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 2 · LA IA GENERA EL PRESUPUESTO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"/>
          <p:cNvSpPr/>
          <p:nvPr/>
        </p:nvSpPr>
        <p:spPr>
          <a:xfrm>
            <a:off x="457200" y="567000"/>
            <a:ext cx="6400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30 segundos. Presupuesto completo.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457200" y="1234440"/>
            <a:ext cx="5028840" cy="3520080"/>
          </a:xfrm>
          <a:prstGeom prst="roundRect">
            <a:avLst>
              <a:gd name="adj" fmla="val 259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  <a:effectLst>
            <a:outerShdw algn="bl" blurRad="12708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457200" y="1234440"/>
            <a:ext cx="5028840" cy="594000"/>
          </a:xfrm>
          <a:prstGeom prst="roundRect">
            <a:avLst>
              <a:gd name="adj" fmla="val 15385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94360" y="12985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Presupuesto #P-2026-087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4206240" y="1325880"/>
            <a:ext cx="1096920" cy="255600"/>
          </a:xfrm>
          <a:prstGeom prst="roundRect">
            <a:avLst>
              <a:gd name="adj" fmla="val 14286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4206240" y="13258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  <a:ea typeface="Calibri"/>
              </a:rPr>
              <a:t>Listo para enviar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457200" y="1938600"/>
            <a:ext cx="5028840" cy="301320"/>
          </a:xfrm>
          <a:prstGeom prst="rect">
            <a:avLst/>
          </a:prstGeom>
          <a:solidFill>
            <a:srgbClr val="eceef2"/>
          </a:solidFill>
          <a:ln w="12700">
            <a:solidFill>
              <a:srgbClr val="ec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8"/>
          <p:cNvSpPr/>
          <p:nvPr/>
        </p:nvSpPr>
        <p:spPr>
          <a:xfrm>
            <a:off x="594360" y="199332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Demolición bañera y azulejos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4251960" y="19933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280,00 €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594360" y="229500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Plato de ducha 90x90 + mampara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4251960" y="22950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420,00 €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2"/>
          <p:cNvSpPr/>
          <p:nvPr/>
        </p:nvSpPr>
        <p:spPr>
          <a:xfrm>
            <a:off x="457200" y="2541960"/>
            <a:ext cx="5028840" cy="301320"/>
          </a:xfrm>
          <a:prstGeom prst="rect">
            <a:avLst/>
          </a:prstGeom>
          <a:solidFill>
            <a:srgbClr val="eceef2"/>
          </a:solidFill>
          <a:ln w="12700">
            <a:solidFill>
              <a:srgbClr val="ec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3"/>
          <p:cNvSpPr/>
          <p:nvPr/>
        </p:nvSpPr>
        <p:spPr>
          <a:xfrm>
            <a:off x="594360" y="259704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Instalación fontanería completa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4"/>
          <p:cNvSpPr/>
          <p:nvPr/>
        </p:nvSpPr>
        <p:spPr>
          <a:xfrm>
            <a:off x="4251960" y="259704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390,00 €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15"/>
          <p:cNvSpPr/>
          <p:nvPr/>
        </p:nvSpPr>
        <p:spPr>
          <a:xfrm>
            <a:off x="594360" y="289872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Materiales y accesorios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16"/>
          <p:cNvSpPr/>
          <p:nvPr/>
        </p:nvSpPr>
        <p:spPr>
          <a:xfrm>
            <a:off x="4251960" y="289872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185,00 €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457200" y="3145680"/>
            <a:ext cx="5028840" cy="301320"/>
          </a:xfrm>
          <a:prstGeom prst="rect">
            <a:avLst/>
          </a:prstGeom>
          <a:solidFill>
            <a:srgbClr val="eceef2"/>
          </a:solidFill>
          <a:ln w="12700">
            <a:solidFill>
              <a:srgbClr val="eceef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594360" y="320040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Mano de obra (8h)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19"/>
          <p:cNvSpPr/>
          <p:nvPr/>
        </p:nvSpPr>
        <p:spPr>
          <a:xfrm>
            <a:off x="4251960" y="32004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280,00 €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594360" y="3502080"/>
            <a:ext cx="3474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Desplazamiento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4251960" y="35020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45,00 €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22"/>
          <p:cNvSpPr/>
          <p:nvPr/>
        </p:nvSpPr>
        <p:spPr>
          <a:xfrm>
            <a:off x="457200" y="3767400"/>
            <a:ext cx="5028840" cy="63972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3"/>
          <p:cNvSpPr/>
          <p:nvPr/>
        </p:nvSpPr>
        <p:spPr>
          <a:xfrm>
            <a:off x="594360" y="38404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TOTAL (IVA incluido)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3200400" y="3813120"/>
            <a:ext cx="2148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c8922a"/>
                </a:solidFill>
                <a:latin typeface="Cambria"/>
                <a:ea typeface="Cambria"/>
              </a:rPr>
              <a:t>1.855,00 €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5"/>
          <p:cNvSpPr/>
          <p:nvPr/>
        </p:nvSpPr>
        <p:spPr>
          <a:xfrm>
            <a:off x="5760720" y="128016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5897880" y="133488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Materiales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27"/>
          <p:cNvSpPr/>
          <p:nvPr/>
        </p:nvSpPr>
        <p:spPr>
          <a:xfrm>
            <a:off x="5897880" y="160920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Calculados automáticamente por la Base Maestra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Shape 28"/>
          <p:cNvSpPr/>
          <p:nvPr/>
        </p:nvSpPr>
        <p:spPr>
          <a:xfrm>
            <a:off x="5760720" y="216720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9"/>
          <p:cNvSpPr/>
          <p:nvPr/>
        </p:nvSpPr>
        <p:spPr>
          <a:xfrm>
            <a:off x="5897880" y="222192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Precios reales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30"/>
          <p:cNvSpPr/>
          <p:nvPr/>
        </p:nvSpPr>
        <p:spPr>
          <a:xfrm>
            <a:off x="5897880" y="2496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Tarifas actualizadas del sector, no estimaciones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31"/>
          <p:cNvSpPr/>
          <p:nvPr/>
        </p:nvSpPr>
        <p:spPr>
          <a:xfrm>
            <a:off x="5760720" y="305424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32"/>
          <p:cNvSpPr/>
          <p:nvPr/>
        </p:nvSpPr>
        <p:spPr>
          <a:xfrm>
            <a:off x="5897880" y="310896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IVA correcto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33"/>
          <p:cNvSpPr/>
          <p:nvPr/>
        </p:nvSpPr>
        <p:spPr>
          <a:xfrm>
            <a:off x="5897880" y="338328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Tipo aplicado según tipo de obra y cliente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34"/>
          <p:cNvSpPr/>
          <p:nvPr/>
        </p:nvSpPr>
        <p:spPr>
          <a:xfrm>
            <a:off x="5760720" y="3940920"/>
            <a:ext cx="2925720" cy="749520"/>
          </a:xfrm>
          <a:prstGeom prst="roundRect">
            <a:avLst>
              <a:gd name="adj" fmla="val 8537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35"/>
          <p:cNvSpPr/>
          <p:nvPr/>
        </p:nvSpPr>
        <p:spPr>
          <a:xfrm>
            <a:off x="5897880" y="3996000"/>
            <a:ext cx="2651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PDF profesional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36"/>
          <p:cNvSpPr/>
          <p:nvPr/>
        </p:nvSpPr>
        <p:spPr>
          <a:xfrm>
            <a:off x="5897880" y="427032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Listo para enviar al cliente en 1 clic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3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PASOS 3 y 4 · ACEPTACIÓN Y PLANIFICACIÓN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El cliente acepta. TrabFlow planifica solo.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Shape 2"/>
          <p:cNvSpPr/>
          <p:nvPr/>
        </p:nvSpPr>
        <p:spPr>
          <a:xfrm>
            <a:off x="457200" y="1261800"/>
            <a:ext cx="4023000" cy="33829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457200" y="1261800"/>
            <a:ext cx="4023000" cy="502560"/>
          </a:xfrm>
          <a:prstGeom prst="roundRect">
            <a:avLst>
              <a:gd name="adj" fmla="val 18182"/>
            </a:avLst>
          </a:prstGeom>
          <a:solidFill>
            <a:srgbClr val="25d366"/>
          </a:solidFill>
          <a:ln w="12700">
            <a:solidFill>
              <a:srgbClr val="25d3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Image 0" descr="preencoded.png"/>
          <p:cNvPicPr/>
          <p:nvPr/>
        </p:nvPicPr>
        <p:blipFill>
          <a:blip r:embed="rId1"/>
          <a:stretch/>
        </p:blipFill>
        <p:spPr>
          <a:xfrm>
            <a:off x="621720" y="134424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209" name="Text 4"/>
          <p:cNvSpPr/>
          <p:nvPr/>
        </p:nvSpPr>
        <p:spPr>
          <a:xfrm>
            <a:off x="960120" y="137160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WhatsApp · TrabFlow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594360" y="1920240"/>
            <a:ext cx="2559960" cy="658080"/>
          </a:xfrm>
          <a:prstGeom prst="roundRect">
            <a:avLst>
              <a:gd name="adj" fmla="val 11111"/>
            </a:avLst>
          </a:prstGeom>
          <a:solidFill>
            <a:srgbClr val="e8ecf0"/>
          </a:solidFill>
          <a:ln w="12700">
            <a:solidFill>
              <a:srgbClr val="e8ec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685800" y="201168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Aquí tiene su presupuesto #P-2026-087 por importe de 1.855€ IVA incluido.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1463040" y="2788920"/>
            <a:ext cx="2559960" cy="658080"/>
          </a:xfrm>
          <a:prstGeom prst="roundRect">
            <a:avLst>
              <a:gd name="adj" fmla="val 11111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1554480" y="2880360"/>
            <a:ext cx="2377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Presupuesto aceptado. Nos vemos el jueves.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594360" y="3831480"/>
            <a:ext cx="200880" cy="20088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594360" y="38131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868680" y="37947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Trabajo creado automáticamente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594360" y="4151520"/>
            <a:ext cx="200880" cy="20088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594360" y="413316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868680" y="41148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Cliente registrado en CRM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594360" y="4471560"/>
            <a:ext cx="200880" cy="20088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594360" y="445320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868680" y="44348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Presupuesto archivado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4709160" y="1261800"/>
            <a:ext cx="3977280" cy="33829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4709160" y="1261800"/>
            <a:ext cx="3977280" cy="502560"/>
          </a:xfrm>
          <a:prstGeom prst="roundRect">
            <a:avLst>
              <a:gd name="adj" fmla="val 18182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4864680" y="1371600"/>
            <a:ext cx="3474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Planificación · Jueves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4864680" y="1947600"/>
            <a:ext cx="145800" cy="1458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5074920" y="187452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08:00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5715000" y="187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A — Instalación caldera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24"/>
          <p:cNvSpPr/>
          <p:nvPr/>
        </p:nvSpPr>
        <p:spPr>
          <a:xfrm>
            <a:off x="4864680" y="2423160"/>
            <a:ext cx="145800" cy="14580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5074920" y="235008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10:15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5715000" y="23500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B — Reparación fuga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27"/>
          <p:cNvSpPr/>
          <p:nvPr/>
        </p:nvSpPr>
        <p:spPr>
          <a:xfrm>
            <a:off x="4864680" y="2898720"/>
            <a:ext cx="145800" cy="14580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28"/>
          <p:cNvSpPr/>
          <p:nvPr/>
        </p:nvSpPr>
        <p:spPr>
          <a:xfrm>
            <a:off x="5074920" y="282564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12:30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5715000" y="28256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C — Mantenimiento ACS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4864680" y="3374280"/>
            <a:ext cx="145800" cy="1458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31"/>
          <p:cNvSpPr/>
          <p:nvPr/>
        </p:nvSpPr>
        <p:spPr>
          <a:xfrm>
            <a:off x="5074920" y="330084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15:00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2"/>
          <p:cNvSpPr/>
          <p:nvPr/>
        </p:nvSpPr>
        <p:spPr>
          <a:xfrm>
            <a:off x="5715000" y="33008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c8922a"/>
                </a:solidFill>
                <a:latin typeface="Calibri"/>
                <a:ea typeface="Calibri"/>
              </a:rPr>
              <a:t>Calle Valencia 245 ★ NUEVO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33"/>
          <p:cNvSpPr/>
          <p:nvPr/>
        </p:nvSpPr>
        <p:spPr>
          <a:xfrm>
            <a:off x="4864680" y="3849480"/>
            <a:ext cx="145800" cy="1458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34"/>
          <p:cNvSpPr/>
          <p:nvPr/>
        </p:nvSpPr>
        <p:spPr>
          <a:xfrm>
            <a:off x="5074920" y="3776400"/>
            <a:ext cx="594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17:30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35"/>
          <p:cNvSpPr/>
          <p:nvPr/>
        </p:nvSpPr>
        <p:spPr>
          <a:xfrm>
            <a:off x="5715000" y="37764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Cliente E — Revisión instalación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36"/>
          <p:cNvSpPr/>
          <p:nvPr/>
        </p:nvSpPr>
        <p:spPr>
          <a:xfrm>
            <a:off x="4800600" y="4251960"/>
            <a:ext cx="1737000" cy="548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37"/>
          <p:cNvSpPr/>
          <p:nvPr/>
        </p:nvSpPr>
        <p:spPr>
          <a:xfrm>
            <a:off x="4800600" y="427932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5a96"/>
                </a:solidFill>
                <a:latin typeface="Cambria"/>
                <a:ea typeface="Cambria"/>
              </a:rPr>
              <a:t>128 km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38"/>
          <p:cNvSpPr/>
          <p:nvPr/>
        </p:nvSpPr>
        <p:spPr>
          <a:xfrm>
            <a:off x="4800600" y="45262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total optimizado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39"/>
          <p:cNvSpPr/>
          <p:nvPr/>
        </p:nvSpPr>
        <p:spPr>
          <a:xfrm>
            <a:off x="6720840" y="4251960"/>
            <a:ext cx="1737000" cy="548280"/>
          </a:xfrm>
          <a:prstGeom prst="roundRect">
            <a:avLst>
              <a:gd name="adj" fmla="val 10000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40"/>
          <p:cNvSpPr/>
          <p:nvPr/>
        </p:nvSpPr>
        <p:spPr>
          <a:xfrm>
            <a:off x="6720840" y="427932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a5a96"/>
                </a:solidFill>
                <a:latin typeface="Cambria"/>
                <a:ea typeface="Cambria"/>
              </a:rPr>
              <a:t>98 €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41"/>
          <p:cNvSpPr/>
          <p:nvPr/>
        </p:nvSpPr>
        <p:spPr>
          <a:xfrm>
            <a:off x="6720840" y="4526280"/>
            <a:ext cx="1737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ahorro combustible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42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PASO 5 · FACTURACIÓN Y COBRO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457200" y="567000"/>
            <a:ext cx="54860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Trabajo completado.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mbria"/>
                <a:ea typeface="Cambria"/>
              </a:rPr>
              <a:t>Un clic. Factura enviada.</a:t>
            </a:r>
            <a:endParaRPr b="0" lang="es-E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2"/>
          <p:cNvSpPr/>
          <p:nvPr/>
        </p:nvSpPr>
        <p:spPr>
          <a:xfrm>
            <a:off x="502920" y="178308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502920" y="176472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4"/>
          <p:cNvSpPr/>
          <p:nvPr/>
        </p:nvSpPr>
        <p:spPr>
          <a:xfrm>
            <a:off x="822960" y="175572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Trabajo marcado como completado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5"/>
          <p:cNvSpPr/>
          <p:nvPr/>
        </p:nvSpPr>
        <p:spPr>
          <a:xfrm>
            <a:off x="502920" y="228600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6"/>
          <p:cNvSpPr/>
          <p:nvPr/>
        </p:nvSpPr>
        <p:spPr>
          <a:xfrm>
            <a:off x="502920" y="226764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7"/>
          <p:cNvSpPr/>
          <p:nvPr/>
        </p:nvSpPr>
        <p:spPr>
          <a:xfrm>
            <a:off x="822960" y="225864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Factura generada automáticamente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Shape 8"/>
          <p:cNvSpPr/>
          <p:nvPr/>
        </p:nvSpPr>
        <p:spPr>
          <a:xfrm>
            <a:off x="502920" y="278892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9"/>
          <p:cNvSpPr/>
          <p:nvPr/>
        </p:nvSpPr>
        <p:spPr>
          <a:xfrm>
            <a:off x="502920" y="277056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10"/>
          <p:cNvSpPr/>
          <p:nvPr/>
        </p:nvSpPr>
        <p:spPr>
          <a:xfrm>
            <a:off x="822960" y="2761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Numeración VeriFactu correcta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1"/>
          <p:cNvSpPr/>
          <p:nvPr/>
        </p:nvSpPr>
        <p:spPr>
          <a:xfrm>
            <a:off x="502920" y="329184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2"/>
          <p:cNvSpPr/>
          <p:nvPr/>
        </p:nvSpPr>
        <p:spPr>
          <a:xfrm>
            <a:off x="502920" y="327348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3"/>
          <p:cNvSpPr/>
          <p:nvPr/>
        </p:nvSpPr>
        <p:spPr>
          <a:xfrm>
            <a:off x="822960" y="326448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Enviada por email al cliente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4"/>
          <p:cNvSpPr/>
          <p:nvPr/>
        </p:nvSpPr>
        <p:spPr>
          <a:xfrm>
            <a:off x="502920" y="3794760"/>
            <a:ext cx="237240" cy="2372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5"/>
          <p:cNvSpPr/>
          <p:nvPr/>
        </p:nvSpPr>
        <p:spPr>
          <a:xfrm>
            <a:off x="502920" y="3776400"/>
            <a:ext cx="23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✓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6"/>
          <p:cNvSpPr/>
          <p:nvPr/>
        </p:nvSpPr>
        <p:spPr>
          <a:xfrm>
            <a:off x="822960" y="376740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Cobro registrado y controlado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Shape 17"/>
          <p:cNvSpPr/>
          <p:nvPr/>
        </p:nvSpPr>
        <p:spPr>
          <a:xfrm>
            <a:off x="5303520" y="1234440"/>
            <a:ext cx="3474360" cy="3474360"/>
          </a:xfrm>
          <a:prstGeom prst="roundRect">
            <a:avLst>
              <a:gd name="adj" fmla="val 2632"/>
            </a:avLst>
          </a:prstGeom>
          <a:solidFill>
            <a:srgbClr val="0f2030"/>
          </a:solidFill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8"/>
          <p:cNvSpPr/>
          <p:nvPr/>
        </p:nvSpPr>
        <p:spPr>
          <a:xfrm>
            <a:off x="5440680" y="13532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9" strike="noStrike">
                <a:solidFill>
                  <a:srgbClr val="c8922a"/>
                </a:solidFill>
                <a:latin typeface="Calibri"/>
                <a:ea typeface="Calibri"/>
              </a:rPr>
              <a:t>ANTES vs AHORA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9"/>
          <p:cNvSpPr/>
          <p:nvPr/>
        </p:nvSpPr>
        <p:spPr>
          <a:xfrm>
            <a:off x="5486400" y="18288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Presupuesto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20"/>
          <p:cNvSpPr/>
          <p:nvPr/>
        </p:nvSpPr>
        <p:spPr>
          <a:xfrm>
            <a:off x="5486400" y="21031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21"/>
          <p:cNvSpPr/>
          <p:nvPr/>
        </p:nvSpPr>
        <p:spPr>
          <a:xfrm>
            <a:off x="5486400" y="21031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25 min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22"/>
          <p:cNvSpPr/>
          <p:nvPr/>
        </p:nvSpPr>
        <p:spPr>
          <a:xfrm>
            <a:off x="7022520" y="224928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Shape 23"/>
          <p:cNvSpPr/>
          <p:nvPr/>
        </p:nvSpPr>
        <p:spPr>
          <a:xfrm>
            <a:off x="7296840" y="21031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24"/>
          <p:cNvSpPr/>
          <p:nvPr/>
        </p:nvSpPr>
        <p:spPr>
          <a:xfrm>
            <a:off x="7296840" y="21031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30 seg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5"/>
          <p:cNvSpPr/>
          <p:nvPr/>
        </p:nvSpPr>
        <p:spPr>
          <a:xfrm>
            <a:off x="5486400" y="252360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Gestión diaria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6"/>
          <p:cNvSpPr/>
          <p:nvPr/>
        </p:nvSpPr>
        <p:spPr>
          <a:xfrm>
            <a:off x="5486400" y="27979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5486400" y="27979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2–3 horas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Shape 28"/>
          <p:cNvSpPr/>
          <p:nvPr/>
        </p:nvSpPr>
        <p:spPr>
          <a:xfrm>
            <a:off x="7022520" y="294408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Shape 29"/>
          <p:cNvSpPr/>
          <p:nvPr/>
        </p:nvSpPr>
        <p:spPr>
          <a:xfrm>
            <a:off x="7296840" y="279792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30"/>
          <p:cNvSpPr/>
          <p:nvPr/>
        </p:nvSpPr>
        <p:spPr>
          <a:xfrm>
            <a:off x="7296840" y="279792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20 min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1"/>
          <p:cNvSpPr/>
          <p:nvPr/>
        </p:nvSpPr>
        <p:spPr>
          <a:xfrm>
            <a:off x="5486400" y="32187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Errores en factura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Shape 32"/>
          <p:cNvSpPr/>
          <p:nvPr/>
        </p:nvSpPr>
        <p:spPr>
          <a:xfrm>
            <a:off x="5486400" y="34930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33"/>
          <p:cNvSpPr/>
          <p:nvPr/>
        </p:nvSpPr>
        <p:spPr>
          <a:xfrm>
            <a:off x="5486400" y="34930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Frecuentes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Shape 34"/>
          <p:cNvSpPr/>
          <p:nvPr/>
        </p:nvSpPr>
        <p:spPr>
          <a:xfrm>
            <a:off x="7022520" y="363924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Shape 35"/>
          <p:cNvSpPr/>
          <p:nvPr/>
        </p:nvSpPr>
        <p:spPr>
          <a:xfrm>
            <a:off x="7296840" y="34930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36"/>
          <p:cNvSpPr/>
          <p:nvPr/>
        </p:nvSpPr>
        <p:spPr>
          <a:xfrm>
            <a:off x="7296840" y="34930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Cero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37"/>
          <p:cNvSpPr/>
          <p:nvPr/>
        </p:nvSpPr>
        <p:spPr>
          <a:xfrm>
            <a:off x="5486400" y="3913560"/>
            <a:ext cx="3108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Cobros pendientes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38"/>
          <p:cNvSpPr/>
          <p:nvPr/>
        </p:nvSpPr>
        <p:spPr>
          <a:xfrm>
            <a:off x="5486400" y="41878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39"/>
          <p:cNvSpPr/>
          <p:nvPr/>
        </p:nvSpPr>
        <p:spPr>
          <a:xfrm>
            <a:off x="5486400" y="4187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Sin control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40"/>
          <p:cNvSpPr/>
          <p:nvPr/>
        </p:nvSpPr>
        <p:spPr>
          <a:xfrm>
            <a:off x="7022520" y="4334040"/>
            <a:ext cx="201240" cy="360"/>
          </a:xfrm>
          <a:prstGeom prst="line">
            <a:avLst/>
          </a:prstGeom>
          <a:ln w="1905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41"/>
          <p:cNvSpPr/>
          <p:nvPr/>
        </p:nvSpPr>
        <p:spPr>
          <a:xfrm>
            <a:off x="7296840" y="4187880"/>
            <a:ext cx="1462680" cy="292320"/>
          </a:xfrm>
          <a:prstGeom prst="roundRect">
            <a:avLst>
              <a:gd name="adj" fmla="val 1250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 42"/>
          <p:cNvSpPr/>
          <p:nvPr/>
        </p:nvSpPr>
        <p:spPr>
          <a:xfrm>
            <a:off x="7296840" y="4187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Automatizado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43"/>
          <p:cNvSpPr/>
          <p:nvPr/>
        </p:nvSpPr>
        <p:spPr>
          <a:xfrm>
            <a:off x="457200" y="4462200"/>
            <a:ext cx="8320680" cy="438480"/>
          </a:xfrm>
          <a:prstGeom prst="roundRect">
            <a:avLst>
              <a:gd name="adj" fmla="val 16667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44"/>
          <p:cNvSpPr/>
          <p:nvPr/>
        </p:nvSpPr>
        <p:spPr>
          <a:xfrm>
            <a:off x="548640" y="4480560"/>
            <a:ext cx="8137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Esto es lo que TrabFlow hace por cada instalador, cada día, en cada trabajo.</a:t>
            </a:r>
            <a:endParaRPr b="0" lang="es-E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45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07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LA SOLUCIÓN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Una plataforma. Todo el ciclo del trabajo.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"/>
          <p:cNvSpPr/>
          <p:nvPr/>
        </p:nvSpPr>
        <p:spPr>
          <a:xfrm>
            <a:off x="45720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7" name="Image 0" descr="preencoded.png"/>
          <p:cNvPicPr/>
          <p:nvPr/>
        </p:nvPicPr>
        <p:blipFill>
          <a:blip r:embed="rId1"/>
          <a:stretch/>
        </p:blipFill>
        <p:spPr>
          <a:xfrm>
            <a:off x="6217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298" name="Text 3"/>
          <p:cNvSpPr/>
          <p:nvPr/>
        </p:nvSpPr>
        <p:spPr>
          <a:xfrm>
            <a:off x="56700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Presupuestos por voz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4"/>
          <p:cNvSpPr/>
          <p:nvPr/>
        </p:nvSpPr>
        <p:spPr>
          <a:xfrm>
            <a:off x="56700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Dictado en campo, guiado por oficio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5"/>
          <p:cNvSpPr/>
          <p:nvPr/>
        </p:nvSpPr>
        <p:spPr>
          <a:xfrm>
            <a:off x="262440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1" name="Image 1" descr="preencoded.png"/>
          <p:cNvPicPr/>
          <p:nvPr/>
        </p:nvPicPr>
        <p:blipFill>
          <a:blip r:embed="rId2"/>
          <a:stretch/>
        </p:blipFill>
        <p:spPr>
          <a:xfrm>
            <a:off x="27889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02" name="Text 6"/>
          <p:cNvSpPr/>
          <p:nvPr/>
        </p:nvSpPr>
        <p:spPr>
          <a:xfrm>
            <a:off x="273420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Facturación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7"/>
          <p:cNvSpPr/>
          <p:nvPr/>
        </p:nvSpPr>
        <p:spPr>
          <a:xfrm>
            <a:off x="273420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VeriFactu incluido, 1 clic desde presupuesto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Shape 8"/>
          <p:cNvSpPr/>
          <p:nvPr/>
        </p:nvSpPr>
        <p:spPr>
          <a:xfrm>
            <a:off x="479160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Image 2" descr="preencoded.png"/>
          <p:cNvPicPr/>
          <p:nvPr/>
        </p:nvPicPr>
        <p:blipFill>
          <a:blip r:embed="rId3"/>
          <a:stretch/>
        </p:blipFill>
        <p:spPr>
          <a:xfrm>
            <a:off x="49561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06" name="Text 9"/>
          <p:cNvSpPr/>
          <p:nvPr/>
        </p:nvSpPr>
        <p:spPr>
          <a:xfrm>
            <a:off x="490104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Cobros y recordatorios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10"/>
          <p:cNvSpPr/>
          <p:nvPr/>
        </p:nvSpPr>
        <p:spPr>
          <a:xfrm>
            <a:off x="490104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Control automático de pagos pendientes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Shape 11"/>
          <p:cNvSpPr/>
          <p:nvPr/>
        </p:nvSpPr>
        <p:spPr>
          <a:xfrm>
            <a:off x="6958440" y="123444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Image 3" descr="preencoded.png"/>
          <p:cNvPicPr/>
          <p:nvPr/>
        </p:nvPicPr>
        <p:blipFill>
          <a:blip r:embed="rId4"/>
          <a:stretch/>
        </p:blipFill>
        <p:spPr>
          <a:xfrm>
            <a:off x="7123320" y="139896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10" name="Text 12"/>
          <p:cNvSpPr/>
          <p:nvPr/>
        </p:nvSpPr>
        <p:spPr>
          <a:xfrm>
            <a:off x="7068240" y="180144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WhatsApp integrado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Text 13"/>
          <p:cNvSpPr/>
          <p:nvPr/>
        </p:nvSpPr>
        <p:spPr>
          <a:xfrm>
            <a:off x="7068240" y="213048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Envío y confirmación desde la app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45720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3" name="Image 4" descr="preencoded.png"/>
          <p:cNvPicPr/>
          <p:nvPr/>
        </p:nvPicPr>
        <p:blipFill>
          <a:blip r:embed="rId5"/>
          <a:stretch/>
        </p:blipFill>
        <p:spPr>
          <a:xfrm>
            <a:off x="6217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14" name="Text 15"/>
          <p:cNvSpPr/>
          <p:nvPr/>
        </p:nvSpPr>
        <p:spPr>
          <a:xfrm>
            <a:off x="56700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Rutas optimizadas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Text 16"/>
          <p:cNvSpPr/>
          <p:nvPr/>
        </p:nvSpPr>
        <p:spPr>
          <a:xfrm>
            <a:off x="56700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Planificación automática del día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7"/>
          <p:cNvSpPr/>
          <p:nvPr/>
        </p:nvSpPr>
        <p:spPr>
          <a:xfrm>
            <a:off x="262440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7" name="Image 5" descr="preencoded.png"/>
          <p:cNvPicPr/>
          <p:nvPr/>
        </p:nvPicPr>
        <p:blipFill>
          <a:blip r:embed="rId6"/>
          <a:stretch/>
        </p:blipFill>
        <p:spPr>
          <a:xfrm>
            <a:off x="27889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18" name="Text 18"/>
          <p:cNvSpPr/>
          <p:nvPr/>
        </p:nvSpPr>
        <p:spPr>
          <a:xfrm>
            <a:off x="273420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Mantenimientos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19"/>
          <p:cNvSpPr/>
          <p:nvPr/>
        </p:nvSpPr>
        <p:spPr>
          <a:xfrm>
            <a:off x="273420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Contratos recurrentes y avisos automáticos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Shape 20"/>
          <p:cNvSpPr/>
          <p:nvPr/>
        </p:nvSpPr>
        <p:spPr>
          <a:xfrm>
            <a:off x="479160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1" name="Image 6" descr="preencoded.png"/>
          <p:cNvPicPr/>
          <p:nvPr/>
        </p:nvPicPr>
        <p:blipFill>
          <a:blip r:embed="rId7"/>
          <a:stretch/>
        </p:blipFill>
        <p:spPr>
          <a:xfrm>
            <a:off x="49561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22" name="Text 21"/>
          <p:cNvSpPr/>
          <p:nvPr/>
        </p:nvSpPr>
        <p:spPr>
          <a:xfrm>
            <a:off x="490104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Subcontratas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22"/>
          <p:cNvSpPr/>
          <p:nvPr/>
        </p:nvSpPr>
        <p:spPr>
          <a:xfrm>
            <a:off x="490104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Asignación y seguimiento de trabajos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23"/>
          <p:cNvSpPr/>
          <p:nvPr/>
        </p:nvSpPr>
        <p:spPr>
          <a:xfrm>
            <a:off x="6958440" y="2926080"/>
            <a:ext cx="2029680" cy="1554120"/>
          </a:xfrm>
          <a:prstGeom prst="roundRect">
            <a:avLst>
              <a:gd name="adj" fmla="val 4706"/>
            </a:avLst>
          </a:prstGeom>
          <a:solidFill>
            <a:srgbClr val="f5f6f8"/>
          </a:solidFill>
          <a:ln w="12700">
            <a:solidFill>
              <a:srgbClr val="e0e5ec"/>
            </a:solidFill>
            <a:round/>
          </a:ln>
          <a:effectLst>
            <a:outerShdw algn="bl" blurRad="507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5" name="Image 7" descr="preencoded.png"/>
          <p:cNvPicPr/>
          <p:nvPr/>
        </p:nvPicPr>
        <p:blipFill>
          <a:blip r:embed="rId8"/>
          <a:stretch/>
        </p:blipFill>
        <p:spPr>
          <a:xfrm>
            <a:off x="7123320" y="3090600"/>
            <a:ext cx="347040" cy="347040"/>
          </a:xfrm>
          <a:prstGeom prst="rect">
            <a:avLst/>
          </a:prstGeom>
          <a:ln w="0">
            <a:noFill/>
          </a:ln>
        </p:spPr>
      </p:pic>
      <p:sp>
        <p:nvSpPr>
          <p:cNvPr id="326" name="Text 24"/>
          <p:cNvSpPr/>
          <p:nvPr/>
        </p:nvSpPr>
        <p:spPr>
          <a:xfrm>
            <a:off x="7068240" y="3493080"/>
            <a:ext cx="181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IA de normativa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25"/>
          <p:cNvSpPr/>
          <p:nvPr/>
        </p:nvSpPr>
        <p:spPr>
          <a:xfrm>
            <a:off x="7068240" y="3822120"/>
            <a:ext cx="181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RITE, REBT, AEAT, IVA en lenguaje natural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26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08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IA ESPECIALIZADA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457200" y="5670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Un copiloto que conoce el oficio,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no un chatbot genérico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"/>
          <p:cNvSpPr/>
          <p:nvPr/>
        </p:nvSpPr>
        <p:spPr>
          <a:xfrm>
            <a:off x="457200" y="16642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621720" y="17373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Claude Sonnet 4.6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4"/>
          <p:cNvSpPr/>
          <p:nvPr/>
        </p:nvSpPr>
        <p:spPr>
          <a:xfrm>
            <a:off x="621720" y="19933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Motor de razonamiento y generación contextual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457200" y="24688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621720" y="25419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pgvector + Voyage AI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621720" y="27979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Búsqueda semántica sobre base normativa propia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457200" y="32734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621720" y="334656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Base Maestra propia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621720" y="36028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20 oficios × 100 actuaciones normalizadas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457200" y="4078080"/>
            <a:ext cx="4114440" cy="685440"/>
          </a:xfrm>
          <a:prstGeom prst="roundRect">
            <a:avLst>
              <a:gd name="adj" fmla="val 9333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621720" y="41515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Edge Functions Supabase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621720" y="440748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Procesamiento serverless, latencia &lt;500ms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14"/>
          <p:cNvSpPr/>
          <p:nvPr/>
        </p:nvSpPr>
        <p:spPr>
          <a:xfrm>
            <a:off x="4892040" y="1627560"/>
            <a:ext cx="3840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Normativa cubierta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Shape 15"/>
          <p:cNvSpPr/>
          <p:nvPr/>
        </p:nvSpPr>
        <p:spPr>
          <a:xfrm>
            <a:off x="4892040" y="2011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4892040" y="2011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RITE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6263640" y="2011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6263640" y="2011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REBT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Shape 19"/>
          <p:cNvSpPr/>
          <p:nvPr/>
        </p:nvSpPr>
        <p:spPr>
          <a:xfrm>
            <a:off x="7635240" y="2011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20"/>
          <p:cNvSpPr/>
          <p:nvPr/>
        </p:nvSpPr>
        <p:spPr>
          <a:xfrm>
            <a:off x="7635240" y="2011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ITC-BT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Shape 21"/>
          <p:cNvSpPr/>
          <p:nvPr/>
        </p:nvSpPr>
        <p:spPr>
          <a:xfrm>
            <a:off x="4892040" y="2578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4892040" y="2578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ACS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23"/>
          <p:cNvSpPr/>
          <p:nvPr/>
        </p:nvSpPr>
        <p:spPr>
          <a:xfrm>
            <a:off x="6263640" y="2578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24"/>
          <p:cNvSpPr/>
          <p:nvPr/>
        </p:nvSpPr>
        <p:spPr>
          <a:xfrm>
            <a:off x="6263640" y="2578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Gas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Shape 25"/>
          <p:cNvSpPr/>
          <p:nvPr/>
        </p:nvSpPr>
        <p:spPr>
          <a:xfrm>
            <a:off x="7635240" y="2578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26"/>
          <p:cNvSpPr/>
          <p:nvPr/>
        </p:nvSpPr>
        <p:spPr>
          <a:xfrm>
            <a:off x="7635240" y="2578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Electricidad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27"/>
          <p:cNvSpPr/>
          <p:nvPr/>
        </p:nvSpPr>
        <p:spPr>
          <a:xfrm>
            <a:off x="4892040" y="3145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28"/>
          <p:cNvSpPr/>
          <p:nvPr/>
        </p:nvSpPr>
        <p:spPr>
          <a:xfrm>
            <a:off x="4892040" y="3145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IVA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Shape 29"/>
          <p:cNvSpPr/>
          <p:nvPr/>
        </p:nvSpPr>
        <p:spPr>
          <a:xfrm>
            <a:off x="6263640" y="3145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30"/>
          <p:cNvSpPr/>
          <p:nvPr/>
        </p:nvSpPr>
        <p:spPr>
          <a:xfrm>
            <a:off x="6263640" y="3145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IRPF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Shape 31"/>
          <p:cNvSpPr/>
          <p:nvPr/>
        </p:nvSpPr>
        <p:spPr>
          <a:xfrm>
            <a:off x="7635240" y="314568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 32"/>
          <p:cNvSpPr/>
          <p:nvPr/>
        </p:nvSpPr>
        <p:spPr>
          <a:xfrm>
            <a:off x="7635240" y="314568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VeriFactu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Shape 33"/>
          <p:cNvSpPr/>
          <p:nvPr/>
        </p:nvSpPr>
        <p:spPr>
          <a:xfrm>
            <a:off x="4892040" y="371232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34"/>
          <p:cNvSpPr/>
          <p:nvPr/>
        </p:nvSpPr>
        <p:spPr>
          <a:xfrm>
            <a:off x="4892040" y="37123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AEAT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Shape 35"/>
          <p:cNvSpPr/>
          <p:nvPr/>
        </p:nvSpPr>
        <p:spPr>
          <a:xfrm>
            <a:off x="6263640" y="371232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 36"/>
          <p:cNvSpPr/>
          <p:nvPr/>
        </p:nvSpPr>
        <p:spPr>
          <a:xfrm>
            <a:off x="6263640" y="37123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Seg. Social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Shape 37"/>
          <p:cNvSpPr/>
          <p:nvPr/>
        </p:nvSpPr>
        <p:spPr>
          <a:xfrm>
            <a:off x="7635240" y="3712320"/>
            <a:ext cx="1234080" cy="411120"/>
          </a:xfrm>
          <a:prstGeom prst="roundRect">
            <a:avLst>
              <a:gd name="adj" fmla="val 17778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38"/>
          <p:cNvSpPr/>
          <p:nvPr/>
        </p:nvSpPr>
        <p:spPr>
          <a:xfrm>
            <a:off x="7635240" y="3712320"/>
            <a:ext cx="1234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LOPD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Shape 39"/>
          <p:cNvSpPr/>
          <p:nvPr/>
        </p:nvSpPr>
        <p:spPr>
          <a:xfrm>
            <a:off x="4892040" y="4462200"/>
            <a:ext cx="3840120" cy="475200"/>
          </a:xfrm>
          <a:prstGeom prst="roundRect">
            <a:avLst>
              <a:gd name="adj" fmla="val 13462"/>
            </a:avLst>
          </a:prstGeom>
          <a:solidFill>
            <a:srgbClr val="0f2030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40"/>
          <p:cNvSpPr/>
          <p:nvPr/>
        </p:nvSpPr>
        <p:spPr>
          <a:xfrm>
            <a:off x="4983480" y="449892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La IA detecta — no inventa. Plantilla predefinida + cálculo de cantidades.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41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09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POR QUÉ AHORA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Cuatro vientos de cola convergen hoy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Shape 2"/>
          <p:cNvSpPr/>
          <p:nvPr/>
        </p:nvSpPr>
        <p:spPr>
          <a:xfrm>
            <a:off x="457200" y="126180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3"/>
          <p:cNvSpPr/>
          <p:nvPr/>
        </p:nvSpPr>
        <p:spPr>
          <a:xfrm>
            <a:off x="621720" y="1444680"/>
            <a:ext cx="502560" cy="50256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5" name="Image 0" descr="preencoded.png"/>
          <p:cNvPicPr/>
          <p:nvPr/>
        </p:nvPicPr>
        <p:blipFill>
          <a:blip r:embed="rId1"/>
          <a:stretch/>
        </p:blipFill>
        <p:spPr>
          <a:xfrm>
            <a:off x="658440" y="1481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76" name="Text 4"/>
          <p:cNvSpPr/>
          <p:nvPr/>
        </p:nvSpPr>
        <p:spPr>
          <a:xfrm>
            <a:off x="1234440" y="146304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IA ya es asequible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5"/>
          <p:cNvSpPr/>
          <p:nvPr/>
        </p:nvSpPr>
        <p:spPr>
          <a:xfrm>
            <a:off x="621720" y="197496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€</a:t>
            </a: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5/mes por cliente (Claude + Supabase + voz). Hace 2 años era inviable a este coste.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Shape 6"/>
          <p:cNvSpPr/>
          <p:nvPr/>
        </p:nvSpPr>
        <p:spPr>
          <a:xfrm>
            <a:off x="4800600" y="126180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7"/>
          <p:cNvSpPr/>
          <p:nvPr/>
        </p:nvSpPr>
        <p:spPr>
          <a:xfrm>
            <a:off x="4965120" y="1444680"/>
            <a:ext cx="502560" cy="50256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Image 1" descr="preencoded.png"/>
          <p:cNvPicPr/>
          <p:nvPr/>
        </p:nvPicPr>
        <p:blipFill>
          <a:blip r:embed="rId2"/>
          <a:stretch/>
        </p:blipFill>
        <p:spPr>
          <a:xfrm>
            <a:off x="5001840" y="148140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81" name="Text 8"/>
          <p:cNvSpPr/>
          <p:nvPr/>
        </p:nvSpPr>
        <p:spPr>
          <a:xfrm>
            <a:off x="5577840" y="146304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VeriFactu obligatorio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4965120" y="197496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Facturación electrónica encadenada obligatoria desde 2027. El sector se ve forzado a digitalizarse.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Shape 10"/>
          <p:cNvSpPr/>
          <p:nvPr/>
        </p:nvSpPr>
        <p:spPr>
          <a:xfrm>
            <a:off x="457200" y="318204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11"/>
          <p:cNvSpPr/>
          <p:nvPr/>
        </p:nvSpPr>
        <p:spPr>
          <a:xfrm>
            <a:off x="621720" y="3364920"/>
            <a:ext cx="502560" cy="50256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Image 2" descr="preencoded.png"/>
          <p:cNvPicPr/>
          <p:nvPr/>
        </p:nvPicPr>
        <p:blipFill>
          <a:blip r:embed="rId3"/>
          <a:stretch/>
        </p:blipFill>
        <p:spPr>
          <a:xfrm>
            <a:off x="658440" y="34016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86" name="Text 12"/>
          <p:cNvSpPr/>
          <p:nvPr/>
        </p:nvSpPr>
        <p:spPr>
          <a:xfrm>
            <a:off x="1234440" y="33832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Kit Digital reactivado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Text 13"/>
          <p:cNvSpPr/>
          <p:nvPr/>
        </p:nvSpPr>
        <p:spPr>
          <a:xfrm>
            <a:off x="621720" y="389520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Orden TDF/39/2026: subvenciones de hasta €19.000 para digitalizar pymes y autónomos.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Shape 14"/>
          <p:cNvSpPr/>
          <p:nvPr/>
        </p:nvSpPr>
        <p:spPr>
          <a:xfrm>
            <a:off x="4800600" y="3182040"/>
            <a:ext cx="4114440" cy="171864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7632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Shape 15"/>
          <p:cNvSpPr/>
          <p:nvPr/>
        </p:nvSpPr>
        <p:spPr>
          <a:xfrm>
            <a:off x="4965120" y="3364920"/>
            <a:ext cx="502560" cy="50256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0" name="Image 3" descr="preencoded.png"/>
          <p:cNvPicPr/>
          <p:nvPr/>
        </p:nvPicPr>
        <p:blipFill>
          <a:blip r:embed="rId4"/>
          <a:stretch/>
        </p:blipFill>
        <p:spPr>
          <a:xfrm>
            <a:off x="5001840" y="3401640"/>
            <a:ext cx="411120" cy="411120"/>
          </a:xfrm>
          <a:prstGeom prst="rect">
            <a:avLst/>
          </a:prstGeom>
          <a:ln w="0">
            <a:noFill/>
          </a:ln>
        </p:spPr>
      </p:pic>
      <p:sp>
        <p:nvSpPr>
          <p:cNvPr id="391" name="Text 16"/>
          <p:cNvSpPr/>
          <p:nvPr/>
        </p:nvSpPr>
        <p:spPr>
          <a:xfrm>
            <a:off x="5577840" y="338328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El instalador ya vive en WhatsApp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7"/>
          <p:cNvSpPr/>
          <p:nvPr/>
        </p:nvSpPr>
        <p:spPr>
          <a:xfrm>
            <a:off x="4965120" y="3895200"/>
            <a:ext cx="3748680" cy="80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No hay que crear un hábito nuevo: conectar la IA al canal que el gremio ya usa.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1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TAMAÑO DE MERCADO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1c2535"/>
                </a:solidFill>
                <a:latin typeface="Cambria"/>
                <a:ea typeface="Cambria"/>
              </a:rPr>
              <a:t>Un vertical de €480M sin digitalizar</a:t>
            </a:r>
            <a:endParaRPr b="0" lang="es-E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2"/>
          <p:cNvSpPr/>
          <p:nvPr/>
        </p:nvSpPr>
        <p:spPr>
          <a:xfrm>
            <a:off x="45720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3"/>
          <p:cNvSpPr/>
          <p:nvPr/>
        </p:nvSpPr>
        <p:spPr>
          <a:xfrm>
            <a:off x="45720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3,4M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4"/>
          <p:cNvSpPr/>
          <p:nvPr/>
        </p:nvSpPr>
        <p:spPr>
          <a:xfrm>
            <a:off x="45720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autónomos en España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Shape 5"/>
          <p:cNvSpPr/>
          <p:nvPr/>
        </p:nvSpPr>
        <p:spPr>
          <a:xfrm>
            <a:off x="263340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 6"/>
          <p:cNvSpPr/>
          <p:nvPr/>
        </p:nvSpPr>
        <p:spPr>
          <a:xfrm>
            <a:off x="263340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35.000+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7"/>
          <p:cNvSpPr/>
          <p:nvPr/>
        </p:nvSpPr>
        <p:spPr>
          <a:xfrm>
            <a:off x="263340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empresas instaladoras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Shape 8"/>
          <p:cNvSpPr/>
          <p:nvPr/>
        </p:nvSpPr>
        <p:spPr>
          <a:xfrm>
            <a:off x="480960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Text 9"/>
          <p:cNvSpPr/>
          <p:nvPr/>
        </p:nvSpPr>
        <p:spPr>
          <a:xfrm>
            <a:off x="480960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11.500M+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 10"/>
          <p:cNvSpPr/>
          <p:nvPr/>
        </p:nvSpPr>
        <p:spPr>
          <a:xfrm>
            <a:off x="480960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facturación anual del gremio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Shape 11"/>
          <p:cNvSpPr/>
          <p:nvPr/>
        </p:nvSpPr>
        <p:spPr>
          <a:xfrm>
            <a:off x="6986160" y="1261800"/>
            <a:ext cx="2011320" cy="1005480"/>
          </a:xfrm>
          <a:prstGeom prst="roundRect">
            <a:avLst>
              <a:gd name="adj" fmla="val 7273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Text 12"/>
          <p:cNvSpPr/>
          <p:nvPr/>
        </p:nvSpPr>
        <p:spPr>
          <a:xfrm>
            <a:off x="6986160" y="130752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20%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13"/>
          <p:cNvSpPr/>
          <p:nvPr/>
        </p:nvSpPr>
        <p:spPr>
          <a:xfrm>
            <a:off x="6986160" y="1810440"/>
            <a:ext cx="2011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ccee"/>
                </a:solidFill>
                <a:latin typeface="Calibri"/>
                <a:ea typeface="Calibri"/>
              </a:rPr>
              <a:t>usa IA hoy (UPTA, jun. 2026)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Shape 14"/>
          <p:cNvSpPr/>
          <p:nvPr/>
        </p:nvSpPr>
        <p:spPr>
          <a:xfrm>
            <a:off x="457200" y="2578680"/>
            <a:ext cx="8229240" cy="594000"/>
          </a:xfrm>
          <a:prstGeom prst="roundRect">
            <a:avLst>
              <a:gd name="adj" fmla="val 10769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Text 15"/>
          <p:cNvSpPr/>
          <p:nvPr/>
        </p:nvSpPr>
        <p:spPr>
          <a:xfrm>
            <a:off x="640080" y="2651760"/>
            <a:ext cx="5486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TAM · España + LATAM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6"/>
          <p:cNvSpPr/>
          <p:nvPr/>
        </p:nvSpPr>
        <p:spPr>
          <a:xfrm>
            <a:off x="5669280" y="265176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€</a:t>
            </a: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480M ARR potencial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Shape 17"/>
          <p:cNvSpPr/>
          <p:nvPr/>
        </p:nvSpPr>
        <p:spPr>
          <a:xfrm>
            <a:off x="457200" y="3310200"/>
            <a:ext cx="8229240" cy="594000"/>
          </a:xfrm>
          <a:prstGeom prst="roundRect">
            <a:avLst>
              <a:gd name="adj" fmla="val 10769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8"/>
          <p:cNvSpPr/>
          <p:nvPr/>
        </p:nvSpPr>
        <p:spPr>
          <a:xfrm>
            <a:off x="640080" y="3383280"/>
            <a:ext cx="5486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SAM · realista 3 años (1–2% penetración)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Text 19"/>
          <p:cNvSpPr/>
          <p:nvPr/>
        </p:nvSpPr>
        <p:spPr>
          <a:xfrm>
            <a:off x="5669280" y="338328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€</a:t>
            </a: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8–15M ARR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Shape 20"/>
          <p:cNvSpPr/>
          <p:nvPr/>
        </p:nvSpPr>
        <p:spPr>
          <a:xfrm>
            <a:off x="457200" y="4041720"/>
            <a:ext cx="8229240" cy="594000"/>
          </a:xfrm>
          <a:prstGeom prst="roundRect">
            <a:avLst>
              <a:gd name="adj" fmla="val 1076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Text 21"/>
          <p:cNvSpPr/>
          <p:nvPr/>
        </p:nvSpPr>
        <p:spPr>
          <a:xfrm>
            <a:off x="640080" y="4114800"/>
            <a:ext cx="548604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1c2535"/>
                </a:solidFill>
                <a:latin typeface="Calibri"/>
                <a:ea typeface="Calibri"/>
              </a:rPr>
              <a:t>SOM · objetivo Año 3 (escenario Base)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 22"/>
          <p:cNvSpPr/>
          <p:nvPr/>
        </p:nvSpPr>
        <p:spPr>
          <a:xfrm>
            <a:off x="5669280" y="411480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€</a:t>
            </a: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318K ARR · 541 clientes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23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PANORAMA COMPETITIVO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Lo horizontal no habla el idioma del instalador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Shape 2"/>
          <p:cNvSpPr/>
          <p:nvPr/>
        </p:nvSpPr>
        <p:spPr>
          <a:xfrm>
            <a:off x="457200" y="1234440"/>
            <a:ext cx="5028840" cy="31086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457200" y="1234440"/>
            <a:ext cx="2559960" cy="41112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Text 4"/>
          <p:cNvSpPr/>
          <p:nvPr/>
        </p:nvSpPr>
        <p:spPr>
          <a:xfrm>
            <a:off x="594360" y="1298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Competidor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Shape 5"/>
          <p:cNvSpPr/>
          <p:nvPr/>
        </p:nvSpPr>
        <p:spPr>
          <a:xfrm>
            <a:off x="3017520" y="1234440"/>
            <a:ext cx="2468520" cy="41112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6"/>
          <p:cNvSpPr/>
          <p:nvPr/>
        </p:nvSpPr>
        <p:spPr>
          <a:xfrm>
            <a:off x="3154680" y="12985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Por qué no encaja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7"/>
          <p:cNvSpPr/>
          <p:nvPr/>
        </p:nvSpPr>
        <p:spPr>
          <a:xfrm>
            <a:off x="457200" y="1645920"/>
            <a:ext cx="5028840" cy="438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8"/>
          <p:cNvSpPr/>
          <p:nvPr/>
        </p:nvSpPr>
        <p:spPr>
          <a:xfrm>
            <a:off x="594360" y="17190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Billin / Quipu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9"/>
          <p:cNvSpPr/>
          <p:nvPr/>
        </p:nvSpPr>
        <p:spPr>
          <a:xfrm>
            <a:off x="3154680" y="171900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Sin presupuestos de obra, sin WhatsApp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Shape 10"/>
          <p:cNvSpPr/>
          <p:nvPr/>
        </p:nvSpPr>
        <p:spPr>
          <a:xfrm>
            <a:off x="457200" y="2084760"/>
            <a:ext cx="50288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1"/>
          <p:cNvSpPr/>
          <p:nvPr/>
        </p:nvSpPr>
        <p:spPr>
          <a:xfrm>
            <a:off x="594360" y="21578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Suma / Factorial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Text 12"/>
          <p:cNvSpPr/>
          <p:nvPr/>
        </p:nvSpPr>
        <p:spPr>
          <a:xfrm>
            <a:off x="3154680" y="215784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Pensado para oficina, no para furgoneta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3"/>
          <p:cNvSpPr/>
          <p:nvPr/>
        </p:nvSpPr>
        <p:spPr>
          <a:xfrm>
            <a:off x="457200" y="2523600"/>
            <a:ext cx="5028840" cy="438480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4"/>
          <p:cNvSpPr/>
          <p:nvPr/>
        </p:nvSpPr>
        <p:spPr>
          <a:xfrm>
            <a:off x="594360" y="259704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Jobber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Text 15"/>
          <p:cNvSpPr/>
          <p:nvPr/>
        </p:nvSpPr>
        <p:spPr>
          <a:xfrm>
            <a:off x="3154680" y="259704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Solo inglés, sin adaptación a España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Shape 16"/>
          <p:cNvSpPr/>
          <p:nvPr/>
        </p:nvSpPr>
        <p:spPr>
          <a:xfrm>
            <a:off x="457200" y="2962800"/>
            <a:ext cx="5028840" cy="43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17"/>
          <p:cNvSpPr/>
          <p:nvPr/>
        </p:nvSpPr>
        <p:spPr>
          <a:xfrm>
            <a:off x="594360" y="303588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1a5a96"/>
                </a:solidFill>
                <a:latin typeface="Calibri"/>
                <a:ea typeface="Calibri"/>
              </a:rPr>
              <a:t>ServiceTitan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Text 18"/>
          <p:cNvSpPr/>
          <p:nvPr/>
        </p:nvSpPr>
        <p:spPr>
          <a:xfrm>
            <a:off x="3154680" y="3035880"/>
            <a:ext cx="21942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Caro y complejo para microempresa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Shape 19"/>
          <p:cNvSpPr/>
          <p:nvPr/>
        </p:nvSpPr>
        <p:spPr>
          <a:xfrm>
            <a:off x="457200" y="3639240"/>
            <a:ext cx="5028840" cy="502560"/>
          </a:xfrm>
          <a:prstGeom prst="roundRect">
            <a:avLst>
              <a:gd name="adj" fmla="val 10909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20"/>
          <p:cNvSpPr/>
          <p:nvPr/>
        </p:nvSpPr>
        <p:spPr>
          <a:xfrm>
            <a:off x="594360" y="3675960"/>
            <a:ext cx="47545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Son horizontales. TrabFlow es vertical — habla el lenguaje del instalador.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 21"/>
          <p:cNvSpPr/>
          <p:nvPr/>
        </p:nvSpPr>
        <p:spPr>
          <a:xfrm>
            <a:off x="5623560" y="128016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97" strike="noStrike">
                <a:solidFill>
                  <a:srgbClr val="c8922a"/>
                </a:solidFill>
                <a:latin typeface="Calibri"/>
                <a:ea typeface="Calibri"/>
              </a:rPr>
              <a:t>ESTE VERTICAL YA CREA UNICORNIOS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Shape 22"/>
          <p:cNvSpPr/>
          <p:nvPr/>
        </p:nvSpPr>
        <p:spPr>
          <a:xfrm>
            <a:off x="5623560" y="1755720"/>
            <a:ext cx="3062880" cy="804240"/>
          </a:xfrm>
          <a:prstGeom prst="roundRect">
            <a:avLst>
              <a:gd name="adj" fmla="val 9091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23"/>
          <p:cNvSpPr/>
          <p:nvPr/>
        </p:nvSpPr>
        <p:spPr>
          <a:xfrm>
            <a:off x="5742360" y="182880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ServiceTitan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Text 24"/>
          <p:cNvSpPr/>
          <p:nvPr/>
        </p:nvSpPr>
        <p:spPr>
          <a:xfrm>
            <a:off x="5742360" y="21398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~$1.000M ARR · ~€7.000M cap.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Shape 25"/>
          <p:cNvSpPr/>
          <p:nvPr/>
        </p:nvSpPr>
        <p:spPr>
          <a:xfrm>
            <a:off x="5623560" y="2688480"/>
            <a:ext cx="3062880" cy="804240"/>
          </a:xfrm>
          <a:prstGeom prst="roundRect">
            <a:avLst>
              <a:gd name="adj" fmla="val 9091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6"/>
          <p:cNvSpPr/>
          <p:nvPr/>
        </p:nvSpPr>
        <p:spPr>
          <a:xfrm>
            <a:off x="5742360" y="276156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Jobber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Text 27"/>
          <p:cNvSpPr/>
          <p:nvPr/>
        </p:nvSpPr>
        <p:spPr>
          <a:xfrm>
            <a:off x="5742360" y="30722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$167,5M ingresos (2024)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28"/>
          <p:cNvSpPr/>
          <p:nvPr/>
        </p:nvSpPr>
        <p:spPr>
          <a:xfrm>
            <a:off x="5623560" y="3620880"/>
            <a:ext cx="3062880" cy="804240"/>
          </a:xfrm>
          <a:prstGeom prst="roundRect">
            <a:avLst>
              <a:gd name="adj" fmla="val 9091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29"/>
          <p:cNvSpPr/>
          <p:nvPr/>
        </p:nvSpPr>
        <p:spPr>
          <a:xfrm>
            <a:off x="5742360" y="3694320"/>
            <a:ext cx="2834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mbria"/>
                <a:ea typeface="Cambria"/>
              </a:rPr>
              <a:t>Holded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 30"/>
          <p:cNvSpPr/>
          <p:nvPr/>
        </p:nvSpPr>
        <p:spPr>
          <a:xfrm>
            <a:off x="5742360" y="40050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Adquirida por Visma &gt;€120M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31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12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MODELO DE NEGOCIO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Suscripción SaaS y expansión natural por cliente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2"/>
          <p:cNvSpPr/>
          <p:nvPr/>
        </p:nvSpPr>
        <p:spPr>
          <a:xfrm>
            <a:off x="457200" y="1261800"/>
            <a:ext cx="2651400" cy="1919880"/>
          </a:xfrm>
          <a:prstGeom prst="roundRect">
            <a:avLst>
              <a:gd name="adj" fmla="val 4762"/>
            </a:avLst>
          </a:prstGeom>
          <a:solidFill>
            <a:srgbClr val="1c2535"/>
          </a:solidFill>
          <a:ln w="12700">
            <a:solidFill>
              <a:srgbClr val="c8922a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3"/>
          <p:cNvSpPr/>
          <p:nvPr/>
        </p:nvSpPr>
        <p:spPr>
          <a:xfrm>
            <a:off x="1005840" y="1261800"/>
            <a:ext cx="1554120" cy="347040"/>
          </a:xfrm>
          <a:prstGeom prst="roundRect">
            <a:avLst>
              <a:gd name="adj" fmla="val 1578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4"/>
          <p:cNvSpPr/>
          <p:nvPr/>
        </p:nvSpPr>
        <p:spPr>
          <a:xfrm>
            <a:off x="1005840" y="12985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1c2535"/>
                </a:solidFill>
                <a:latin typeface="Calibri"/>
                <a:ea typeface="Calibri"/>
              </a:rPr>
              <a:t>MÁS POPULAR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594360" y="171900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mbria"/>
                <a:ea typeface="Cambria"/>
              </a:rPr>
              <a:t>Profesional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594360" y="212148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c8922a"/>
                </a:solidFill>
                <a:latin typeface="Cambria"/>
                <a:ea typeface="Cambria"/>
              </a:rPr>
              <a:t>49€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7"/>
          <p:cNvSpPr/>
          <p:nvPr/>
        </p:nvSpPr>
        <p:spPr>
          <a:xfrm>
            <a:off x="1737360" y="234072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  <a:ea typeface="Calibri"/>
              </a:rPr>
              <a:t>/mes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Text 8"/>
          <p:cNvSpPr/>
          <p:nvPr/>
        </p:nvSpPr>
        <p:spPr>
          <a:xfrm>
            <a:off x="594360" y="26974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Entrada pública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Shape 9"/>
          <p:cNvSpPr/>
          <p:nvPr/>
        </p:nvSpPr>
        <p:spPr>
          <a:xfrm>
            <a:off x="3273480" y="1261800"/>
            <a:ext cx="2651400" cy="1919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10"/>
          <p:cNvSpPr/>
          <p:nvPr/>
        </p:nvSpPr>
        <p:spPr>
          <a:xfrm>
            <a:off x="3410640" y="138996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535"/>
                </a:solidFill>
                <a:latin typeface="Cambria"/>
                <a:ea typeface="Cambria"/>
              </a:rPr>
              <a:t>Empresa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Text 11"/>
          <p:cNvSpPr/>
          <p:nvPr/>
        </p:nvSpPr>
        <p:spPr>
          <a:xfrm>
            <a:off x="3410640" y="179208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c8922a"/>
                </a:solidFill>
                <a:latin typeface="Cambria"/>
                <a:ea typeface="Cambria"/>
              </a:rPr>
              <a:t>89€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2"/>
          <p:cNvSpPr/>
          <p:nvPr/>
        </p:nvSpPr>
        <p:spPr>
          <a:xfrm>
            <a:off x="4553640" y="20116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  <a:ea typeface="Calibri"/>
              </a:rPr>
              <a:t>/mes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13"/>
          <p:cNvSpPr/>
          <p:nvPr/>
        </p:nvSpPr>
        <p:spPr>
          <a:xfrm>
            <a:off x="3410640" y="23774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9aa"/>
                </a:solidFill>
                <a:latin typeface="Calibri"/>
                <a:ea typeface="Calibri"/>
              </a:rPr>
              <a:t>Hasta 5 miembros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Shape 14"/>
          <p:cNvSpPr/>
          <p:nvPr/>
        </p:nvSpPr>
        <p:spPr>
          <a:xfrm>
            <a:off x="6089760" y="1261800"/>
            <a:ext cx="2651400" cy="1919880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Text 15"/>
          <p:cNvSpPr/>
          <p:nvPr/>
        </p:nvSpPr>
        <p:spPr>
          <a:xfrm>
            <a:off x="6226920" y="1389960"/>
            <a:ext cx="2377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c2535"/>
                </a:solidFill>
                <a:latin typeface="Cambria"/>
                <a:ea typeface="Cambria"/>
              </a:rPr>
              <a:t>Empresa+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 16"/>
          <p:cNvSpPr/>
          <p:nvPr/>
        </p:nvSpPr>
        <p:spPr>
          <a:xfrm>
            <a:off x="6226920" y="1792080"/>
            <a:ext cx="14626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c8922a"/>
                </a:solidFill>
                <a:latin typeface="Cambria"/>
                <a:ea typeface="Cambria"/>
              </a:rPr>
              <a:t>179€</a:t>
            </a:r>
            <a:endParaRPr b="0" lang="es-E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 17"/>
          <p:cNvSpPr/>
          <p:nvPr/>
        </p:nvSpPr>
        <p:spPr>
          <a:xfrm>
            <a:off x="7369920" y="2011680"/>
            <a:ext cx="1096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aabbcc"/>
                </a:solidFill>
                <a:latin typeface="Calibri"/>
                <a:ea typeface="Calibri"/>
              </a:rPr>
              <a:t>/mes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18"/>
          <p:cNvSpPr/>
          <p:nvPr/>
        </p:nvSpPr>
        <p:spPr>
          <a:xfrm>
            <a:off x="6226920" y="237744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899aa"/>
                </a:solidFill>
                <a:latin typeface="Calibri"/>
                <a:ea typeface="Calibri"/>
              </a:rPr>
              <a:t>Hasta 15 · todos los módulos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 19"/>
          <p:cNvSpPr/>
          <p:nvPr/>
        </p:nvSpPr>
        <p:spPr>
          <a:xfrm>
            <a:off x="457200" y="340164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199" strike="noStrike">
                <a:solidFill>
                  <a:srgbClr val="c8922a"/>
                </a:solidFill>
                <a:latin typeface="Calibri"/>
                <a:ea typeface="Calibri"/>
              </a:rPr>
              <a:t>UPSELLS DE EXPANSIÓN DE INGRESO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Shape 20"/>
          <p:cNvSpPr/>
          <p:nvPr/>
        </p:nvSpPr>
        <p:spPr>
          <a:xfrm>
            <a:off x="45720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Text 21"/>
          <p:cNvSpPr/>
          <p:nvPr/>
        </p:nvSpPr>
        <p:spPr>
          <a:xfrm>
            <a:off x="45720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IA avanzada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Shape 22"/>
          <p:cNvSpPr/>
          <p:nvPr/>
        </p:nvSpPr>
        <p:spPr>
          <a:xfrm>
            <a:off x="217620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 23"/>
          <p:cNvSpPr/>
          <p:nvPr/>
        </p:nvSpPr>
        <p:spPr>
          <a:xfrm>
            <a:off x="217620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Marketplace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24"/>
          <p:cNvSpPr/>
          <p:nvPr/>
        </p:nvSpPr>
        <p:spPr>
          <a:xfrm>
            <a:off x="389520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 25"/>
          <p:cNvSpPr/>
          <p:nvPr/>
        </p:nvSpPr>
        <p:spPr>
          <a:xfrm>
            <a:off x="389520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Integraciones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Shape 26"/>
          <p:cNvSpPr/>
          <p:nvPr/>
        </p:nvSpPr>
        <p:spPr>
          <a:xfrm>
            <a:off x="561456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Text 27"/>
          <p:cNvSpPr/>
          <p:nvPr/>
        </p:nvSpPr>
        <p:spPr>
          <a:xfrm>
            <a:off x="561456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Subcontratas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Shape 28"/>
          <p:cNvSpPr/>
          <p:nvPr/>
        </p:nvSpPr>
        <p:spPr>
          <a:xfrm>
            <a:off x="7333560" y="3730680"/>
            <a:ext cx="1572480" cy="411120"/>
          </a:xfrm>
          <a:prstGeom prst="roundRect">
            <a:avLst>
              <a:gd name="adj" fmla="val 17778"/>
            </a:avLst>
          </a:prstGeom>
          <a:solidFill>
            <a:srgbClr val="eaf0f8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29"/>
          <p:cNvSpPr/>
          <p:nvPr/>
        </p:nvSpPr>
        <p:spPr>
          <a:xfrm>
            <a:off x="7333560" y="3730680"/>
            <a:ext cx="1572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1a5a96"/>
                </a:solidFill>
                <a:latin typeface="Calibri"/>
                <a:ea typeface="Calibri"/>
              </a:rPr>
              <a:t>Proveedores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30"/>
          <p:cNvSpPr/>
          <p:nvPr/>
        </p:nvSpPr>
        <p:spPr>
          <a:xfrm>
            <a:off x="457200" y="4316040"/>
            <a:ext cx="8229240" cy="566640"/>
          </a:xfrm>
          <a:prstGeom prst="roundRect">
            <a:avLst>
              <a:gd name="adj" fmla="val 11290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31"/>
          <p:cNvSpPr/>
          <p:nvPr/>
        </p:nvSpPr>
        <p:spPr>
          <a:xfrm>
            <a:off x="731520" y="4370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18,3x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32"/>
          <p:cNvSpPr/>
          <p:nvPr/>
        </p:nvSpPr>
        <p:spPr>
          <a:xfrm>
            <a:off x="731520" y="4626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LTV:CAC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Text 33"/>
          <p:cNvSpPr/>
          <p:nvPr/>
        </p:nvSpPr>
        <p:spPr>
          <a:xfrm>
            <a:off x="3474720" y="4370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2,7 meses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34"/>
          <p:cNvSpPr/>
          <p:nvPr/>
        </p:nvSpPr>
        <p:spPr>
          <a:xfrm>
            <a:off x="3474720" y="4626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Payback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35"/>
          <p:cNvSpPr/>
          <p:nvPr/>
        </p:nvSpPr>
        <p:spPr>
          <a:xfrm>
            <a:off x="6217920" y="43707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€</a:t>
            </a:r>
            <a:r>
              <a:rPr b="1" lang="en-US" sz="1600" spc="-1" strike="noStrike">
                <a:solidFill>
                  <a:srgbClr val="1a5a96"/>
                </a:solidFill>
                <a:latin typeface="Cambria"/>
                <a:ea typeface="Cambria"/>
              </a:rPr>
              <a:t>588</a:t>
            </a:r>
            <a:endParaRPr b="0" lang="es-E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6"/>
          <p:cNvSpPr/>
          <p:nvPr/>
        </p:nvSpPr>
        <p:spPr>
          <a:xfrm>
            <a:off x="6217920" y="462672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8899aa"/>
                </a:solidFill>
                <a:latin typeface="Calibri"/>
                <a:ea typeface="Calibri"/>
              </a:rPr>
              <a:t>LTV base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 3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457200" y="27432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VENTAJA COMPETITIVA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1"/>
          <p:cNvSpPr/>
          <p:nvPr/>
        </p:nvSpPr>
        <p:spPr>
          <a:xfrm>
            <a:off x="457200" y="56700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Ventajas que se construyen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con cada cliente incorporado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Shape 2"/>
          <p:cNvSpPr/>
          <p:nvPr/>
        </p:nvSpPr>
        <p:spPr>
          <a:xfrm>
            <a:off x="457200" y="16002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Shape 3"/>
          <p:cNvSpPr/>
          <p:nvPr/>
        </p:nvSpPr>
        <p:spPr>
          <a:xfrm>
            <a:off x="621720" y="1965960"/>
            <a:ext cx="475200" cy="47520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2" name="Image 0" descr="preencoded.png"/>
          <p:cNvPicPr/>
          <p:nvPr/>
        </p:nvPicPr>
        <p:blipFill>
          <a:blip r:embed="rId1"/>
          <a:stretch/>
        </p:blipFill>
        <p:spPr>
          <a:xfrm>
            <a:off x="658440" y="20026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493" name="Text 4"/>
          <p:cNvSpPr/>
          <p:nvPr/>
        </p:nvSpPr>
        <p:spPr>
          <a:xfrm>
            <a:off x="1234440" y="17100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Catálogo especializado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1234440" y="20574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20 oficios normalizados. Cada cliente nuevo enriquece la base de datos para todos.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Shape 6"/>
          <p:cNvSpPr/>
          <p:nvPr/>
        </p:nvSpPr>
        <p:spPr>
          <a:xfrm>
            <a:off x="4800600" y="16002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7"/>
          <p:cNvSpPr/>
          <p:nvPr/>
        </p:nvSpPr>
        <p:spPr>
          <a:xfrm>
            <a:off x="4965120" y="1965960"/>
            <a:ext cx="475200" cy="47520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7" name="Image 1" descr="preencoded.png"/>
          <p:cNvPicPr/>
          <p:nvPr/>
        </p:nvPicPr>
        <p:blipFill>
          <a:blip r:embed="rId2"/>
          <a:stretch/>
        </p:blipFill>
        <p:spPr>
          <a:xfrm>
            <a:off x="5001840" y="200268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498" name="Text 8"/>
          <p:cNvSpPr/>
          <p:nvPr/>
        </p:nvSpPr>
        <p:spPr>
          <a:xfrm>
            <a:off x="5577840" y="17100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Histórico de precios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9"/>
          <p:cNvSpPr/>
          <p:nvPr/>
        </p:nvSpPr>
        <p:spPr>
          <a:xfrm>
            <a:off x="5577840" y="20574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Benchmark por zona y oficio que se construye con cada presupuesto generado.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Shape 10"/>
          <p:cNvSpPr/>
          <p:nvPr/>
        </p:nvSpPr>
        <p:spPr>
          <a:xfrm>
            <a:off x="457200" y="30816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Shape 11"/>
          <p:cNvSpPr/>
          <p:nvPr/>
        </p:nvSpPr>
        <p:spPr>
          <a:xfrm>
            <a:off x="621720" y="3447360"/>
            <a:ext cx="475200" cy="4752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2" name="Image 2" descr="preencoded.png"/>
          <p:cNvPicPr/>
          <p:nvPr/>
        </p:nvPicPr>
        <p:blipFill>
          <a:blip r:embed="rId3"/>
          <a:stretch/>
        </p:blipFill>
        <p:spPr>
          <a:xfrm>
            <a:off x="658440" y="34837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503" name="Text 12"/>
          <p:cNvSpPr/>
          <p:nvPr/>
        </p:nvSpPr>
        <p:spPr>
          <a:xfrm>
            <a:off x="1234440" y="31914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Red del gremio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13"/>
          <p:cNvSpPr/>
          <p:nvPr/>
        </p:nvSpPr>
        <p:spPr>
          <a:xfrm>
            <a:off x="1234440" y="35388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El sector instalador es un colectivo unido: el estándar se autorrefuerza.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Shape 14"/>
          <p:cNvSpPr/>
          <p:nvPr/>
        </p:nvSpPr>
        <p:spPr>
          <a:xfrm>
            <a:off x="4800600" y="3081600"/>
            <a:ext cx="4114440" cy="1298160"/>
          </a:xfrm>
          <a:prstGeom prst="roundRect">
            <a:avLst>
              <a:gd name="adj" fmla="val 6338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Shape 15"/>
          <p:cNvSpPr/>
          <p:nvPr/>
        </p:nvSpPr>
        <p:spPr>
          <a:xfrm>
            <a:off x="4965120" y="3447360"/>
            <a:ext cx="475200" cy="4752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7" name="Image 3" descr="preencoded.png"/>
          <p:cNvPicPr/>
          <p:nvPr/>
        </p:nvPicPr>
        <p:blipFill>
          <a:blip r:embed="rId4"/>
          <a:stretch/>
        </p:blipFill>
        <p:spPr>
          <a:xfrm>
            <a:off x="5001840" y="34837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508" name="Text 16"/>
          <p:cNvSpPr/>
          <p:nvPr/>
        </p:nvSpPr>
        <p:spPr>
          <a:xfrm>
            <a:off x="5577840" y="31914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Integraciones de proveedor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17"/>
          <p:cNvSpPr/>
          <p:nvPr/>
        </p:nvSpPr>
        <p:spPr>
          <a:xfrm>
            <a:off x="5577840" y="3538800"/>
            <a:ext cx="31543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aabbcc"/>
                </a:solidFill>
                <a:latin typeface="Calibri"/>
                <a:ea typeface="Calibri"/>
              </a:rPr>
              <a:t>Cada distribuidor integrado aumenta el valor del producto para el instalador.</a:t>
            </a:r>
            <a:endParaRPr b="0" lang="es-E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18"/>
          <p:cNvSpPr/>
          <p:nvPr/>
        </p:nvSpPr>
        <p:spPr>
          <a:xfrm>
            <a:off x="457200" y="4617720"/>
            <a:ext cx="8229240" cy="347040"/>
          </a:xfrm>
          <a:prstGeom prst="roundRect">
            <a:avLst>
              <a:gd name="adj" fmla="val 15789"/>
            </a:avLst>
          </a:prstGeom>
          <a:solidFill>
            <a:srgbClr val="0f2030"/>
          </a:solidFill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19"/>
          <p:cNvSpPr/>
          <p:nvPr/>
        </p:nvSpPr>
        <p:spPr>
          <a:xfrm>
            <a:off x="594360" y="463608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7799bb"/>
                </a:solidFill>
                <a:latin typeface="Calibri"/>
                <a:ea typeface="Calibri"/>
              </a:rPr>
              <a:t>¿Por qué no puede Billin o Quipu replicarlo? Son horizontales: especializarse para instaladores significaría abandonar al resto de sus clientes.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Text 20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14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ECOSISTEMA DE PARTNERS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Text 1"/>
          <p:cNvSpPr/>
          <p:nvPr/>
        </p:nvSpPr>
        <p:spPr>
          <a:xfrm>
            <a:off x="457200" y="56700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¿Por qué asociaciones y distribuidores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quieren TrabFlow?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Text 2"/>
          <p:cNvSpPr/>
          <p:nvPr/>
        </p:nvSpPr>
        <p:spPr>
          <a:xfrm>
            <a:off x="457200" y="169164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1a5a96"/>
                </a:solidFill>
                <a:latin typeface="Calibri"/>
                <a:ea typeface="Calibri"/>
              </a:rPr>
              <a:t>PARA ASOCIACIONES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Shape 3"/>
          <p:cNvSpPr/>
          <p:nvPr/>
        </p:nvSpPr>
        <p:spPr>
          <a:xfrm>
            <a:off x="457200" y="209412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Text 4"/>
          <p:cNvSpPr/>
          <p:nvPr/>
        </p:nvSpPr>
        <p:spPr>
          <a:xfrm>
            <a:off x="457200" y="207576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 5"/>
          <p:cNvSpPr/>
          <p:nvPr/>
        </p:nvSpPr>
        <p:spPr>
          <a:xfrm>
            <a:off x="731520" y="20574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Digitalización real de sus asociados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Shape 6"/>
          <p:cNvSpPr/>
          <p:nvPr/>
        </p:nvSpPr>
        <p:spPr>
          <a:xfrm>
            <a:off x="457200" y="256932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Text 7"/>
          <p:cNvSpPr/>
          <p:nvPr/>
        </p:nvSpPr>
        <p:spPr>
          <a:xfrm>
            <a:off x="457200" y="25513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Text 8"/>
          <p:cNvSpPr/>
          <p:nvPr/>
        </p:nvSpPr>
        <p:spPr>
          <a:xfrm>
            <a:off x="731520" y="25329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Herramienta de valor tangible para el gremio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Shape 9"/>
          <p:cNvSpPr/>
          <p:nvPr/>
        </p:nvSpPr>
        <p:spPr>
          <a:xfrm>
            <a:off x="457200" y="304488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 10"/>
          <p:cNvSpPr/>
          <p:nvPr/>
        </p:nvSpPr>
        <p:spPr>
          <a:xfrm>
            <a:off x="457200" y="30265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Text 11"/>
          <p:cNvSpPr/>
          <p:nvPr/>
        </p:nvSpPr>
        <p:spPr>
          <a:xfrm>
            <a:off x="731520" y="30085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Canal directo con el instalador de base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Shape 12"/>
          <p:cNvSpPr/>
          <p:nvPr/>
        </p:nvSpPr>
        <p:spPr>
          <a:xfrm>
            <a:off x="457200" y="352044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Text 13"/>
          <p:cNvSpPr/>
          <p:nvPr/>
        </p:nvSpPr>
        <p:spPr>
          <a:xfrm>
            <a:off x="457200" y="350208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Text 14"/>
          <p:cNvSpPr/>
          <p:nvPr/>
        </p:nvSpPr>
        <p:spPr>
          <a:xfrm>
            <a:off x="731520" y="34837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Preparación para VeriFactu 2027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Shape 15"/>
          <p:cNvSpPr/>
          <p:nvPr/>
        </p:nvSpPr>
        <p:spPr>
          <a:xfrm>
            <a:off x="457200" y="3996000"/>
            <a:ext cx="200880" cy="20088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Text 16"/>
          <p:cNvSpPr/>
          <p:nvPr/>
        </p:nvSpPr>
        <p:spPr>
          <a:xfrm>
            <a:off x="457200" y="397764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Text 17"/>
          <p:cNvSpPr/>
          <p:nvPr/>
        </p:nvSpPr>
        <p:spPr>
          <a:xfrm>
            <a:off x="731520" y="39592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Posicionamiento como asociación innovadora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Shape 18"/>
          <p:cNvSpPr/>
          <p:nvPr/>
        </p:nvSpPr>
        <p:spPr>
          <a:xfrm>
            <a:off x="4572000" y="1691640"/>
            <a:ext cx="360" cy="3017520"/>
          </a:xfrm>
          <a:prstGeom prst="line">
            <a:avLst/>
          </a:prstGeom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 anchorCtr="1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Text 19"/>
          <p:cNvSpPr/>
          <p:nvPr/>
        </p:nvSpPr>
        <p:spPr>
          <a:xfrm>
            <a:off x="4800600" y="1691640"/>
            <a:ext cx="3977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199" strike="noStrike">
                <a:solidFill>
                  <a:srgbClr val="b84e35"/>
                </a:solidFill>
                <a:latin typeface="Calibri"/>
                <a:ea typeface="Calibri"/>
              </a:rPr>
              <a:t>PARA DISTRIBUIDORES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Shape 20"/>
          <p:cNvSpPr/>
          <p:nvPr/>
        </p:nvSpPr>
        <p:spPr>
          <a:xfrm>
            <a:off x="4800600" y="209412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Text 21"/>
          <p:cNvSpPr/>
          <p:nvPr/>
        </p:nvSpPr>
        <p:spPr>
          <a:xfrm>
            <a:off x="4800600" y="207576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Text 22"/>
          <p:cNvSpPr/>
          <p:nvPr/>
        </p:nvSpPr>
        <p:spPr>
          <a:xfrm>
            <a:off x="5074920" y="20574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Presencia en el punto de decisión de compra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Shape 23"/>
          <p:cNvSpPr/>
          <p:nvPr/>
        </p:nvSpPr>
        <p:spPr>
          <a:xfrm>
            <a:off x="4800600" y="256932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Text 24"/>
          <p:cNvSpPr/>
          <p:nvPr/>
        </p:nvSpPr>
        <p:spPr>
          <a:xfrm>
            <a:off x="4800600" y="25513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Text 25"/>
          <p:cNvSpPr/>
          <p:nvPr/>
        </p:nvSpPr>
        <p:spPr>
          <a:xfrm>
            <a:off x="5074920" y="25329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El instalador presupuesta con sus referencias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Shape 26"/>
          <p:cNvSpPr/>
          <p:nvPr/>
        </p:nvSpPr>
        <p:spPr>
          <a:xfrm>
            <a:off x="4800600" y="304488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Text 27"/>
          <p:cNvSpPr/>
          <p:nvPr/>
        </p:nvSpPr>
        <p:spPr>
          <a:xfrm>
            <a:off x="4800600" y="302652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Text 28"/>
          <p:cNvSpPr/>
          <p:nvPr/>
        </p:nvSpPr>
        <p:spPr>
          <a:xfrm>
            <a:off x="5074920" y="30085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Canal de prescripción digital sin inversión propia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Shape 29"/>
          <p:cNvSpPr/>
          <p:nvPr/>
        </p:nvSpPr>
        <p:spPr>
          <a:xfrm>
            <a:off x="4800600" y="352044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Text 30"/>
          <p:cNvSpPr/>
          <p:nvPr/>
        </p:nvSpPr>
        <p:spPr>
          <a:xfrm>
            <a:off x="4800600" y="350208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Text 31"/>
          <p:cNvSpPr/>
          <p:nvPr/>
        </p:nvSpPr>
        <p:spPr>
          <a:xfrm>
            <a:off x="5074920" y="34837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Fidelización del profesional autónomo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Shape 32"/>
          <p:cNvSpPr/>
          <p:nvPr/>
        </p:nvSpPr>
        <p:spPr>
          <a:xfrm>
            <a:off x="4800600" y="3996000"/>
            <a:ext cx="200880" cy="20088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Text 33"/>
          <p:cNvSpPr/>
          <p:nvPr/>
        </p:nvSpPr>
        <p:spPr>
          <a:xfrm>
            <a:off x="4800600" y="3977640"/>
            <a:ext cx="2008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  <a:ea typeface="Calibri"/>
              </a:rPr>
              <a:t>✓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Text 34"/>
          <p:cNvSpPr/>
          <p:nvPr/>
        </p:nvSpPr>
        <p:spPr>
          <a:xfrm>
            <a:off x="5074920" y="395928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Datos de demanda real por zona y oficio</a:t>
            </a:r>
            <a:endParaRPr b="0" lang="es-E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Shape 35"/>
          <p:cNvSpPr/>
          <p:nvPr/>
        </p:nvSpPr>
        <p:spPr>
          <a:xfrm>
            <a:off x="457200" y="4572000"/>
            <a:ext cx="8229240" cy="383760"/>
          </a:xfrm>
          <a:prstGeom prst="roundRect">
            <a:avLst>
              <a:gd name="adj" fmla="val 14286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6"/>
          <p:cNvSpPr/>
          <p:nvPr/>
        </p:nvSpPr>
        <p:spPr>
          <a:xfrm>
            <a:off x="594360" y="4608720"/>
            <a:ext cx="79549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c8922a"/>
                </a:solidFill>
                <a:latin typeface="Calibri"/>
                <a:ea typeface="Calibri"/>
              </a:rPr>
              <a:t>Cada presupuesto en TrabFlow es una oportunidad de venta para el proveedor. Cada asociación que adopta TrabFlow es una barrera de entrada para la competencia.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Text 3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15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sz="2000"/>
              <a:t>INTEGRACIONES PRIORITARIAS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Text 1"/>
          <p:cNvSpPr/>
          <p:nvPr/>
        </p:nvSpPr>
        <p:spPr>
          <a:xfrm>
            <a:off x="457200" y="567000"/>
            <a:ext cx="82292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Un ecosistema de distribuidores y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asociaciones, no solo un canal de venta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Shape 2"/>
          <p:cNvSpPr/>
          <p:nvPr/>
        </p:nvSpPr>
        <p:spPr>
          <a:xfrm>
            <a:off x="457200" y="166428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Shape 3"/>
          <p:cNvSpPr/>
          <p:nvPr/>
        </p:nvSpPr>
        <p:spPr>
          <a:xfrm>
            <a:off x="457200" y="166428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Shape 4"/>
          <p:cNvSpPr/>
          <p:nvPr/>
        </p:nvSpPr>
        <p:spPr>
          <a:xfrm>
            <a:off x="640080" y="1664280"/>
            <a:ext cx="136800" cy="126144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5"/>
          <p:cNvSpPr/>
          <p:nvPr/>
        </p:nvSpPr>
        <p:spPr>
          <a:xfrm>
            <a:off x="896040" y="1774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OBRAMAT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 6"/>
          <p:cNvSpPr/>
          <p:nvPr/>
        </p:nvSpPr>
        <p:spPr>
          <a:xfrm>
            <a:off x="896040" y="213984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Catálogo generalista: electricidad, fontanería, construcción integrado en presupuestos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Shape 7"/>
          <p:cNvSpPr/>
          <p:nvPr/>
        </p:nvSpPr>
        <p:spPr>
          <a:xfrm>
            <a:off x="3273480" y="166428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Shape 8"/>
          <p:cNvSpPr/>
          <p:nvPr/>
        </p:nvSpPr>
        <p:spPr>
          <a:xfrm>
            <a:off x="3273480" y="166428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Shape 9"/>
          <p:cNvSpPr/>
          <p:nvPr/>
        </p:nvSpPr>
        <p:spPr>
          <a:xfrm>
            <a:off x="3456360" y="1664280"/>
            <a:ext cx="136800" cy="126144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Text 10"/>
          <p:cNvSpPr/>
          <p:nvPr/>
        </p:nvSpPr>
        <p:spPr>
          <a:xfrm>
            <a:off x="3712320" y="1774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Saltoki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Text 11"/>
          <p:cNvSpPr/>
          <p:nvPr/>
        </p:nvSpPr>
        <p:spPr>
          <a:xfrm>
            <a:off x="3712320" y="213984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Distribución fontanería y climatización. Lista de precios sincronizada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Shape 12"/>
          <p:cNvSpPr/>
          <p:nvPr/>
        </p:nvSpPr>
        <p:spPr>
          <a:xfrm>
            <a:off x="6089760" y="166428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Shape 13"/>
          <p:cNvSpPr/>
          <p:nvPr/>
        </p:nvSpPr>
        <p:spPr>
          <a:xfrm>
            <a:off x="6089760" y="166428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14"/>
          <p:cNvSpPr/>
          <p:nvPr/>
        </p:nvSpPr>
        <p:spPr>
          <a:xfrm>
            <a:off x="6272640" y="1664280"/>
            <a:ext cx="136800" cy="1261440"/>
          </a:xfrm>
          <a:prstGeom prst="rect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Text 15"/>
          <p:cNvSpPr/>
          <p:nvPr/>
        </p:nvSpPr>
        <p:spPr>
          <a:xfrm>
            <a:off x="6528960" y="17740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Sonepar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Text 16"/>
          <p:cNvSpPr/>
          <p:nvPr/>
        </p:nvSpPr>
        <p:spPr>
          <a:xfrm>
            <a:off x="6528960" y="213984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Material eléctrico con disponibilidad y precio en tiempo real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Shape 17"/>
          <p:cNvSpPr/>
          <p:nvPr/>
        </p:nvSpPr>
        <p:spPr>
          <a:xfrm>
            <a:off x="457200" y="308160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Shape 18"/>
          <p:cNvSpPr/>
          <p:nvPr/>
        </p:nvSpPr>
        <p:spPr>
          <a:xfrm>
            <a:off x="457200" y="308160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Shape 19"/>
          <p:cNvSpPr/>
          <p:nvPr/>
        </p:nvSpPr>
        <p:spPr>
          <a:xfrm>
            <a:off x="640080" y="3081600"/>
            <a:ext cx="136800" cy="126144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Text 20"/>
          <p:cNvSpPr/>
          <p:nvPr/>
        </p:nvSpPr>
        <p:spPr>
          <a:xfrm>
            <a:off x="896040" y="31914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Ariston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Text 21"/>
          <p:cNvSpPr/>
          <p:nvPr/>
        </p:nvSpPr>
        <p:spPr>
          <a:xfrm>
            <a:off x="896040" y="355716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Prescripción de producto integrada en presupuestos de ACS y climatización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Shape 22"/>
          <p:cNvSpPr/>
          <p:nvPr/>
        </p:nvSpPr>
        <p:spPr>
          <a:xfrm>
            <a:off x="3273480" y="308160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Shape 23"/>
          <p:cNvSpPr/>
          <p:nvPr/>
        </p:nvSpPr>
        <p:spPr>
          <a:xfrm>
            <a:off x="3273480" y="308160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0f3a66"/>
          </a:solidFill>
          <a:ln w="12700">
            <a:solidFill>
              <a:srgbClr val="0f3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Shape 24"/>
          <p:cNvSpPr/>
          <p:nvPr/>
        </p:nvSpPr>
        <p:spPr>
          <a:xfrm>
            <a:off x="3456360" y="3081600"/>
            <a:ext cx="136800" cy="1261440"/>
          </a:xfrm>
          <a:prstGeom prst="rect">
            <a:avLst/>
          </a:prstGeom>
          <a:solidFill>
            <a:srgbClr val="0f3a66"/>
          </a:solidFill>
          <a:ln w="12700">
            <a:solidFill>
              <a:srgbClr val="0f3a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25"/>
          <p:cNvSpPr/>
          <p:nvPr/>
        </p:nvSpPr>
        <p:spPr>
          <a:xfrm>
            <a:off x="3712320" y="31914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CONAIF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Text 26"/>
          <p:cNvSpPr/>
          <p:nvPr/>
        </p:nvSpPr>
        <p:spPr>
          <a:xfrm>
            <a:off x="3712320" y="355716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Asociación de instaladores: canal de confianza y estándar de facto del gremio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Shape 27"/>
          <p:cNvSpPr/>
          <p:nvPr/>
        </p:nvSpPr>
        <p:spPr>
          <a:xfrm>
            <a:off x="6089760" y="3081600"/>
            <a:ext cx="2651400" cy="126144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9" name="Shape 28"/>
          <p:cNvSpPr/>
          <p:nvPr/>
        </p:nvSpPr>
        <p:spPr>
          <a:xfrm>
            <a:off x="6089760" y="3081600"/>
            <a:ext cx="319680" cy="1261440"/>
          </a:xfrm>
          <a:prstGeom prst="roundRect">
            <a:avLst>
              <a:gd name="adj" fmla="val 25714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29"/>
          <p:cNvSpPr/>
          <p:nvPr/>
        </p:nvSpPr>
        <p:spPr>
          <a:xfrm>
            <a:off x="6272640" y="3081600"/>
            <a:ext cx="136800" cy="1261440"/>
          </a:xfrm>
          <a:prstGeom prst="rect">
            <a:avLst/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30"/>
          <p:cNvSpPr/>
          <p:nvPr/>
        </p:nvSpPr>
        <p:spPr>
          <a:xfrm>
            <a:off x="6528960" y="31914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1c2535"/>
                </a:solidFill>
                <a:latin typeface="Cambria"/>
                <a:ea typeface="Cambria"/>
              </a:rPr>
              <a:t>FENIE</a:t>
            </a:r>
            <a:endParaRPr b="0" lang="es-E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2" name="Text 31"/>
          <p:cNvSpPr/>
          <p:nvPr/>
        </p:nvSpPr>
        <p:spPr>
          <a:xfrm>
            <a:off x="6528960" y="3557160"/>
            <a:ext cx="210276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Federación instaladores eléctricos: distribución a 35.000+ empresas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Text 32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16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Text 0"/>
          <p:cNvSpPr/>
          <p:nvPr/>
        </p:nvSpPr>
        <p:spPr>
          <a:xfrm>
            <a:off x="457200" y="2743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ROADMAP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mbria"/>
                <a:ea typeface="Cambria"/>
              </a:rPr>
              <a:t>De España a la infraestructura del gremio en LATAM</a:t>
            </a:r>
            <a:endParaRPr b="0" lang="es-E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2"/>
          <p:cNvSpPr/>
          <p:nvPr/>
        </p:nvSpPr>
        <p:spPr>
          <a:xfrm>
            <a:off x="951120" y="1371600"/>
            <a:ext cx="566640" cy="56664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Text 3"/>
          <p:cNvSpPr/>
          <p:nvPr/>
        </p:nvSpPr>
        <p:spPr>
          <a:xfrm>
            <a:off x="951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Shape 4"/>
          <p:cNvSpPr/>
          <p:nvPr/>
        </p:nvSpPr>
        <p:spPr>
          <a:xfrm>
            <a:off x="154512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Shape 5"/>
          <p:cNvSpPr/>
          <p:nvPr/>
        </p:nvSpPr>
        <p:spPr>
          <a:xfrm>
            <a:off x="384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 6"/>
          <p:cNvSpPr/>
          <p:nvPr/>
        </p:nvSpPr>
        <p:spPr>
          <a:xfrm>
            <a:off x="384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922a"/>
                </a:solidFill>
                <a:latin typeface="Calibri"/>
                <a:ea typeface="Calibri"/>
              </a:rPr>
              <a:t>España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Text 7"/>
          <p:cNvSpPr/>
          <p:nvPr/>
        </p:nvSpPr>
        <p:spPr>
          <a:xfrm>
            <a:off x="475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PMF con instaladores autónomos. Beta gratuita, primeras cohortes reales.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Shape 8"/>
          <p:cNvSpPr/>
          <p:nvPr/>
        </p:nvSpPr>
        <p:spPr>
          <a:xfrm>
            <a:off x="2670120" y="1371600"/>
            <a:ext cx="566640" cy="56664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3" name="Text 9"/>
          <p:cNvSpPr/>
          <p:nvPr/>
        </p:nvSpPr>
        <p:spPr>
          <a:xfrm>
            <a:off x="2670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4" name="Shape 10"/>
          <p:cNvSpPr/>
          <p:nvPr/>
        </p:nvSpPr>
        <p:spPr>
          <a:xfrm>
            <a:off x="326412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1"/>
          <p:cNvSpPr/>
          <p:nvPr/>
        </p:nvSpPr>
        <p:spPr>
          <a:xfrm>
            <a:off x="2103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12"/>
          <p:cNvSpPr/>
          <p:nvPr/>
        </p:nvSpPr>
        <p:spPr>
          <a:xfrm>
            <a:off x="2103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a5a96"/>
                </a:solidFill>
                <a:latin typeface="Calibri"/>
                <a:ea typeface="Calibri"/>
              </a:rPr>
              <a:t>Asociaciones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13"/>
          <p:cNvSpPr/>
          <p:nvPr/>
        </p:nvSpPr>
        <p:spPr>
          <a:xfrm>
            <a:off x="2194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CONAIF, FENIE, gremios locales como canal de distribución de confianza.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Shape 14"/>
          <p:cNvSpPr/>
          <p:nvPr/>
        </p:nvSpPr>
        <p:spPr>
          <a:xfrm>
            <a:off x="4389120" y="1371600"/>
            <a:ext cx="566640" cy="56664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Text 15"/>
          <p:cNvSpPr/>
          <p:nvPr/>
        </p:nvSpPr>
        <p:spPr>
          <a:xfrm>
            <a:off x="4389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Shape 16"/>
          <p:cNvSpPr/>
          <p:nvPr/>
        </p:nvSpPr>
        <p:spPr>
          <a:xfrm>
            <a:off x="498348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Shape 17"/>
          <p:cNvSpPr/>
          <p:nvPr/>
        </p:nvSpPr>
        <p:spPr>
          <a:xfrm>
            <a:off x="3822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 18"/>
          <p:cNvSpPr/>
          <p:nvPr/>
        </p:nvSpPr>
        <p:spPr>
          <a:xfrm>
            <a:off x="3822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4a6741"/>
                </a:solidFill>
                <a:latin typeface="Calibri"/>
                <a:ea typeface="Calibri"/>
              </a:rPr>
              <a:t>Marketplace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19"/>
          <p:cNvSpPr/>
          <p:nvPr/>
        </p:nvSpPr>
        <p:spPr>
          <a:xfrm>
            <a:off x="3913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Proveedores integrados, compra de materiales y financiación embebida.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20"/>
          <p:cNvSpPr/>
          <p:nvPr/>
        </p:nvSpPr>
        <p:spPr>
          <a:xfrm>
            <a:off x="6108120" y="1371600"/>
            <a:ext cx="566640" cy="56664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5" name="Text 21"/>
          <p:cNvSpPr/>
          <p:nvPr/>
        </p:nvSpPr>
        <p:spPr>
          <a:xfrm>
            <a:off x="6108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Shape 22"/>
          <p:cNvSpPr/>
          <p:nvPr/>
        </p:nvSpPr>
        <p:spPr>
          <a:xfrm>
            <a:off x="6702480" y="1654920"/>
            <a:ext cx="548640" cy="360"/>
          </a:xfrm>
          <a:prstGeom prst="line">
            <a:avLst/>
          </a:prstGeom>
          <a:ln w="19050">
            <a:solidFill>
              <a:srgbClr val="3a5a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Shape 23"/>
          <p:cNvSpPr/>
          <p:nvPr/>
        </p:nvSpPr>
        <p:spPr>
          <a:xfrm>
            <a:off x="554112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Text 24"/>
          <p:cNvSpPr/>
          <p:nvPr/>
        </p:nvSpPr>
        <p:spPr>
          <a:xfrm>
            <a:off x="554112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b84e35"/>
                </a:solidFill>
                <a:latin typeface="Calibri"/>
                <a:ea typeface="Calibri"/>
              </a:rPr>
              <a:t>LATAM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Text 25"/>
          <p:cNvSpPr/>
          <p:nvPr/>
        </p:nvSpPr>
        <p:spPr>
          <a:xfrm>
            <a:off x="563256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México, Colombia, Chile — 2,1M instaladores adicionales.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Shape 26"/>
          <p:cNvSpPr/>
          <p:nvPr/>
        </p:nvSpPr>
        <p:spPr>
          <a:xfrm>
            <a:off x="7827120" y="1371600"/>
            <a:ext cx="566640" cy="566640"/>
          </a:xfrm>
          <a:prstGeom prst="ellipse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Text 27"/>
          <p:cNvSpPr/>
          <p:nvPr/>
        </p:nvSpPr>
        <p:spPr>
          <a:xfrm>
            <a:off x="7827120" y="13716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28"/>
          <p:cNvSpPr/>
          <p:nvPr/>
        </p:nvSpPr>
        <p:spPr>
          <a:xfrm>
            <a:off x="7260480" y="2103120"/>
            <a:ext cx="1599840" cy="2331360"/>
          </a:xfrm>
          <a:prstGeom prst="roundRect">
            <a:avLst>
              <a:gd name="adj" fmla="val 4571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Text 29"/>
          <p:cNvSpPr/>
          <p:nvPr/>
        </p:nvSpPr>
        <p:spPr>
          <a:xfrm>
            <a:off x="7260480" y="2212920"/>
            <a:ext cx="1599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8899aa"/>
                </a:solidFill>
                <a:latin typeface="Calibri"/>
                <a:ea typeface="Calibri"/>
              </a:rPr>
              <a:t>Infraestructura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30"/>
          <p:cNvSpPr/>
          <p:nvPr/>
        </p:nvSpPr>
        <p:spPr>
          <a:xfrm>
            <a:off x="7351920" y="2606040"/>
            <a:ext cx="141696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Holding matriz: certificación energética, inmobiliario, hostelería.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Shape 31"/>
          <p:cNvSpPr/>
          <p:nvPr/>
        </p:nvSpPr>
        <p:spPr>
          <a:xfrm>
            <a:off x="457200" y="4617720"/>
            <a:ext cx="8229240" cy="347040"/>
          </a:xfrm>
          <a:prstGeom prst="roundRect">
            <a:avLst>
              <a:gd name="adj" fmla="val 15789"/>
            </a:avLst>
          </a:prstGeom>
          <a:solidFill>
            <a:srgbClr val="0f2030"/>
          </a:solidFill>
          <a:ln w="12700">
            <a:solidFill>
              <a:srgbClr val="2a4a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6" name="Text 32"/>
          <p:cNvSpPr/>
          <p:nvPr/>
        </p:nvSpPr>
        <p:spPr>
          <a:xfrm>
            <a:off x="594360" y="4645080"/>
            <a:ext cx="7954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North Star: tiempo hasta el primer presupuesto enviado. Objetivo: de 10 minutos a menos de 3.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Text 33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17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PROYECCIONES FINANCIERAS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c2535"/>
                </a:solidFill>
                <a:latin typeface="Cambria"/>
                <a:ea typeface="Cambria"/>
              </a:rPr>
              <a:t>Tres escenarios. Modelo reconciliado a 36 meses.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0" name="Shape 2"/>
          <p:cNvSpPr/>
          <p:nvPr/>
        </p:nvSpPr>
        <p:spPr>
          <a:xfrm>
            <a:off x="457200" y="1261800"/>
            <a:ext cx="2651400" cy="2559960"/>
          </a:xfrm>
          <a:prstGeom prst="roundRect">
            <a:avLst>
              <a:gd name="adj" fmla="val 3571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" name="Shape 3"/>
          <p:cNvSpPr/>
          <p:nvPr/>
        </p:nvSpPr>
        <p:spPr>
          <a:xfrm>
            <a:off x="457200" y="1261800"/>
            <a:ext cx="2651400" cy="383760"/>
          </a:xfrm>
          <a:prstGeom prst="roundRect">
            <a:avLst>
              <a:gd name="adj" fmla="val 23810"/>
            </a:avLst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Shape 4"/>
          <p:cNvSpPr/>
          <p:nvPr/>
        </p:nvSpPr>
        <p:spPr>
          <a:xfrm>
            <a:off x="457200" y="1463040"/>
            <a:ext cx="2651400" cy="18252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Text 5"/>
          <p:cNvSpPr/>
          <p:nvPr/>
        </p:nvSpPr>
        <p:spPr>
          <a:xfrm>
            <a:off x="457200" y="12985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CONSERVADOR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Text 6"/>
          <p:cNvSpPr/>
          <p:nvPr/>
        </p:nvSpPr>
        <p:spPr>
          <a:xfrm>
            <a:off x="594360" y="17373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ARR AÑO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Text 7"/>
          <p:cNvSpPr/>
          <p:nvPr/>
        </p:nvSpPr>
        <p:spPr>
          <a:xfrm>
            <a:off x="594360" y="19659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119K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Text 8"/>
          <p:cNvSpPr/>
          <p:nvPr/>
        </p:nvSpPr>
        <p:spPr>
          <a:xfrm>
            <a:off x="59436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9aa"/>
                </a:solidFill>
                <a:latin typeface="Calibri"/>
                <a:ea typeface="Calibri"/>
              </a:rPr>
              <a:t>203 clientes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7" name="Text 9"/>
          <p:cNvSpPr/>
          <p:nvPr/>
        </p:nvSpPr>
        <p:spPr>
          <a:xfrm>
            <a:off x="594360" y="2816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EBITDA: €58K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8" name="Shape 10"/>
          <p:cNvSpPr/>
          <p:nvPr/>
        </p:nvSpPr>
        <p:spPr>
          <a:xfrm>
            <a:off x="3273480" y="1261800"/>
            <a:ext cx="2651400" cy="2559960"/>
          </a:xfrm>
          <a:prstGeom prst="roundRect">
            <a:avLst>
              <a:gd name="adj" fmla="val 3571"/>
            </a:avLst>
          </a:prstGeom>
          <a:solidFill>
            <a:srgbClr val="1c2535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Shape 11"/>
          <p:cNvSpPr/>
          <p:nvPr/>
        </p:nvSpPr>
        <p:spPr>
          <a:xfrm>
            <a:off x="3273480" y="1261800"/>
            <a:ext cx="2651400" cy="383760"/>
          </a:xfrm>
          <a:prstGeom prst="roundRect">
            <a:avLst>
              <a:gd name="adj" fmla="val 23810"/>
            </a:avLst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0" name="Shape 12"/>
          <p:cNvSpPr/>
          <p:nvPr/>
        </p:nvSpPr>
        <p:spPr>
          <a:xfrm>
            <a:off x="3273480" y="1463040"/>
            <a:ext cx="2651400" cy="182520"/>
          </a:xfrm>
          <a:prstGeom prst="rect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" name="Text 13"/>
          <p:cNvSpPr/>
          <p:nvPr/>
        </p:nvSpPr>
        <p:spPr>
          <a:xfrm>
            <a:off x="3273480" y="12985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BASE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2" name="Text 14"/>
          <p:cNvSpPr/>
          <p:nvPr/>
        </p:nvSpPr>
        <p:spPr>
          <a:xfrm>
            <a:off x="3410640" y="17373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799bb"/>
                </a:solidFill>
                <a:latin typeface="Calibri"/>
                <a:ea typeface="Calibri"/>
              </a:rPr>
              <a:t>ARR AÑO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3" name="Text 15"/>
          <p:cNvSpPr/>
          <p:nvPr/>
        </p:nvSpPr>
        <p:spPr>
          <a:xfrm>
            <a:off x="3410640" y="19659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318K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4" name="Text 16"/>
          <p:cNvSpPr/>
          <p:nvPr/>
        </p:nvSpPr>
        <p:spPr>
          <a:xfrm>
            <a:off x="341064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aabbcc"/>
                </a:solidFill>
                <a:latin typeface="Calibri"/>
                <a:ea typeface="Calibri"/>
              </a:rPr>
              <a:t>541 clientes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Text 17"/>
          <p:cNvSpPr/>
          <p:nvPr/>
        </p:nvSpPr>
        <p:spPr>
          <a:xfrm>
            <a:off x="3410640" y="2816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EBITDA: €192K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6" name="Shape 18"/>
          <p:cNvSpPr/>
          <p:nvPr/>
        </p:nvSpPr>
        <p:spPr>
          <a:xfrm>
            <a:off x="6089760" y="1261800"/>
            <a:ext cx="2651400" cy="2559960"/>
          </a:xfrm>
          <a:prstGeom prst="roundRect">
            <a:avLst>
              <a:gd name="adj" fmla="val 3571"/>
            </a:avLst>
          </a:prstGeom>
          <a:solidFill>
            <a:srgbClr val="f5f6f8"/>
          </a:solidFill>
          <a:ln w="12700">
            <a:solidFill>
              <a:srgbClr val="dde3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7" name="Shape 19"/>
          <p:cNvSpPr/>
          <p:nvPr/>
        </p:nvSpPr>
        <p:spPr>
          <a:xfrm>
            <a:off x="6089760" y="1261800"/>
            <a:ext cx="2651400" cy="383760"/>
          </a:xfrm>
          <a:prstGeom prst="roundRect">
            <a:avLst>
              <a:gd name="adj" fmla="val 23810"/>
            </a:avLst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8" name="Shape 20"/>
          <p:cNvSpPr/>
          <p:nvPr/>
        </p:nvSpPr>
        <p:spPr>
          <a:xfrm>
            <a:off x="6089760" y="1463040"/>
            <a:ext cx="2651400" cy="18252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9" name="Text 21"/>
          <p:cNvSpPr/>
          <p:nvPr/>
        </p:nvSpPr>
        <p:spPr>
          <a:xfrm>
            <a:off x="6089760" y="1298520"/>
            <a:ext cx="2651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AGRESIVO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Text 22"/>
          <p:cNvSpPr/>
          <p:nvPr/>
        </p:nvSpPr>
        <p:spPr>
          <a:xfrm>
            <a:off x="6226920" y="173736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ARR AÑO 3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Text 23"/>
          <p:cNvSpPr/>
          <p:nvPr/>
        </p:nvSpPr>
        <p:spPr>
          <a:xfrm>
            <a:off x="6226920" y="1965960"/>
            <a:ext cx="237708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€</a:t>
            </a:r>
            <a:r>
              <a:rPr b="1" lang="en-US" sz="2800" spc="-1" strike="noStrike">
                <a:solidFill>
                  <a:srgbClr val="c8922a"/>
                </a:solidFill>
                <a:latin typeface="Cambria"/>
                <a:ea typeface="Cambria"/>
              </a:rPr>
              <a:t>927K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2" name="Text 24"/>
          <p:cNvSpPr/>
          <p:nvPr/>
        </p:nvSpPr>
        <p:spPr>
          <a:xfrm>
            <a:off x="6226920" y="2514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8899aa"/>
                </a:solidFill>
                <a:latin typeface="Calibri"/>
                <a:ea typeface="Calibri"/>
              </a:rPr>
              <a:t>1.578 clientes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3" name="Text 25"/>
          <p:cNvSpPr/>
          <p:nvPr/>
        </p:nvSpPr>
        <p:spPr>
          <a:xfrm>
            <a:off x="6226920" y="28162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1c2535"/>
                </a:solidFill>
                <a:latin typeface="Calibri"/>
                <a:ea typeface="Calibri"/>
              </a:rPr>
              <a:t>EBITDA: €614K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644" name="Chart 0"/>
          <p:cNvGraphicFramePr/>
          <p:nvPr/>
        </p:nvGraphicFramePr>
        <p:xfrm>
          <a:off x="457200" y="4005000"/>
          <a:ext cx="8229240" cy="86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45" name="Text 26"/>
          <p:cNvSpPr/>
          <p:nvPr/>
        </p:nvSpPr>
        <p:spPr>
          <a:xfrm>
            <a:off x="457200" y="489204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pc="-1" strike="noStrike">
                <a:solidFill>
                  <a:srgbClr val="8899aa"/>
                </a:solidFill>
                <a:latin typeface="Calibri"/>
                <a:ea typeface="Calibri"/>
              </a:rPr>
              <a:t>Supuestos: churn y CAC son hipótesis a validar con cohortes reales, no datos auditados.</a:t>
            </a:r>
            <a:endParaRPr b="0" lang="es-E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Text 27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18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ext 0"/>
          <p:cNvSpPr/>
          <p:nvPr/>
        </p:nvSpPr>
        <p:spPr>
          <a:xfrm>
            <a:off x="457200" y="274320"/>
            <a:ext cx="3657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LA PROPUESTA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 1"/>
          <p:cNvSpPr/>
          <p:nvPr/>
        </p:nvSpPr>
        <p:spPr>
          <a:xfrm>
            <a:off x="457200" y="5670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Capital para acelerar, no para sobrevivir</a:t>
            </a:r>
            <a:endParaRPr b="0" lang="es-E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2"/>
          <p:cNvSpPr/>
          <p:nvPr/>
        </p:nvSpPr>
        <p:spPr>
          <a:xfrm>
            <a:off x="457200" y="129852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3"/>
          <p:cNvSpPr/>
          <p:nvPr/>
        </p:nvSpPr>
        <p:spPr>
          <a:xfrm>
            <a:off x="594360" y="138996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100.000€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4"/>
          <p:cNvSpPr/>
          <p:nvPr/>
        </p:nvSpPr>
        <p:spPr>
          <a:xfrm>
            <a:off x="2331720" y="13899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Product-Market Fit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Text 5"/>
          <p:cNvSpPr/>
          <p:nvPr/>
        </p:nvSpPr>
        <p:spPr>
          <a:xfrm>
            <a:off x="2331720" y="166428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Completar Base Maestra crítica y validar retención con primeras cohortes reales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Shape 6"/>
          <p:cNvSpPr/>
          <p:nvPr/>
        </p:nvSpPr>
        <p:spPr>
          <a:xfrm>
            <a:off x="457200" y="207576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7"/>
          <p:cNvSpPr/>
          <p:nvPr/>
        </p:nvSpPr>
        <p:spPr>
          <a:xfrm>
            <a:off x="594360" y="216720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200.000€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8"/>
          <p:cNvSpPr/>
          <p:nvPr/>
        </p:nvSpPr>
        <p:spPr>
          <a:xfrm>
            <a:off x="2331720" y="21672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100 clientes de pago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Text 9"/>
          <p:cNvSpPr/>
          <p:nvPr/>
        </p:nvSpPr>
        <p:spPr>
          <a:xfrm>
            <a:off x="2331720" y="24415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Canal de adquisición ya repetible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10"/>
          <p:cNvSpPr/>
          <p:nvPr/>
        </p:nvSpPr>
        <p:spPr>
          <a:xfrm>
            <a:off x="457200" y="285300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1"/>
          <p:cNvSpPr/>
          <p:nvPr/>
        </p:nvSpPr>
        <p:spPr>
          <a:xfrm>
            <a:off x="594360" y="294444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450.000€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12"/>
          <p:cNvSpPr/>
          <p:nvPr/>
        </p:nvSpPr>
        <p:spPr>
          <a:xfrm>
            <a:off x="2331720" y="29444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Expansión a Portugal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0" name="Text 13"/>
          <p:cNvSpPr/>
          <p:nvPr/>
        </p:nvSpPr>
        <p:spPr>
          <a:xfrm>
            <a:off x="2331720" y="321876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Adaptación de producto, certificación fiscal, primer equipo comercial local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14"/>
          <p:cNvSpPr/>
          <p:nvPr/>
        </p:nvSpPr>
        <p:spPr>
          <a:xfrm>
            <a:off x="457200" y="3630240"/>
            <a:ext cx="8229240" cy="658080"/>
          </a:xfrm>
          <a:prstGeom prst="roundRect">
            <a:avLst>
              <a:gd name="adj" fmla="val 9722"/>
            </a:avLst>
          </a:prstGeom>
          <a:solidFill>
            <a:srgbClr val="1a3a5c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15"/>
          <p:cNvSpPr/>
          <p:nvPr/>
        </p:nvSpPr>
        <p:spPr>
          <a:xfrm>
            <a:off x="594360" y="3721680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c8922a"/>
                </a:solidFill>
                <a:latin typeface="Cambria"/>
                <a:ea typeface="Cambria"/>
              </a:rPr>
              <a:t>1.000.000€</a:t>
            </a:r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16"/>
          <p:cNvSpPr/>
          <p:nvPr/>
        </p:nvSpPr>
        <p:spPr>
          <a:xfrm>
            <a:off x="2331720" y="37216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Entrada en México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17"/>
          <p:cNvSpPr/>
          <p:nvPr/>
        </p:nvSpPr>
        <p:spPr>
          <a:xfrm>
            <a:off x="2331720" y="399600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aabbcc"/>
                </a:solidFill>
                <a:latin typeface="Calibri"/>
                <a:ea typeface="Calibri"/>
              </a:rPr>
              <a:t>Adaptación a CFDI, equipo local, primer ciclo de adquisición fuera de España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Shape 18"/>
          <p:cNvSpPr/>
          <p:nvPr/>
        </p:nvSpPr>
        <p:spPr>
          <a:xfrm>
            <a:off x="457200" y="4572000"/>
            <a:ext cx="8229240" cy="411120"/>
          </a:xfrm>
          <a:prstGeom prst="roundRect">
            <a:avLst>
              <a:gd name="adj" fmla="val 15556"/>
            </a:avLst>
          </a:prstGeom>
          <a:solidFill>
            <a:srgbClr val="0f2030"/>
          </a:solidFill>
          <a:ln w="12700">
            <a:solidFill>
              <a:srgbClr val="2a50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Text 19"/>
          <p:cNvSpPr/>
          <p:nvPr/>
        </p:nvSpPr>
        <p:spPr>
          <a:xfrm>
            <a:off x="594360" y="4608720"/>
            <a:ext cx="79549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7799bb"/>
                </a:solidFill>
                <a:latin typeface="Calibri"/>
                <a:ea typeface="Calibri"/>
              </a:rPr>
              <a:t>En paralelo: ENISA Jóvenes Emprendedores (hasta €75K, sin dilución) + Agente Digitalizador Kit Digital. No se busca diluir capital en esta etapa.</a:t>
            </a:r>
            <a:endParaRPr b="0" lang="es-E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20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aacc"/>
                </a:solidFill>
                <a:latin typeface="Calibri"/>
                <a:ea typeface="Calibri"/>
              </a:rPr>
              <a:t>19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LA GRAN APUESTA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Text 1"/>
          <p:cNvSpPr/>
          <p:nvPr/>
        </p:nvSpPr>
        <p:spPr>
          <a:xfrm>
            <a:off x="457200" y="567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¿Por qué TrabFlow puede llegar a ser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c2535"/>
                </a:solidFill>
                <a:latin typeface="Cambria"/>
                <a:ea typeface="Cambria"/>
              </a:rPr>
              <a:t>una compañía de más de €100M?</a:t>
            </a:r>
            <a:endParaRPr b="0" lang="es-E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0" name="Shape 2"/>
          <p:cNvSpPr/>
          <p:nvPr/>
        </p:nvSpPr>
        <p:spPr>
          <a:xfrm>
            <a:off x="457200" y="166428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1" name="Shape 3"/>
          <p:cNvSpPr/>
          <p:nvPr/>
        </p:nvSpPr>
        <p:spPr>
          <a:xfrm>
            <a:off x="621720" y="2066400"/>
            <a:ext cx="475200" cy="475200"/>
          </a:xfrm>
          <a:prstGeom prst="ellipse">
            <a:avLst/>
          </a:prstGeom>
          <a:solidFill>
            <a:srgbClr val="1a5a96"/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2" name="Image 0" descr="preencoded.png"/>
          <p:cNvPicPr/>
          <p:nvPr/>
        </p:nvPicPr>
        <p:blipFill>
          <a:blip r:embed="rId1"/>
          <a:stretch/>
        </p:blipFill>
        <p:spPr>
          <a:xfrm>
            <a:off x="658440" y="21031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73" name="Text 4"/>
          <p:cNvSpPr/>
          <p:nvPr/>
        </p:nvSpPr>
        <p:spPr>
          <a:xfrm>
            <a:off x="1225440" y="177408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a5a96"/>
                </a:solidFill>
                <a:latin typeface="Calibri"/>
                <a:ea typeface="Calibri"/>
              </a:rPr>
              <a:t>Mercado de €480M sin servir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4" name="Text 5"/>
          <p:cNvSpPr/>
          <p:nvPr/>
        </p:nvSpPr>
        <p:spPr>
          <a:xfrm>
            <a:off x="1225440" y="215784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650.000+ instaladores en España y 2,1M en LATAM, con menos del 20% usando IA hoy.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6"/>
          <p:cNvSpPr/>
          <p:nvPr/>
        </p:nvSpPr>
        <p:spPr>
          <a:xfrm>
            <a:off x="4800600" y="166428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6" name="Shape 7"/>
          <p:cNvSpPr/>
          <p:nvPr/>
        </p:nvSpPr>
        <p:spPr>
          <a:xfrm>
            <a:off x="4965120" y="2066400"/>
            <a:ext cx="475200" cy="475200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7" name="Image 1" descr="preencoded.png"/>
          <p:cNvPicPr/>
          <p:nvPr/>
        </p:nvPicPr>
        <p:blipFill>
          <a:blip r:embed="rId2"/>
          <a:stretch/>
        </p:blipFill>
        <p:spPr>
          <a:xfrm>
            <a:off x="5001840" y="210312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78" name="Text 8"/>
          <p:cNvSpPr/>
          <p:nvPr/>
        </p:nvSpPr>
        <p:spPr>
          <a:xfrm>
            <a:off x="5568840" y="177408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Múltiplos del vertical ya validados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9" name="Text 9"/>
          <p:cNvSpPr/>
          <p:nvPr/>
        </p:nvSpPr>
        <p:spPr>
          <a:xfrm>
            <a:off x="5568840" y="215784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ServiceTitan (~€7.000M), Jobber y Housecall Pro demuestran que el software de oficios escala a unicornio.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Shape 10"/>
          <p:cNvSpPr/>
          <p:nvPr/>
        </p:nvSpPr>
        <p:spPr>
          <a:xfrm>
            <a:off x="457200" y="320040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1" name="Shape 11"/>
          <p:cNvSpPr/>
          <p:nvPr/>
        </p:nvSpPr>
        <p:spPr>
          <a:xfrm>
            <a:off x="621720" y="3602880"/>
            <a:ext cx="475200" cy="475200"/>
          </a:xfrm>
          <a:prstGeom prst="ellipse">
            <a:avLst/>
          </a:prstGeom>
          <a:solidFill>
            <a:srgbClr val="b84e35"/>
          </a:solidFill>
          <a:ln w="12700">
            <a:solidFill>
              <a:srgbClr val="b84e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2" name="Image 2" descr="preencoded.png"/>
          <p:cNvPicPr/>
          <p:nvPr/>
        </p:nvPicPr>
        <p:blipFill>
          <a:blip r:embed="rId3"/>
          <a:stretch/>
        </p:blipFill>
        <p:spPr>
          <a:xfrm>
            <a:off x="658440" y="3639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83" name="Text 12"/>
          <p:cNvSpPr/>
          <p:nvPr/>
        </p:nvSpPr>
        <p:spPr>
          <a:xfrm>
            <a:off x="1225440" y="331020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b84e35"/>
                </a:solidFill>
                <a:latin typeface="Calibri"/>
                <a:ea typeface="Calibri"/>
              </a:rPr>
              <a:t>No es un producto, es una matriz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4" name="Text 13"/>
          <p:cNvSpPr/>
          <p:nvPr/>
        </p:nvSpPr>
        <p:spPr>
          <a:xfrm>
            <a:off x="1225440" y="369432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TrabFlow Technologies licencia tecnología y marca a verticales futuros: cert. energética, inmobiliario, hostelería.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5" name="Shape 14"/>
          <p:cNvSpPr/>
          <p:nvPr/>
        </p:nvSpPr>
        <p:spPr>
          <a:xfrm>
            <a:off x="4800600" y="3200400"/>
            <a:ext cx="4114440" cy="135288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de3ec"/>
            </a:solidFill>
            <a:round/>
          </a:ln>
          <a:effectLst>
            <a:outerShdw algn="bl" blurRad="63360" dir="5400000" dist="12600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6" name="Shape 15"/>
          <p:cNvSpPr/>
          <p:nvPr/>
        </p:nvSpPr>
        <p:spPr>
          <a:xfrm>
            <a:off x="4965120" y="3602880"/>
            <a:ext cx="475200" cy="47520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7" name="Image 3" descr="preencoded.png"/>
          <p:cNvPicPr/>
          <p:nvPr/>
        </p:nvPicPr>
        <p:blipFill>
          <a:blip r:embed="rId4"/>
          <a:stretch/>
        </p:blipFill>
        <p:spPr>
          <a:xfrm>
            <a:off x="5001840" y="3639240"/>
            <a:ext cx="402120" cy="402120"/>
          </a:xfrm>
          <a:prstGeom prst="rect">
            <a:avLst/>
          </a:prstGeom>
          <a:ln w="0">
            <a:noFill/>
          </a:ln>
        </p:spPr>
      </p:pic>
      <p:sp>
        <p:nvSpPr>
          <p:cNvPr id="688" name="Text 16"/>
          <p:cNvSpPr/>
          <p:nvPr/>
        </p:nvSpPr>
        <p:spPr>
          <a:xfrm>
            <a:off x="5568840" y="3310200"/>
            <a:ext cx="3181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a6741"/>
                </a:solidFill>
                <a:latin typeface="Calibri"/>
                <a:ea typeface="Calibri"/>
              </a:rPr>
              <a:t>Moat de datos compuesto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Text 17"/>
          <p:cNvSpPr/>
          <p:nvPr/>
        </p:nvSpPr>
        <p:spPr>
          <a:xfrm>
            <a:off x="5568840" y="3694320"/>
            <a:ext cx="31816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1c2535"/>
                </a:solidFill>
                <a:latin typeface="Calibri"/>
                <a:ea typeface="Calibri"/>
              </a:rPr>
              <a:t>Cada cliente nuevo mejora el catálogo, los precios y la IA para todos — ventaja que crece con el tiempo.</a:t>
            </a:r>
            <a:endParaRPr b="0" lang="es-E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Text 1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20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Text 0"/>
          <p:cNvSpPr/>
          <p:nvPr/>
        </p:nvSpPr>
        <p:spPr>
          <a:xfrm>
            <a:off x="457200" y="274320"/>
            <a:ext cx="2742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900" spc="299" strike="noStrike">
                <a:solidFill>
                  <a:srgbClr val="c8922a"/>
                </a:solidFill>
                <a:latin typeface="Calibri"/>
                <a:ea typeface="Calibri"/>
              </a:rPr>
              <a:t>EQUIPO Y CONTACTO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2" name="Shape 1"/>
          <p:cNvSpPr/>
          <p:nvPr/>
        </p:nvSpPr>
        <p:spPr>
          <a:xfrm>
            <a:off x="457200" y="640080"/>
            <a:ext cx="8229240" cy="3977280"/>
          </a:xfrm>
          <a:prstGeom prst="roundRect">
            <a:avLst>
              <a:gd name="adj" fmla="val 2759"/>
            </a:avLst>
          </a:prstGeom>
          <a:solidFill>
            <a:srgbClr val="1c2535"/>
          </a:solidFill>
          <a:ln w="12700">
            <a:solidFill>
              <a:srgbClr val="1c25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Shape 2"/>
          <p:cNvSpPr/>
          <p:nvPr/>
        </p:nvSpPr>
        <p:spPr>
          <a:xfrm>
            <a:off x="3547800" y="777240"/>
            <a:ext cx="2029680" cy="2029680"/>
          </a:xfrm>
          <a:prstGeom prst="ellipse">
            <a:avLst/>
          </a:prstGeom>
          <a:solidFill>
            <a:srgbClr val="1a3a5c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3"/>
          <p:cNvSpPr/>
          <p:nvPr/>
        </p:nvSpPr>
        <p:spPr>
          <a:xfrm>
            <a:off x="3547800" y="777240"/>
            <a:ext cx="202968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c8922a"/>
                </a:solidFill>
                <a:latin typeface="Cambria"/>
                <a:ea typeface="Cambria"/>
              </a:rPr>
              <a:t>FC</a:t>
            </a:r>
            <a:endParaRPr b="0" lang="es-E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5" name="Text 4"/>
          <p:cNvSpPr/>
          <p:nvPr/>
        </p:nvSpPr>
        <p:spPr>
          <a:xfrm>
            <a:off x="914400" y="2926080"/>
            <a:ext cx="7314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mbria"/>
                <a:ea typeface="Cambria"/>
              </a:rPr>
              <a:t>Fernando Carbonell Cabo</a:t>
            </a:r>
            <a:endParaRPr b="0" lang="es-E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Text 5"/>
          <p:cNvSpPr/>
          <p:nvPr/>
        </p:nvSpPr>
        <p:spPr>
          <a:xfrm>
            <a:off x="914400" y="342900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c8922a"/>
                </a:solidFill>
                <a:latin typeface="Calibri"/>
                <a:ea typeface="Calibri"/>
              </a:rPr>
              <a:t>Fundador y Administrador Único · TrabFlow Technologies, S.L.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Text 6"/>
          <p:cNvSpPr/>
          <p:nvPr/>
        </p:nvSpPr>
        <p:spPr>
          <a:xfrm>
            <a:off x="914400" y="3767400"/>
            <a:ext cx="73148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799bb"/>
                </a:solidFill>
                <a:latin typeface="Calibri"/>
                <a:ea typeface="Calibri"/>
              </a:rPr>
              <a:t>Diseño y validación en solitario de la arquitectura de producto, el modelo de datos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7799bb"/>
                </a:solidFill>
                <a:latin typeface="Calibri"/>
                <a:ea typeface="Calibri"/>
              </a:rPr>
              <a:t>y el roadmap de IA — desde la base normativa hasta el modelo financiero a 3 años.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8" name="Text 7"/>
          <p:cNvSpPr/>
          <p:nvPr/>
        </p:nvSpPr>
        <p:spPr>
          <a:xfrm>
            <a:off x="457200" y="468180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899aa"/>
                </a:solidFill>
                <a:latin typeface="Calibri"/>
                <a:ea typeface="Calibri"/>
              </a:rPr>
              <a:t>Buscamos socios que entiendan que el software vertical con IA es la próxima generación de infraestructura SaaS.</a:t>
            </a:r>
            <a:endParaRPr b="0" lang="es-E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" name="Text 8"/>
          <p:cNvSpPr/>
          <p:nvPr/>
        </p:nvSpPr>
        <p:spPr>
          <a:xfrm>
            <a:off x="8503920" y="4846320"/>
            <a:ext cx="456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899aa"/>
                </a:solidFill>
                <a:latin typeface="Calibri"/>
                <a:ea typeface="Calibri"/>
              </a:rPr>
              <a:t>21</a:t>
            </a:r>
            <a:endParaRPr b="0" lang="es-E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2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0"/>
          <p:cNvSpPr/>
          <p:nvPr/>
        </p:nvSpPr>
        <p:spPr>
          <a:xfrm>
            <a:off x="6858000" y="-914400"/>
            <a:ext cx="4114440" cy="4114440"/>
          </a:xfrm>
          <a:prstGeom prst="ellipse">
            <a:avLst/>
          </a:prstGeom>
          <a:solidFill>
            <a:srgbClr val="c8922a">
              <a:alpha val="18000"/>
            </a:srgbClr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1" name="Shape 1"/>
          <p:cNvSpPr/>
          <p:nvPr/>
        </p:nvSpPr>
        <p:spPr>
          <a:xfrm>
            <a:off x="-1097280" y="3200400"/>
            <a:ext cx="2742840" cy="2742840"/>
          </a:xfrm>
          <a:prstGeom prst="ellipse">
            <a:avLst/>
          </a:prstGeom>
          <a:solidFill>
            <a:srgbClr val="1a5a96">
              <a:alpha val="25000"/>
            </a:srgbClr>
          </a:solidFill>
          <a:ln w="12700">
            <a:solidFill>
              <a:srgbClr val="1a5a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2" name="Text 2"/>
          <p:cNvSpPr/>
          <p:nvPr/>
        </p:nvSpPr>
        <p:spPr>
          <a:xfrm>
            <a:off x="731520" y="731520"/>
            <a:ext cx="7680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¿Qué harían tus asociados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fffff"/>
                </a:solidFill>
                <a:latin typeface="Cambria"/>
                <a:ea typeface="Cambria"/>
              </a:rPr>
              <a:t>con 40 horas más al mes?</a:t>
            </a:r>
            <a:endParaRPr b="0" lang="es-E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3"/>
          <p:cNvSpPr/>
          <p:nvPr/>
        </p:nvSpPr>
        <p:spPr>
          <a:xfrm>
            <a:off x="731520" y="2633400"/>
            <a:ext cx="76806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aabbcc"/>
                </a:solidFill>
                <a:latin typeface="Cambria"/>
                <a:ea typeface="Cambria"/>
              </a:rPr>
              <a:t>Mientras ellos instalan, TrabFlow gestiona el resto.</a:t>
            </a:r>
            <a:endParaRPr b="0" lang="es-E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4" name="Shape 4"/>
          <p:cNvSpPr/>
          <p:nvPr/>
        </p:nvSpPr>
        <p:spPr>
          <a:xfrm>
            <a:off x="2834640" y="3456360"/>
            <a:ext cx="3474360" cy="658080"/>
          </a:xfrm>
          <a:prstGeom prst="roundRect">
            <a:avLst>
              <a:gd name="adj" fmla="val 13889"/>
            </a:avLst>
          </a:prstGeom>
          <a:solidFill>
            <a:srgbClr val="c8922a"/>
          </a:solidFill>
          <a:ln w="12700">
            <a:solidFill>
              <a:srgbClr val="c892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5" name="Text 5"/>
          <p:cNvSpPr/>
          <p:nvPr/>
        </p:nvSpPr>
        <p:spPr>
          <a:xfrm>
            <a:off x="2834640" y="3456360"/>
            <a:ext cx="3474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c2535"/>
                </a:solidFill>
                <a:latin typeface="Calibri"/>
                <a:ea typeface="Calibri"/>
              </a:rPr>
              <a:t>Solicitar demostración personalizada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6"/>
          <p:cNvSpPr/>
          <p:nvPr/>
        </p:nvSpPr>
        <p:spPr>
          <a:xfrm>
            <a:off x="731520" y="4316040"/>
            <a:ext cx="7680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7799bb"/>
                </a:solidFill>
                <a:latin typeface="Calibri"/>
                <a:ea typeface="Calibri"/>
              </a:rPr>
              <a:t>trabflow.com  ·  fercarboc@gmail.com</a:t>
            </a:r>
            <a:endParaRPr b="0" lang="es-E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7"/>
          <p:cNvSpPr/>
          <p:nvPr/>
        </p:nvSpPr>
        <p:spPr>
          <a:xfrm>
            <a:off x="731520" y="4754880"/>
            <a:ext cx="76806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445566"/>
                </a:solidFill>
                <a:latin typeface="Calibri"/>
                <a:ea typeface="Calibri"/>
              </a:rPr>
              <a:t>TrabFlow Technologies, S.L.  ·  2026  ·  Confidencial</a:t>
            </a:r>
            <a:endParaRPr b="0" lang="es-E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LibreOffice/7.4.3.2$Windows_X86_64 LibreOffice_project/1048a8393ae2eeec98dff31b5c133c5f1d08b890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2026-06-22T16:19:52Z</dcterms:created>
  <dc:creator>PptxGenJS</dc:creator>
  <dc:description/>
  <dc:language>es-ES</dc:language>
  <cp:lastModifiedBy/>
  <dcterms:modified xsi:type="dcterms:W3CDTF">2026-06-22T18:26:15Z</dcterms:modified>
  <cp:revision>5</cp:revision>
  <dc:subject>PptxGenJS Presentation</dc:subject>
  <dc:title>TrabFlow · Pitch Deck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22</vt:i4>
  </property>
  <property fmtid="{D5CDD505-2E9C-101B-9397-08002B2CF9AE}" pid="3" name="PresentationFormat">
    <vt:lpwstr>On-screen Show (16:9)</vt:lpwstr>
  </property>
  <property fmtid="{D5CDD505-2E9C-101B-9397-08002B2CF9AE}" pid="4" name="Slides">
    <vt:i4>22</vt:i4>
  </property>
</Properties>
</file>