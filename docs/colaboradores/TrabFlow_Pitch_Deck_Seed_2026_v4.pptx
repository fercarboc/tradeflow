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848EE91-0716-4FBA-BDAA-F7E348B996CF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6543D5-D360-4E96-A1FB-2FFABB20BA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EF3529-8B0C-4950-BD19-1B4B165D69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1EFA28-16EA-45C7-B721-5DD7E9E2BC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E97E6D-6960-4E2E-BE87-E1BF7C4310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583AE6-3DF6-4976-BC28-BEA103E5D0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89E221-3BE9-4C68-B09E-EA356480FD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750F6A-48DE-47C7-8A60-2F53ED4284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6D6596-AC5C-4760-81D5-D672129A3A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00BAFE-CCB6-4EA7-B10A-00732B5699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1A252A-2731-4772-8449-6D1A4EC167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CCFE37-3AB2-40A1-8A72-1182028DF4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8D0397-89B4-4D28-A815-793251AC4B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362E01-6FBB-4E29-A450-5499FC68EE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634CD53-0E86-4B0E-B164-C954CF1334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D970EB-B287-4031-BD86-F83312DD710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F21FA9-AE89-43B5-A381-8D16EA738B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5AA9E6-A025-44DC-B4FB-5F520D17CB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D08123-6927-4E83-8DC1-EB741474E7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D5A69B-66E4-43D5-B520-2F61F875975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2.png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3.png"/><Relationship Id="rId14" Type="http://schemas.openxmlformats.org/officeDocument/2006/relationships/image" Target="../media/image2.png"/><Relationship Id="rId15" Type="http://schemas.openxmlformats.org/officeDocument/2006/relationships/image" Target="../media/image2.png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8" Type="http://schemas.openxmlformats.org/officeDocument/2006/relationships/image" Target="../media/image2.png"/><Relationship Id="rId19" Type="http://schemas.openxmlformats.org/officeDocument/2006/relationships/image" Target="../media/image2.png"/><Relationship Id="rId20" Type="http://schemas.openxmlformats.org/officeDocument/2006/relationships/image" Target="../media/image2.png"/><Relationship Id="rId21" Type="http://schemas.openxmlformats.org/officeDocument/2006/relationships/image" Target="../media/image3.png"/><Relationship Id="rId22" Type="http://schemas.openxmlformats.org/officeDocument/2006/relationships/image" Target="../media/image3.png"/><Relationship Id="rId23" Type="http://schemas.openxmlformats.org/officeDocument/2006/relationships/image" Target="../media/image2.png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8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image" Target="../media/image18.png"/><Relationship Id="rId13" Type="http://schemas.openxmlformats.org/officeDocument/2006/relationships/image" Target="../media/image1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18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20.png"/><Relationship Id="rId11" Type="http://schemas.openxmlformats.org/officeDocument/2006/relationships/image" Target="../media/image18.png"/><Relationship Id="rId12" Type="http://schemas.openxmlformats.org/officeDocument/2006/relationships/image" Target="../media/image18.png"/><Relationship Id="rId13" Type="http://schemas.openxmlformats.org/officeDocument/2006/relationships/image" Target="../media/image18.png"/><Relationship Id="rId14" Type="http://schemas.openxmlformats.org/officeDocument/2006/relationships/image" Target="../media/image13.png"/><Relationship Id="rId15" Type="http://schemas.openxmlformats.org/officeDocument/2006/relationships/image" Target="../media/image18.png"/><Relationship Id="rId16" Type="http://schemas.openxmlformats.org/officeDocument/2006/relationships/image" Target="../media/image18.png"/><Relationship Id="rId17" Type="http://schemas.openxmlformats.org/officeDocument/2006/relationships/image" Target="../media/image18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0" y="4114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0" y="8229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0" y="12344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0" y="16459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0" y="20574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0" y="24688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0" y="28803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0" y="32918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0" y="37033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0" y="41148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0" y="45262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0" y="49377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0" y="53492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0" y="57607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0" y="61722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0" y="65836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4139640" y="502920"/>
            <a:ext cx="3909600" cy="1005480"/>
          </a:xfrm>
          <a:prstGeom prst="rect">
            <a:avLst/>
          </a:prstGeom>
          <a:ln w="0">
            <a:noFill/>
          </a:ln>
        </p:spPr>
      </p:pic>
      <p:sp>
        <p:nvSpPr>
          <p:cNvPr id="63" name="Text 18"/>
          <p:cNvSpPr/>
          <p:nvPr/>
        </p:nvSpPr>
        <p:spPr>
          <a:xfrm>
            <a:off x="457200" y="1828800"/>
            <a:ext cx="1127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Mientras el instalador trabaja,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457200" y="2450520"/>
            <a:ext cx="1127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c8ff"/>
                </a:solidFill>
                <a:latin typeface="Arial"/>
                <a:ea typeface="Arial"/>
              </a:rPr>
              <a:t>TrabFlow gestiona todo lo demás.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914400" y="324612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9ca3af"/>
                </a:solidFill>
                <a:latin typeface="Arial"/>
                <a:ea typeface="Arial"/>
              </a:rPr>
              <a:t>La infraestructura digital del instalador profesional.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1293840" y="3886200"/>
            <a:ext cx="2925720" cy="132552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0">
            <a:noFill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1385280" y="406908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0c8ff"/>
                </a:solidFill>
                <a:latin typeface="Arial"/>
                <a:ea typeface="Arial"/>
              </a:rPr>
              <a:t>650.000+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1385280" y="46360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instaladores en España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24"/>
          <p:cNvSpPr/>
          <p:nvPr/>
        </p:nvSpPr>
        <p:spPr>
          <a:xfrm>
            <a:off x="4631400" y="3886200"/>
            <a:ext cx="2925720" cy="132552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0">
            <a:noFill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4722840" y="406908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0b429"/>
                </a:solidFill>
                <a:latin typeface="Arial"/>
                <a:ea typeface="Arial"/>
              </a:rPr>
              <a:t>&lt; 3 min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4722840" y="46360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de voz a factura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7"/>
          <p:cNvSpPr/>
          <p:nvPr/>
        </p:nvSpPr>
        <p:spPr>
          <a:xfrm>
            <a:off x="7968960" y="3886200"/>
            <a:ext cx="2925720" cy="132552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0">
            <a:noFill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8"/>
          <p:cNvSpPr/>
          <p:nvPr/>
        </p:nvSpPr>
        <p:spPr>
          <a:xfrm>
            <a:off x="8060400" y="406908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0b981"/>
                </a:solidFill>
                <a:latin typeface="Arial"/>
                <a:ea typeface="Arial"/>
              </a:rPr>
              <a:t>2-4 h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9"/>
          <p:cNvSpPr/>
          <p:nvPr/>
        </p:nvSpPr>
        <p:spPr>
          <a:xfrm>
            <a:off x="8060400" y="46360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ahorradas al día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0"/>
          <p:cNvSpPr/>
          <p:nvPr/>
        </p:nvSpPr>
        <p:spPr>
          <a:xfrm>
            <a:off x="365760" y="6355080"/>
            <a:ext cx="1828440" cy="292320"/>
          </a:xfrm>
          <a:prstGeom prst="roundRect">
            <a:avLst>
              <a:gd name="adj" fmla="val 25000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365760" y="635508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SEED ROUND · 2026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32"/>
          <p:cNvSpPr/>
          <p:nvPr/>
        </p:nvSpPr>
        <p:spPr>
          <a:xfrm>
            <a:off x="10085760" y="6355080"/>
            <a:ext cx="1737000" cy="292320"/>
          </a:xfrm>
          <a:prstGeom prst="roundRect">
            <a:avLst>
              <a:gd name="adj" fmla="val 25000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3"/>
          <p:cNvSpPr/>
          <p:nvPr/>
        </p:nvSpPr>
        <p:spPr>
          <a:xfrm>
            <a:off x="10085760" y="63550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CONFIDENCIAL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4"/>
          <p:cNvSpPr/>
          <p:nvPr/>
        </p:nvSpPr>
        <p:spPr>
          <a:xfrm>
            <a:off x="0" y="6355080"/>
            <a:ext cx="12188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trabflow.com  ·  fercarboc@gmail.com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81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EL PROBLEMA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02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274320" y="960120"/>
            <a:ext cx="11639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El instalador trabaja más en la oficina que en la obra.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274320" y="1664280"/>
            <a:ext cx="1163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c8ff"/>
                </a:solidFill>
                <a:latin typeface="Arial"/>
                <a:ea typeface="Arial"/>
              </a:rPr>
              <a:t>2-3 horas diarias en tareas que no generan ni un euro.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274320" y="2331720"/>
            <a:ext cx="5668920" cy="132552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457200" y="2715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8" name="Text 6"/>
          <p:cNvSpPr/>
          <p:nvPr/>
        </p:nvSpPr>
        <p:spPr>
          <a:xfrm>
            <a:off x="932760" y="2496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Presupuestos a mano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932760" y="28620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30-45 minutos por presupuesto, en papel o WhatsApp.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74320" y="3840480"/>
            <a:ext cx="5668920" cy="132552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457200" y="4224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92" name="Text 9"/>
          <p:cNvSpPr/>
          <p:nvPr/>
        </p:nvSpPr>
        <p:spPr>
          <a:xfrm>
            <a:off x="932760" y="40050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Facturas en Excel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932760" y="43707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Sin VeriFactu. Sin seguimiento de cobros.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6263640" y="2331720"/>
            <a:ext cx="5668920" cy="132552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3" descr="preencoded.png"/>
          <p:cNvPicPr/>
          <p:nvPr/>
        </p:nvPicPr>
        <p:blipFill>
          <a:blip r:embed="rId4"/>
          <a:stretch/>
        </p:blipFill>
        <p:spPr>
          <a:xfrm>
            <a:off x="6446520" y="27158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96" name="Text 12"/>
          <p:cNvSpPr/>
          <p:nvPr/>
        </p:nvSpPr>
        <p:spPr>
          <a:xfrm>
            <a:off x="6922080" y="2496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Planificación manual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6922080" y="28620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Sin rutas, sin partes, sin historial de trabajos.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6263640" y="3840480"/>
            <a:ext cx="5668920" cy="1325520"/>
          </a:xfrm>
          <a:prstGeom prst="roundRect">
            <a:avLst>
              <a:gd name="adj" fmla="val 6897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" name="Image 4" descr="preencoded.png"/>
          <p:cNvPicPr/>
          <p:nvPr/>
        </p:nvPicPr>
        <p:blipFill>
          <a:blip r:embed="rId5"/>
          <a:stretch/>
        </p:blipFill>
        <p:spPr>
          <a:xfrm>
            <a:off x="6446520" y="4224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00" name="Text 15"/>
          <p:cNvSpPr/>
          <p:nvPr/>
        </p:nvSpPr>
        <p:spPr>
          <a:xfrm>
            <a:off x="6922080" y="40050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Sin datos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6922080" y="43707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No sabe cuánto factura por oficio, zona o cliente.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7"/>
          <p:cNvSpPr/>
          <p:nvPr/>
        </p:nvSpPr>
        <p:spPr>
          <a:xfrm>
            <a:off x="274320" y="5413320"/>
            <a:ext cx="11639880" cy="731160"/>
          </a:xfrm>
          <a:prstGeom prst="roundRect">
            <a:avLst>
              <a:gd name="adj" fmla="val 12500"/>
            </a:avLst>
          </a:prstGeom>
          <a:solidFill>
            <a:srgbClr val="1a0a00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457200" y="544968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€</a:t>
            </a: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70 diarios en oportunidad perdida por instalador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457200" y="576072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A €35/hora · 2 horas/día · 250 días/año = €17.500/año por profesional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106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EL HUECO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03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274320" y="914400"/>
            <a:ext cx="1163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Existen herramientas. Ninguna habla el idioma del instalador.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2926080" y="1783080"/>
            <a:ext cx="1919880" cy="456840"/>
          </a:xfrm>
          <a:prstGeom prst="roundRect">
            <a:avLst>
              <a:gd name="adj" fmla="val 16000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2971800" y="18288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Billin / Quipu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6"/>
          <p:cNvSpPr/>
          <p:nvPr/>
        </p:nvSpPr>
        <p:spPr>
          <a:xfrm>
            <a:off x="4800600" y="1783080"/>
            <a:ext cx="1919880" cy="456840"/>
          </a:xfrm>
          <a:prstGeom prst="roundRect">
            <a:avLst>
              <a:gd name="adj" fmla="val 16000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846320" y="18288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Excel + WhatsApp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8"/>
          <p:cNvSpPr/>
          <p:nvPr/>
        </p:nvSpPr>
        <p:spPr>
          <a:xfrm>
            <a:off x="6675120" y="1783080"/>
            <a:ext cx="1919880" cy="456840"/>
          </a:xfrm>
          <a:prstGeom prst="roundRect">
            <a:avLst>
              <a:gd name="adj" fmla="val 16000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720840" y="18288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Software de obra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8549640" y="1783080"/>
            <a:ext cx="1919880" cy="456840"/>
          </a:xfrm>
          <a:prstGeom prst="roundRect">
            <a:avLst>
              <a:gd name="adj" fmla="val 16000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8595360" y="182880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0e1a"/>
                </a:solidFill>
                <a:latin typeface="Arial"/>
                <a:ea typeface="Arial"/>
              </a:rPr>
              <a:t>TrabFlow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274320" y="2322720"/>
            <a:ext cx="11639880" cy="438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365760" y="235908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Presupuesto en 30 segundos por voz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1" descr="preencoded.png"/>
          <p:cNvPicPr/>
          <p:nvPr/>
        </p:nvPicPr>
        <p:blipFill>
          <a:blip r:embed="rId2"/>
          <a:stretch/>
        </p:blipFill>
        <p:spPr>
          <a:xfrm>
            <a:off x="3740040" y="239580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1" name="Image 2" descr="preencoded.png"/>
          <p:cNvPicPr/>
          <p:nvPr/>
        </p:nvPicPr>
        <p:blipFill>
          <a:blip r:embed="rId3"/>
          <a:stretch/>
        </p:blipFill>
        <p:spPr>
          <a:xfrm>
            <a:off x="5614560" y="239580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2" name="Image 3" descr="preencoded.png"/>
          <p:cNvPicPr/>
          <p:nvPr/>
        </p:nvPicPr>
        <p:blipFill>
          <a:blip r:embed="rId4"/>
          <a:stretch/>
        </p:blipFill>
        <p:spPr>
          <a:xfrm>
            <a:off x="7489080" y="239580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3" name="Image 4" descr="preencoded.png"/>
          <p:cNvPicPr/>
          <p:nvPr/>
        </p:nvPicPr>
        <p:blipFill>
          <a:blip r:embed="rId5"/>
          <a:stretch/>
        </p:blipFill>
        <p:spPr>
          <a:xfrm>
            <a:off x="9363600" y="23958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24" name="Shape 14"/>
          <p:cNvSpPr/>
          <p:nvPr/>
        </p:nvSpPr>
        <p:spPr>
          <a:xfrm>
            <a:off x="274320" y="2797920"/>
            <a:ext cx="11639880" cy="4384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365760" y="283464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Base Maestra de oficios (20+)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 5" descr="preencoded.png"/>
          <p:cNvPicPr/>
          <p:nvPr/>
        </p:nvPicPr>
        <p:blipFill>
          <a:blip r:embed="rId6"/>
          <a:stretch/>
        </p:blipFill>
        <p:spPr>
          <a:xfrm>
            <a:off x="3740040" y="28713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7" name="Image 6" descr="preencoded.png"/>
          <p:cNvPicPr/>
          <p:nvPr/>
        </p:nvPicPr>
        <p:blipFill>
          <a:blip r:embed="rId7"/>
          <a:stretch/>
        </p:blipFill>
        <p:spPr>
          <a:xfrm>
            <a:off x="5614560" y="28713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8" name="Image 7" descr="preencoded.png"/>
          <p:cNvPicPr/>
          <p:nvPr/>
        </p:nvPicPr>
        <p:blipFill>
          <a:blip r:embed="rId8"/>
          <a:stretch/>
        </p:blipFill>
        <p:spPr>
          <a:xfrm>
            <a:off x="7489080" y="28713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29" name="Image 8" descr="preencoded.png"/>
          <p:cNvPicPr/>
          <p:nvPr/>
        </p:nvPicPr>
        <p:blipFill>
          <a:blip r:embed="rId9"/>
          <a:stretch/>
        </p:blipFill>
        <p:spPr>
          <a:xfrm>
            <a:off x="9363600" y="28713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0" name="Shape 16"/>
          <p:cNvSpPr/>
          <p:nvPr/>
        </p:nvSpPr>
        <p:spPr>
          <a:xfrm>
            <a:off x="274320" y="3273480"/>
            <a:ext cx="11639880" cy="438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365760" y="331020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Normativa REBT, RITE, VeriFactu integrada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9" descr="preencoded.png"/>
          <p:cNvPicPr/>
          <p:nvPr/>
        </p:nvPicPr>
        <p:blipFill>
          <a:blip r:embed="rId10"/>
          <a:stretch/>
        </p:blipFill>
        <p:spPr>
          <a:xfrm>
            <a:off x="3740040" y="33465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33" name="Image 10" descr="preencoded.png"/>
          <p:cNvPicPr/>
          <p:nvPr/>
        </p:nvPicPr>
        <p:blipFill>
          <a:blip r:embed="rId11"/>
          <a:stretch/>
        </p:blipFill>
        <p:spPr>
          <a:xfrm>
            <a:off x="5614560" y="33465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34" name="Image 11" descr="preencoded.png"/>
          <p:cNvPicPr/>
          <p:nvPr/>
        </p:nvPicPr>
        <p:blipFill>
          <a:blip r:embed="rId12"/>
          <a:stretch/>
        </p:blipFill>
        <p:spPr>
          <a:xfrm>
            <a:off x="7489080" y="334656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35" name="Image 12" descr="preencoded.png"/>
          <p:cNvPicPr/>
          <p:nvPr/>
        </p:nvPicPr>
        <p:blipFill>
          <a:blip r:embed="rId13"/>
          <a:stretch/>
        </p:blipFill>
        <p:spPr>
          <a:xfrm>
            <a:off x="9363600" y="3346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6" name="Shape 18"/>
          <p:cNvSpPr/>
          <p:nvPr/>
        </p:nvSpPr>
        <p:spPr>
          <a:xfrm>
            <a:off x="274320" y="3749040"/>
            <a:ext cx="11639880" cy="4384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365760" y="378576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Contratos de mantenimiento automáticos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13" descr="preencoded.png"/>
          <p:cNvPicPr/>
          <p:nvPr/>
        </p:nvPicPr>
        <p:blipFill>
          <a:blip r:embed="rId14"/>
          <a:stretch/>
        </p:blipFill>
        <p:spPr>
          <a:xfrm>
            <a:off x="3740040" y="382212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39" name="Image 14" descr="preencoded.png"/>
          <p:cNvPicPr/>
          <p:nvPr/>
        </p:nvPicPr>
        <p:blipFill>
          <a:blip r:embed="rId15"/>
          <a:stretch/>
        </p:blipFill>
        <p:spPr>
          <a:xfrm>
            <a:off x="5614560" y="382212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40" name="Image 15" descr="preencoded.png"/>
          <p:cNvPicPr/>
          <p:nvPr/>
        </p:nvPicPr>
        <p:blipFill>
          <a:blip r:embed="rId16"/>
          <a:stretch/>
        </p:blipFill>
        <p:spPr>
          <a:xfrm>
            <a:off x="7489080" y="382212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41" name="Image 16" descr="preencoded.png"/>
          <p:cNvPicPr/>
          <p:nvPr/>
        </p:nvPicPr>
        <p:blipFill>
          <a:blip r:embed="rId17"/>
          <a:stretch/>
        </p:blipFill>
        <p:spPr>
          <a:xfrm>
            <a:off x="9363600" y="38221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2" name="Shape 20"/>
          <p:cNvSpPr/>
          <p:nvPr/>
        </p:nvSpPr>
        <p:spPr>
          <a:xfrm>
            <a:off x="274320" y="4224600"/>
            <a:ext cx="11639880" cy="438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365760" y="426096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Catálogo de proveedores integrado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" name="Image 17" descr="preencoded.png"/>
          <p:cNvPicPr/>
          <p:nvPr/>
        </p:nvPicPr>
        <p:blipFill>
          <a:blip r:embed="rId18"/>
          <a:stretch/>
        </p:blipFill>
        <p:spPr>
          <a:xfrm>
            <a:off x="3740040" y="429768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45" name="Image 18" descr="preencoded.png"/>
          <p:cNvPicPr/>
          <p:nvPr/>
        </p:nvPicPr>
        <p:blipFill>
          <a:blip r:embed="rId19"/>
          <a:stretch/>
        </p:blipFill>
        <p:spPr>
          <a:xfrm>
            <a:off x="5614560" y="429768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46" name="Image 19" descr="preencoded.png"/>
          <p:cNvPicPr/>
          <p:nvPr/>
        </p:nvPicPr>
        <p:blipFill>
          <a:blip r:embed="rId20"/>
          <a:stretch/>
        </p:blipFill>
        <p:spPr>
          <a:xfrm>
            <a:off x="7489080" y="429768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47" name="Image 20" descr="preencoded.png"/>
          <p:cNvPicPr/>
          <p:nvPr/>
        </p:nvPicPr>
        <p:blipFill>
          <a:blip r:embed="rId21"/>
          <a:stretch/>
        </p:blipFill>
        <p:spPr>
          <a:xfrm>
            <a:off x="9363600" y="4297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8" name="Shape 22"/>
          <p:cNvSpPr/>
          <p:nvPr/>
        </p:nvSpPr>
        <p:spPr>
          <a:xfrm>
            <a:off x="274320" y="4700160"/>
            <a:ext cx="11639880" cy="4384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365760" y="4736520"/>
            <a:ext cx="2422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Diseñado para autónomos y PYME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21" descr="preencoded.png"/>
          <p:cNvPicPr/>
          <p:nvPr/>
        </p:nvPicPr>
        <p:blipFill>
          <a:blip r:embed="rId22"/>
          <a:stretch/>
        </p:blipFill>
        <p:spPr>
          <a:xfrm>
            <a:off x="3740040" y="477324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51" name="Image 22" descr="preencoded.png"/>
          <p:cNvPicPr/>
          <p:nvPr/>
        </p:nvPicPr>
        <p:blipFill>
          <a:blip r:embed="rId23"/>
          <a:stretch/>
        </p:blipFill>
        <p:spPr>
          <a:xfrm>
            <a:off x="5614560" y="477324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52" name="Image 23" descr="preencoded.png"/>
          <p:cNvPicPr/>
          <p:nvPr/>
        </p:nvPicPr>
        <p:blipFill>
          <a:blip r:embed="rId24"/>
          <a:stretch/>
        </p:blipFill>
        <p:spPr>
          <a:xfrm>
            <a:off x="7489080" y="4773240"/>
            <a:ext cx="292320" cy="292320"/>
          </a:xfrm>
          <a:prstGeom prst="rect">
            <a:avLst/>
          </a:prstGeom>
          <a:ln w="0">
            <a:noFill/>
          </a:ln>
        </p:spPr>
      </p:pic>
      <p:pic>
        <p:nvPicPr>
          <p:cNvPr id="153" name="Image 24" descr="preencoded.png"/>
          <p:cNvPicPr/>
          <p:nvPr/>
        </p:nvPicPr>
        <p:blipFill>
          <a:blip r:embed="rId25"/>
          <a:stretch/>
        </p:blipFill>
        <p:spPr>
          <a:xfrm>
            <a:off x="9363600" y="4773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54" name="Text 24"/>
          <p:cNvSpPr/>
          <p:nvPr/>
        </p:nvSpPr>
        <p:spPr>
          <a:xfrm>
            <a:off x="274320" y="594360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Los generalistas no pueden especializarse sin abandonar a sus otros clientes. TrabFlow nace vertical.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156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EL PRODUCTO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04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274320" y="914400"/>
            <a:ext cx="11639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De una frase hablada a la factura enviada.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274320" y="146304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0c8ff"/>
                </a:solidFill>
                <a:latin typeface="Arial"/>
                <a:ea typeface="Arial"/>
              </a:rPr>
              <a:t>Sin tocar el ordenador. Sin formularios. Sin fricción.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27432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74988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74988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4" name="Image 1" descr="preencoded.png"/>
          <p:cNvPicPr/>
          <p:nvPr/>
        </p:nvPicPr>
        <p:blipFill>
          <a:blip r:embed="rId2"/>
          <a:stretch/>
        </p:blipFill>
        <p:spPr>
          <a:xfrm>
            <a:off x="68580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65" name="Text 8"/>
          <p:cNvSpPr/>
          <p:nvPr/>
        </p:nvSpPr>
        <p:spPr>
          <a:xfrm>
            <a:off x="33840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Dicta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33840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Desde la furgoneta o la obra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160920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172836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220356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220356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Image 2" descr="preencoded.png"/>
          <p:cNvPicPr/>
          <p:nvPr/>
        </p:nvPicPr>
        <p:blipFill>
          <a:blip r:embed="rId3"/>
          <a:stretch/>
        </p:blipFill>
        <p:spPr>
          <a:xfrm>
            <a:off x="213984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72" name="Text 14"/>
          <p:cNvSpPr/>
          <p:nvPr/>
        </p:nvSpPr>
        <p:spPr>
          <a:xfrm>
            <a:off x="179208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Detecta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179208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Actuación + materiales en 3s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306324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318204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365760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9"/>
          <p:cNvSpPr/>
          <p:nvPr/>
        </p:nvSpPr>
        <p:spPr>
          <a:xfrm>
            <a:off x="365760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Image 3" descr="preencoded.png"/>
          <p:cNvPicPr/>
          <p:nvPr/>
        </p:nvPicPr>
        <p:blipFill>
          <a:blip r:embed="rId4"/>
          <a:stretch/>
        </p:blipFill>
        <p:spPr>
          <a:xfrm>
            <a:off x="359352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79" name="Text 20"/>
          <p:cNvSpPr/>
          <p:nvPr/>
        </p:nvSpPr>
        <p:spPr>
          <a:xfrm>
            <a:off x="324612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Presupuesta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324612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Partidas reales, precios reales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2"/>
          <p:cNvSpPr/>
          <p:nvPr/>
        </p:nvSpPr>
        <p:spPr>
          <a:xfrm>
            <a:off x="451728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3"/>
          <p:cNvSpPr/>
          <p:nvPr/>
        </p:nvSpPr>
        <p:spPr>
          <a:xfrm>
            <a:off x="463608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4"/>
          <p:cNvSpPr/>
          <p:nvPr/>
        </p:nvSpPr>
        <p:spPr>
          <a:xfrm>
            <a:off x="511164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5"/>
          <p:cNvSpPr/>
          <p:nvPr/>
        </p:nvSpPr>
        <p:spPr>
          <a:xfrm>
            <a:off x="511164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4" descr="preencoded.png"/>
          <p:cNvPicPr/>
          <p:nvPr/>
        </p:nvPicPr>
        <p:blipFill>
          <a:blip r:embed="rId5"/>
          <a:stretch/>
        </p:blipFill>
        <p:spPr>
          <a:xfrm>
            <a:off x="504756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86" name="Text 26"/>
          <p:cNvSpPr/>
          <p:nvPr/>
        </p:nvSpPr>
        <p:spPr>
          <a:xfrm>
            <a:off x="470016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Envía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470016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WhatsApp con enlace de aceptación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8"/>
          <p:cNvSpPr/>
          <p:nvPr/>
        </p:nvSpPr>
        <p:spPr>
          <a:xfrm>
            <a:off x="597096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9"/>
          <p:cNvSpPr/>
          <p:nvPr/>
        </p:nvSpPr>
        <p:spPr>
          <a:xfrm>
            <a:off x="608976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30"/>
          <p:cNvSpPr/>
          <p:nvPr/>
        </p:nvSpPr>
        <p:spPr>
          <a:xfrm>
            <a:off x="656532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1"/>
          <p:cNvSpPr/>
          <p:nvPr/>
        </p:nvSpPr>
        <p:spPr>
          <a:xfrm>
            <a:off x="656532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Image 5" descr="preencoded.png"/>
          <p:cNvPicPr/>
          <p:nvPr/>
        </p:nvPicPr>
        <p:blipFill>
          <a:blip r:embed="rId6"/>
          <a:stretch/>
        </p:blipFill>
        <p:spPr>
          <a:xfrm>
            <a:off x="650124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93" name="Text 32"/>
          <p:cNvSpPr/>
          <p:nvPr/>
        </p:nvSpPr>
        <p:spPr>
          <a:xfrm>
            <a:off x="615384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Acepta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3"/>
          <p:cNvSpPr/>
          <p:nvPr/>
        </p:nvSpPr>
        <p:spPr>
          <a:xfrm>
            <a:off x="615384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Cliente firma desde su móvil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34"/>
          <p:cNvSpPr/>
          <p:nvPr/>
        </p:nvSpPr>
        <p:spPr>
          <a:xfrm>
            <a:off x="742500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5"/>
          <p:cNvSpPr/>
          <p:nvPr/>
        </p:nvSpPr>
        <p:spPr>
          <a:xfrm>
            <a:off x="754380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36"/>
          <p:cNvSpPr/>
          <p:nvPr/>
        </p:nvSpPr>
        <p:spPr>
          <a:xfrm>
            <a:off x="801936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7"/>
          <p:cNvSpPr/>
          <p:nvPr/>
        </p:nvSpPr>
        <p:spPr>
          <a:xfrm>
            <a:off x="801936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9" name="Image 6" descr="preencoded.png"/>
          <p:cNvPicPr/>
          <p:nvPr/>
        </p:nvPicPr>
        <p:blipFill>
          <a:blip r:embed="rId7"/>
          <a:stretch/>
        </p:blipFill>
        <p:spPr>
          <a:xfrm>
            <a:off x="795528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00" name="Text 38"/>
          <p:cNvSpPr/>
          <p:nvPr/>
        </p:nvSpPr>
        <p:spPr>
          <a:xfrm>
            <a:off x="760788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Planifica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9"/>
          <p:cNvSpPr/>
          <p:nvPr/>
        </p:nvSpPr>
        <p:spPr>
          <a:xfrm>
            <a:off x="760788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Ruta óptima del día automatizada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40"/>
          <p:cNvSpPr/>
          <p:nvPr/>
        </p:nvSpPr>
        <p:spPr>
          <a:xfrm>
            <a:off x="887868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41"/>
          <p:cNvSpPr/>
          <p:nvPr/>
        </p:nvSpPr>
        <p:spPr>
          <a:xfrm>
            <a:off x="899784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42"/>
          <p:cNvSpPr/>
          <p:nvPr/>
        </p:nvSpPr>
        <p:spPr>
          <a:xfrm>
            <a:off x="947304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3"/>
          <p:cNvSpPr/>
          <p:nvPr/>
        </p:nvSpPr>
        <p:spPr>
          <a:xfrm>
            <a:off x="947304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07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6" name="Image 7" descr="preencoded.png"/>
          <p:cNvPicPr/>
          <p:nvPr/>
        </p:nvPicPr>
        <p:blipFill>
          <a:blip r:embed="rId8"/>
          <a:stretch/>
        </p:blipFill>
        <p:spPr>
          <a:xfrm>
            <a:off x="940932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07" name="Text 44"/>
          <p:cNvSpPr/>
          <p:nvPr/>
        </p:nvSpPr>
        <p:spPr>
          <a:xfrm>
            <a:off x="906156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Factura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5"/>
          <p:cNvSpPr/>
          <p:nvPr/>
        </p:nvSpPr>
        <p:spPr>
          <a:xfrm>
            <a:off x="906156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VeriFactu en un clic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46"/>
          <p:cNvSpPr/>
          <p:nvPr/>
        </p:nvSpPr>
        <p:spPr>
          <a:xfrm>
            <a:off x="10332720" y="3291840"/>
            <a:ext cx="127800" cy="36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7"/>
          <p:cNvSpPr/>
          <p:nvPr/>
        </p:nvSpPr>
        <p:spPr>
          <a:xfrm>
            <a:off x="10451520" y="2057400"/>
            <a:ext cx="1325520" cy="265140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48"/>
          <p:cNvSpPr/>
          <p:nvPr/>
        </p:nvSpPr>
        <p:spPr>
          <a:xfrm>
            <a:off x="10927080" y="2148840"/>
            <a:ext cx="347040" cy="255600"/>
          </a:xfrm>
          <a:prstGeom prst="roundRect">
            <a:avLst>
              <a:gd name="adj" fmla="val 21429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49"/>
          <p:cNvSpPr/>
          <p:nvPr/>
        </p:nvSpPr>
        <p:spPr>
          <a:xfrm>
            <a:off x="10927080" y="2148840"/>
            <a:ext cx="34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rial"/>
                <a:ea typeface="Arial"/>
              </a:rPr>
              <a:t>08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8" descr="preencoded.png"/>
          <p:cNvPicPr/>
          <p:nvPr/>
        </p:nvPicPr>
        <p:blipFill>
          <a:blip r:embed="rId9"/>
          <a:stretch/>
        </p:blipFill>
        <p:spPr>
          <a:xfrm>
            <a:off x="10863000" y="251460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14" name="Text 50"/>
          <p:cNvSpPr/>
          <p:nvPr/>
        </p:nvSpPr>
        <p:spPr>
          <a:xfrm>
            <a:off x="10515600" y="3154680"/>
            <a:ext cx="119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Cobra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51"/>
          <p:cNvSpPr/>
          <p:nvPr/>
        </p:nvSpPr>
        <p:spPr>
          <a:xfrm>
            <a:off x="10515600" y="3474720"/>
            <a:ext cx="1197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Seguimiento y recordatorio auto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52"/>
          <p:cNvSpPr/>
          <p:nvPr/>
        </p:nvSpPr>
        <p:spPr>
          <a:xfrm>
            <a:off x="274320" y="4956120"/>
            <a:ext cx="11639880" cy="658080"/>
          </a:xfrm>
          <a:prstGeom prst="roundRect">
            <a:avLst>
              <a:gd name="adj" fmla="val 13889"/>
            </a:avLst>
          </a:prstGeom>
          <a:solidFill>
            <a:srgbClr val="001524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53"/>
          <p:cNvSpPr/>
          <p:nvPr/>
        </p:nvSpPr>
        <p:spPr>
          <a:xfrm>
            <a:off x="457200" y="5029200"/>
            <a:ext cx="11274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c8ff"/>
                </a:solidFill>
                <a:latin typeface="Arial"/>
                <a:ea typeface="Arial"/>
              </a:rPr>
              <a:t>&lt; 3 minutos · Sin escribir · Sin ordenador · Desde el móvil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219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LA DEMO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05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274320" y="749880"/>
            <a:ext cx="4571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60 segundos.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274320" y="12618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c8ff"/>
                </a:solidFill>
                <a:latin typeface="Arial"/>
                <a:ea typeface="Arial"/>
              </a:rPr>
              <a:t>De la voz a la factura.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274320" y="1828800"/>
            <a:ext cx="6949080" cy="804240"/>
          </a:xfrm>
          <a:prstGeom prst="roundRect">
            <a:avLst>
              <a:gd name="adj" fmla="val 13636"/>
            </a:avLst>
          </a:prstGeom>
          <a:solidFill>
            <a:srgbClr val="001a2e"/>
          </a:solidFill>
          <a:ln w="25400">
            <a:solidFill>
              <a:srgbClr val="00c8ff"/>
            </a:solidFill>
            <a:round/>
          </a:ln>
          <a:effectLst>
            <a:outerShdw algn="bl" blurRad="177840" dir="5400000" dist="63360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 r:embed="rId2"/>
          <a:stretch/>
        </p:blipFill>
        <p:spPr>
          <a:xfrm>
            <a:off x="502920" y="20300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225" name="Text 5"/>
          <p:cNvSpPr/>
          <p:nvPr/>
        </p:nvSpPr>
        <p:spPr>
          <a:xfrm>
            <a:off x="1005840" y="1901880"/>
            <a:ext cx="6080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1550" spc="-1" strike="noStrike">
                <a:solidFill>
                  <a:srgbClr val="ffffff"/>
                </a:solidFill>
                <a:latin typeface="Arial"/>
                <a:ea typeface="Arial"/>
              </a:rPr>
              <a:t>"Instalar cargador VE 7,4 kW en garaje de comunidad, con cuadro y legalización."</a:t>
            </a:r>
            <a:endParaRPr b="0" lang="es-E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3474720" y="265176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2e7dd1"/>
                </a:solidFill>
                <a:latin typeface="Arial"/>
                <a:ea typeface="Arial"/>
              </a:rPr>
              <a:t>↓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269640" y="3090600"/>
            <a:ext cx="2212560" cy="3309840"/>
          </a:xfrm>
          <a:prstGeom prst="roundRect">
            <a:avLst>
              <a:gd name="adj" fmla="val 5785"/>
            </a:avLst>
          </a:prstGeom>
          <a:solidFill>
            <a:srgbClr val="111827"/>
          </a:solidFill>
          <a:ln w="12700">
            <a:solidFill>
              <a:srgbClr val="00c8ff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1175040" y="3218760"/>
            <a:ext cx="402120" cy="255600"/>
          </a:xfrm>
          <a:prstGeom prst="roundRect">
            <a:avLst>
              <a:gd name="adj" fmla="val 2857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175040" y="3218760"/>
            <a:ext cx="40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a0e1a"/>
                </a:solidFill>
                <a:latin typeface="Arial"/>
                <a:ea typeface="Arial"/>
              </a:rPr>
              <a:t>1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0" name="Image 2" descr="preencoded.png"/>
          <p:cNvPicPr/>
          <p:nvPr/>
        </p:nvPicPr>
        <p:blipFill>
          <a:blip r:embed="rId3"/>
          <a:stretch/>
        </p:blipFill>
        <p:spPr>
          <a:xfrm>
            <a:off x="1101960" y="360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31" name="Text 10"/>
          <p:cNvSpPr/>
          <p:nvPr/>
        </p:nvSpPr>
        <p:spPr>
          <a:xfrm>
            <a:off x="361080" y="426096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Detecta la actuación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45252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45252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1a2235"/>
          </a:solidFill>
          <a:ln w="1016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452520" y="4736520"/>
            <a:ext cx="1846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VE-05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361080" y="514800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Infraestructura recarga comunidad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361080" y="561456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c8ff"/>
                </a:solidFill>
                <a:latin typeface="Arial"/>
                <a:ea typeface="Arial"/>
              </a:rPr>
              <a:t>&lt; 2 segundos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2500920" y="4572000"/>
            <a:ext cx="25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b5563"/>
                </a:solidFill>
                <a:latin typeface="Arial"/>
                <a:ea typeface="Arial"/>
              </a:rPr>
              <a:t>→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2629080" y="3090600"/>
            <a:ext cx="2212560" cy="3309840"/>
          </a:xfrm>
          <a:prstGeom prst="roundRect">
            <a:avLst>
              <a:gd name="adj" fmla="val 5785"/>
            </a:avLst>
          </a:prstGeom>
          <a:solidFill>
            <a:srgbClr val="111827"/>
          </a:solidFill>
          <a:ln w="12700">
            <a:solidFill>
              <a:srgbClr val="f0b429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3534120" y="3218760"/>
            <a:ext cx="402120" cy="255600"/>
          </a:xfrm>
          <a:prstGeom prst="roundRect">
            <a:avLst>
              <a:gd name="adj" fmla="val 28571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3534120" y="3218760"/>
            <a:ext cx="40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a0e1a"/>
                </a:solidFill>
                <a:latin typeface="Arial"/>
                <a:ea typeface="Arial"/>
              </a:rPr>
              <a:t>2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1" name="Image 3" descr="preencoded.png"/>
          <p:cNvPicPr/>
          <p:nvPr/>
        </p:nvPicPr>
        <p:blipFill>
          <a:blip r:embed="rId4"/>
          <a:stretch/>
        </p:blipFill>
        <p:spPr>
          <a:xfrm>
            <a:off x="3461040" y="360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42" name="Text 20"/>
          <p:cNvSpPr/>
          <p:nvPr/>
        </p:nvSpPr>
        <p:spPr>
          <a:xfrm>
            <a:off x="2720520" y="426096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Genera el presupuesto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1"/>
          <p:cNvSpPr/>
          <p:nvPr/>
        </p:nvSpPr>
        <p:spPr>
          <a:xfrm>
            <a:off x="281196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281196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1a2235"/>
          </a:solidFill>
          <a:ln w="1016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2811960" y="4736520"/>
            <a:ext cx="1846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€</a:t>
            </a: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1.840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2720520" y="514800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Cuadro + ramales + legalización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2720520" y="561456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0b429"/>
                </a:solidFill>
                <a:latin typeface="Arial"/>
                <a:ea typeface="Arial"/>
              </a:rPr>
              <a:t>&lt; 30 segundos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4860000" y="4572000"/>
            <a:ext cx="25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b5563"/>
                </a:solidFill>
                <a:latin typeface="Arial"/>
                <a:ea typeface="Arial"/>
              </a:rPr>
              <a:t>→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27"/>
          <p:cNvSpPr/>
          <p:nvPr/>
        </p:nvSpPr>
        <p:spPr>
          <a:xfrm>
            <a:off x="4988160" y="3090600"/>
            <a:ext cx="2212560" cy="3309840"/>
          </a:xfrm>
          <a:prstGeom prst="roundRect">
            <a:avLst>
              <a:gd name="adj" fmla="val 5785"/>
            </a:avLst>
          </a:prstGeom>
          <a:solidFill>
            <a:srgbClr val="111827"/>
          </a:solidFill>
          <a:ln w="12700">
            <a:solidFill>
              <a:srgbClr val="10b981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8"/>
          <p:cNvSpPr/>
          <p:nvPr/>
        </p:nvSpPr>
        <p:spPr>
          <a:xfrm>
            <a:off x="5893200" y="3218760"/>
            <a:ext cx="402120" cy="25560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5893200" y="3218760"/>
            <a:ext cx="40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a0e1a"/>
                </a:solidFill>
                <a:latin typeface="Arial"/>
                <a:ea typeface="Arial"/>
              </a:rPr>
              <a:t>3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2" name="Image 4" descr="preencoded.png"/>
          <p:cNvPicPr/>
          <p:nvPr/>
        </p:nvPicPr>
        <p:blipFill>
          <a:blip r:embed="rId5"/>
          <a:stretch/>
        </p:blipFill>
        <p:spPr>
          <a:xfrm>
            <a:off x="5820120" y="360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53" name="Text 30"/>
          <p:cNvSpPr/>
          <p:nvPr/>
        </p:nvSpPr>
        <p:spPr>
          <a:xfrm>
            <a:off x="5079600" y="426096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Cliente firma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31"/>
          <p:cNvSpPr/>
          <p:nvPr/>
        </p:nvSpPr>
        <p:spPr>
          <a:xfrm>
            <a:off x="517104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2"/>
          <p:cNvSpPr/>
          <p:nvPr/>
        </p:nvSpPr>
        <p:spPr>
          <a:xfrm>
            <a:off x="517104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1a2235"/>
          </a:solidFill>
          <a:ln w="1016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5171040" y="4736520"/>
            <a:ext cx="1846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✓ </a:t>
            </a: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Aceptado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4"/>
          <p:cNvSpPr/>
          <p:nvPr/>
        </p:nvSpPr>
        <p:spPr>
          <a:xfrm>
            <a:off x="5079600" y="514800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Enlace WhatsApp · Sin app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5"/>
          <p:cNvSpPr/>
          <p:nvPr/>
        </p:nvSpPr>
        <p:spPr>
          <a:xfrm>
            <a:off x="5079600" y="561456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10b981"/>
                </a:solidFill>
                <a:latin typeface="Arial"/>
                <a:ea typeface="Arial"/>
              </a:rPr>
              <a:t>Desde el móvil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36"/>
          <p:cNvSpPr/>
          <p:nvPr/>
        </p:nvSpPr>
        <p:spPr>
          <a:xfrm>
            <a:off x="7219080" y="4572000"/>
            <a:ext cx="25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b5563"/>
                </a:solidFill>
                <a:latin typeface="Arial"/>
                <a:ea typeface="Arial"/>
              </a:rPr>
              <a:t>→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37"/>
          <p:cNvSpPr/>
          <p:nvPr/>
        </p:nvSpPr>
        <p:spPr>
          <a:xfrm>
            <a:off x="7347240" y="3090600"/>
            <a:ext cx="2212560" cy="3309840"/>
          </a:xfrm>
          <a:prstGeom prst="roundRect">
            <a:avLst>
              <a:gd name="adj" fmla="val 5785"/>
            </a:avLst>
          </a:prstGeom>
          <a:solidFill>
            <a:srgbClr val="111827"/>
          </a:solidFill>
          <a:ln w="12700">
            <a:solidFill>
              <a:srgbClr val="2e7dd1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38"/>
          <p:cNvSpPr/>
          <p:nvPr/>
        </p:nvSpPr>
        <p:spPr>
          <a:xfrm>
            <a:off x="8252640" y="3218760"/>
            <a:ext cx="402120" cy="255600"/>
          </a:xfrm>
          <a:prstGeom prst="roundRect">
            <a:avLst>
              <a:gd name="adj" fmla="val 28571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9"/>
          <p:cNvSpPr/>
          <p:nvPr/>
        </p:nvSpPr>
        <p:spPr>
          <a:xfrm>
            <a:off x="8252640" y="3218760"/>
            <a:ext cx="40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a0e1a"/>
                </a:solidFill>
                <a:latin typeface="Arial"/>
                <a:ea typeface="Arial"/>
              </a:rPr>
              <a:t>4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5" descr="preencoded.png"/>
          <p:cNvPicPr/>
          <p:nvPr/>
        </p:nvPicPr>
        <p:blipFill>
          <a:blip r:embed="rId6"/>
          <a:stretch/>
        </p:blipFill>
        <p:spPr>
          <a:xfrm>
            <a:off x="8179200" y="360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4" name="Text 40"/>
          <p:cNvSpPr/>
          <p:nvPr/>
        </p:nvSpPr>
        <p:spPr>
          <a:xfrm>
            <a:off x="7438680" y="426096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Factura VeriFactu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41"/>
          <p:cNvSpPr/>
          <p:nvPr/>
        </p:nvSpPr>
        <p:spPr>
          <a:xfrm>
            <a:off x="753012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42"/>
          <p:cNvSpPr/>
          <p:nvPr/>
        </p:nvSpPr>
        <p:spPr>
          <a:xfrm>
            <a:off x="753012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1a2235"/>
          </a:solidFill>
          <a:ln w="1016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43"/>
          <p:cNvSpPr/>
          <p:nvPr/>
        </p:nvSpPr>
        <p:spPr>
          <a:xfrm>
            <a:off x="7530120" y="4736520"/>
            <a:ext cx="1846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d1"/>
                </a:solidFill>
                <a:latin typeface="Arial"/>
                <a:ea typeface="Arial"/>
              </a:rPr>
              <a:t>FAC-2026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44"/>
          <p:cNvSpPr/>
          <p:nvPr/>
        </p:nvSpPr>
        <p:spPr>
          <a:xfrm>
            <a:off x="7438680" y="514800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Generada automáticamente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45"/>
          <p:cNvSpPr/>
          <p:nvPr/>
        </p:nvSpPr>
        <p:spPr>
          <a:xfrm>
            <a:off x="7438680" y="561456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e7dd1"/>
                </a:solidFill>
                <a:latin typeface="Arial"/>
                <a:ea typeface="Arial"/>
              </a:rPr>
              <a:t>1 clic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46"/>
          <p:cNvSpPr/>
          <p:nvPr/>
        </p:nvSpPr>
        <p:spPr>
          <a:xfrm>
            <a:off x="9578520" y="4572000"/>
            <a:ext cx="25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b5563"/>
                </a:solidFill>
                <a:latin typeface="Arial"/>
                <a:ea typeface="Arial"/>
              </a:rPr>
              <a:t>→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47"/>
          <p:cNvSpPr/>
          <p:nvPr/>
        </p:nvSpPr>
        <p:spPr>
          <a:xfrm>
            <a:off x="9706320" y="3090600"/>
            <a:ext cx="2212560" cy="3309840"/>
          </a:xfrm>
          <a:prstGeom prst="roundRect">
            <a:avLst>
              <a:gd name="adj" fmla="val 5785"/>
            </a:avLst>
          </a:prstGeom>
          <a:solidFill>
            <a:srgbClr val="1a1a00"/>
          </a:solidFill>
          <a:ln w="25400">
            <a:solidFill>
              <a:srgbClr val="f0b429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48"/>
          <p:cNvSpPr/>
          <p:nvPr/>
        </p:nvSpPr>
        <p:spPr>
          <a:xfrm>
            <a:off x="10611720" y="3218760"/>
            <a:ext cx="402120" cy="255600"/>
          </a:xfrm>
          <a:prstGeom prst="roundRect">
            <a:avLst>
              <a:gd name="adj" fmla="val 28571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49"/>
          <p:cNvSpPr/>
          <p:nvPr/>
        </p:nvSpPr>
        <p:spPr>
          <a:xfrm>
            <a:off x="10611720" y="3218760"/>
            <a:ext cx="40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a0e1a"/>
                </a:solidFill>
                <a:latin typeface="Arial"/>
                <a:ea typeface="Arial"/>
              </a:rPr>
              <a:t>5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6" descr="preencoded.png"/>
          <p:cNvPicPr/>
          <p:nvPr/>
        </p:nvPicPr>
        <p:blipFill>
          <a:blip r:embed="rId7"/>
          <a:stretch/>
        </p:blipFill>
        <p:spPr>
          <a:xfrm>
            <a:off x="10538640" y="360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75" name="Text 50"/>
          <p:cNvSpPr/>
          <p:nvPr/>
        </p:nvSpPr>
        <p:spPr>
          <a:xfrm>
            <a:off x="9797760" y="426096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Cobro registrado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51"/>
          <p:cNvSpPr/>
          <p:nvPr/>
        </p:nvSpPr>
        <p:spPr>
          <a:xfrm>
            <a:off x="988920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52"/>
          <p:cNvSpPr/>
          <p:nvPr/>
        </p:nvSpPr>
        <p:spPr>
          <a:xfrm>
            <a:off x="9889200" y="4718160"/>
            <a:ext cx="1846800" cy="347040"/>
          </a:xfrm>
          <a:prstGeom prst="roundRect">
            <a:avLst>
              <a:gd name="adj" fmla="val 18421"/>
            </a:avLst>
          </a:prstGeom>
          <a:solidFill>
            <a:srgbClr val="1a2235"/>
          </a:solidFill>
          <a:ln w="1016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53"/>
          <p:cNvSpPr/>
          <p:nvPr/>
        </p:nvSpPr>
        <p:spPr>
          <a:xfrm>
            <a:off x="9889200" y="4736520"/>
            <a:ext cx="1846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€ </a:t>
            </a: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Cobrado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54"/>
          <p:cNvSpPr/>
          <p:nvPr/>
        </p:nvSpPr>
        <p:spPr>
          <a:xfrm>
            <a:off x="9797760" y="514800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Historial · CRM actualizado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55"/>
          <p:cNvSpPr/>
          <p:nvPr/>
        </p:nvSpPr>
        <p:spPr>
          <a:xfrm>
            <a:off x="9797760" y="561456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0b429"/>
                </a:solidFill>
                <a:latin typeface="Arial"/>
                <a:ea typeface="Arial"/>
              </a:rPr>
              <a:t>Ciclo cerrado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56"/>
          <p:cNvSpPr/>
          <p:nvPr/>
        </p:nvSpPr>
        <p:spPr>
          <a:xfrm>
            <a:off x="274320" y="6492240"/>
            <a:ext cx="11639880" cy="420120"/>
          </a:xfrm>
          <a:prstGeom prst="roundRect">
            <a:avLst>
              <a:gd name="adj" fmla="val 17391"/>
            </a:avLst>
          </a:prstGeom>
          <a:solidFill>
            <a:srgbClr val="001020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57"/>
          <p:cNvSpPr/>
          <p:nvPr/>
        </p:nvSpPr>
        <p:spPr>
          <a:xfrm>
            <a:off x="457200" y="6537960"/>
            <a:ext cx="1127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c8ff"/>
                </a:solidFill>
                <a:latin typeface="Arial"/>
                <a:ea typeface="Arial"/>
              </a:rPr>
              <a:t>Sin tocar el ordenador · Sin formularios · Desde cualquier lugar · En menos de 3 minutos</a:t>
            </a:r>
            <a:endParaRPr b="0" lang="es-E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284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LA VENTAJA TÉCNICA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09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La IA no improvisa. Detecta. Ejecuta. Aprende.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274320" y="1719000"/>
            <a:ext cx="5303160" cy="4205880"/>
          </a:xfrm>
          <a:prstGeom prst="roundRect">
            <a:avLst>
              <a:gd name="adj" fmla="val 3043"/>
            </a:avLst>
          </a:prstGeom>
          <a:solidFill>
            <a:srgbClr val="111827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9" name="Image 1" descr="preencoded.png"/>
          <p:cNvPicPr/>
          <p:nvPr/>
        </p:nvPicPr>
        <p:blipFill>
          <a:blip r:embed="rId2"/>
          <a:stretch/>
        </p:blipFill>
        <p:spPr>
          <a:xfrm>
            <a:off x="594360" y="192024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90" name="Text 5"/>
          <p:cNvSpPr/>
          <p:nvPr/>
        </p:nvSpPr>
        <p:spPr>
          <a:xfrm>
            <a:off x="1234440" y="196596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0b429"/>
                </a:solidFill>
                <a:latin typeface="Arial"/>
                <a:ea typeface="Arial"/>
              </a:rPr>
              <a:t>Base Maestra de Actuaciones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502920" y="251460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Más de 2.200 actuaciones técnicas normalizadas por oficio. Cada tipo de trabajo tiene su plantilla predefinida: materiales, cantidades, precios de referencia, normativa aplicable.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2" name="Image 2" descr="preencoded.png"/>
          <p:cNvPicPr/>
          <p:nvPr/>
        </p:nvPicPr>
        <p:blipFill>
          <a:blip r:embed="rId3"/>
          <a:stretch/>
        </p:blipFill>
        <p:spPr>
          <a:xfrm>
            <a:off x="502920" y="3547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93" name="Text 7"/>
          <p:cNvSpPr/>
          <p:nvPr/>
        </p:nvSpPr>
        <p:spPr>
          <a:xfrm>
            <a:off x="868680" y="35204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20 oficios: fontanería, electricidad, climatización, VE, fotovoltaica...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4" name="Image 3" descr="preencoded.png"/>
          <p:cNvPicPr/>
          <p:nvPr/>
        </p:nvPicPr>
        <p:blipFill>
          <a:blip r:embed="rId4"/>
          <a:stretch/>
        </p:blipFill>
        <p:spPr>
          <a:xfrm>
            <a:off x="502920" y="40233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95" name="Text 8"/>
          <p:cNvSpPr/>
          <p:nvPr/>
        </p:nvSpPr>
        <p:spPr>
          <a:xfrm>
            <a:off x="868680" y="399600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Cada instalador nuevo enriquece la base para todos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6" name="Image 4" descr="preencoded.png"/>
          <p:cNvPicPr/>
          <p:nvPr/>
        </p:nvPicPr>
        <p:blipFill>
          <a:blip r:embed="rId5"/>
          <a:stretch/>
        </p:blipFill>
        <p:spPr>
          <a:xfrm>
            <a:off x="502920" y="44989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97" name="Text 9"/>
          <p:cNvSpPr/>
          <p:nvPr/>
        </p:nvSpPr>
        <p:spPr>
          <a:xfrm>
            <a:off x="868680" y="447156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Precios de referencia actualizados por zona y oficio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8" name="Image 5" descr="preencoded.png"/>
          <p:cNvPicPr/>
          <p:nvPr/>
        </p:nvPicPr>
        <p:blipFill>
          <a:blip r:embed="rId6"/>
          <a:stretch/>
        </p:blipFill>
        <p:spPr>
          <a:xfrm>
            <a:off x="502920" y="49744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99" name="Text 10"/>
          <p:cNvSpPr/>
          <p:nvPr/>
        </p:nvSpPr>
        <p:spPr>
          <a:xfrm>
            <a:off x="868680" y="494676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Normativa integrada: REBT, RITE, RD 244/2019, ITC-BT-52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5943600" y="1719000"/>
            <a:ext cx="5943240" cy="4205880"/>
          </a:xfrm>
          <a:prstGeom prst="roundRect">
            <a:avLst>
              <a:gd name="adj" fmla="val 3043"/>
            </a:avLst>
          </a:prstGeom>
          <a:solidFill>
            <a:srgbClr val="111827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1" name="Image 6" descr="preencoded.png"/>
          <p:cNvPicPr/>
          <p:nvPr/>
        </p:nvPicPr>
        <p:blipFill>
          <a:blip r:embed="rId7"/>
          <a:stretch/>
        </p:blipFill>
        <p:spPr>
          <a:xfrm>
            <a:off x="6236280" y="192024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02" name="Text 12"/>
          <p:cNvSpPr/>
          <p:nvPr/>
        </p:nvSpPr>
        <p:spPr>
          <a:xfrm>
            <a:off x="6858000" y="1965960"/>
            <a:ext cx="47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c8ff"/>
                </a:solidFill>
                <a:latin typeface="Arial"/>
                <a:ea typeface="Arial"/>
              </a:rPr>
              <a:t>Por qué es difícil de copiar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6080760" y="2633400"/>
            <a:ext cx="5668920" cy="1078560"/>
          </a:xfrm>
          <a:prstGeom prst="roundRect">
            <a:avLst>
              <a:gd name="adj" fmla="val 6780"/>
            </a:avLst>
          </a:prstGeom>
          <a:solidFill>
            <a:srgbClr val="1a2235"/>
          </a:solidFill>
          <a:ln w="635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4"/>
          <p:cNvSpPr/>
          <p:nvPr/>
        </p:nvSpPr>
        <p:spPr>
          <a:xfrm>
            <a:off x="6263640" y="274320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Conocimiento del oficio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5"/>
          <p:cNvSpPr/>
          <p:nvPr/>
        </p:nvSpPr>
        <p:spPr>
          <a:xfrm>
            <a:off x="6263640" y="3044880"/>
            <a:ext cx="5303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No son datos: son plantillas técnicas validadas por profesionales reales. Se construyen con años de experiencia sectorial.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6"/>
          <p:cNvSpPr/>
          <p:nvPr/>
        </p:nvSpPr>
        <p:spPr>
          <a:xfrm>
            <a:off x="6080760" y="3867840"/>
            <a:ext cx="5668920" cy="1078560"/>
          </a:xfrm>
          <a:prstGeom prst="roundRect">
            <a:avLst>
              <a:gd name="adj" fmla="val 6780"/>
            </a:avLst>
          </a:prstGeom>
          <a:solidFill>
            <a:srgbClr val="1a2235"/>
          </a:solidFill>
          <a:ln w="635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6263640" y="397764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Efecto de red sectorial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8"/>
          <p:cNvSpPr/>
          <p:nvPr/>
        </p:nvSpPr>
        <p:spPr>
          <a:xfrm>
            <a:off x="6263640" y="4279320"/>
            <a:ext cx="5303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Cada presupuesto generado retroalimenta la base de datos. A más usuarios, mejor es el producto para todos.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9"/>
          <p:cNvSpPr/>
          <p:nvPr/>
        </p:nvSpPr>
        <p:spPr>
          <a:xfrm>
            <a:off x="6080760" y="5102280"/>
            <a:ext cx="5668920" cy="1078560"/>
          </a:xfrm>
          <a:prstGeom prst="roundRect">
            <a:avLst>
              <a:gd name="adj" fmla="val 6780"/>
            </a:avLst>
          </a:prstGeom>
          <a:solidFill>
            <a:srgbClr val="1a2235"/>
          </a:solidFill>
          <a:ln w="635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20"/>
          <p:cNvSpPr/>
          <p:nvPr/>
        </p:nvSpPr>
        <p:spPr>
          <a:xfrm>
            <a:off x="6263640" y="52120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Integraciones propietarias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1"/>
          <p:cNvSpPr/>
          <p:nvPr/>
        </p:nvSpPr>
        <p:spPr>
          <a:xfrm>
            <a:off x="6263640" y="5513760"/>
            <a:ext cx="5303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Los catálogos de distribuidores integrados en el flujo de presupuestación. Requieren acuerdos sectoriales que se construyen a lo largo del tiempo.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313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POR QUÉ AHORA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06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1678320" y="914400"/>
            <a:ext cx="89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Esta empresa no podía existir hace tres años.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1800000" y="1444680"/>
            <a:ext cx="1011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0c8ff"/>
                </a:solidFill>
                <a:latin typeface="Arial"/>
                <a:ea typeface="Arial"/>
              </a:rPr>
              <a:t>Cuatro convergencias que abren la ventana hoy.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5897160" y="1917000"/>
            <a:ext cx="36360" cy="402300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6"/>
          <p:cNvSpPr/>
          <p:nvPr/>
        </p:nvSpPr>
        <p:spPr>
          <a:xfrm>
            <a:off x="2999160" y="1792080"/>
            <a:ext cx="438480" cy="438480"/>
          </a:xfrm>
          <a:solidFill>
            <a:srgbClr val="1a2235"/>
          </a:solidFill>
          <a:ln w="254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0" name="Image 1" descr="preencoded.png"/>
          <p:cNvPicPr/>
          <p:nvPr/>
        </p:nvPicPr>
        <p:blipFill>
          <a:blip r:embed="rId2"/>
          <a:stretch/>
        </p:blipFill>
        <p:spPr>
          <a:xfrm>
            <a:off x="5760000" y="18622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21" name="Shape 7"/>
          <p:cNvSpPr/>
          <p:nvPr/>
        </p:nvSpPr>
        <p:spPr>
          <a:xfrm>
            <a:off x="6300000" y="1620000"/>
            <a:ext cx="5211720" cy="9140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9ca3af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6402600" y="16200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2023 — LLMs maduros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6402600" y="19310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GPT-4, Claude 2. Por primera vez, la IA entiende lenguaje técnico de obra sin entrenamiento específico.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10"/>
          <p:cNvSpPr/>
          <p:nvPr/>
        </p:nvSpPr>
        <p:spPr>
          <a:xfrm>
            <a:off x="2999160" y="2797920"/>
            <a:ext cx="438480" cy="438480"/>
          </a:xfrm>
          <a:solidFill>
            <a:srgbClr val="1a2235"/>
          </a:solidFill>
          <a:ln w="254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5" name="Image 2" descr="preencoded.png"/>
          <p:cNvPicPr/>
          <p:nvPr/>
        </p:nvPicPr>
        <p:blipFill>
          <a:blip r:embed="rId3"/>
          <a:stretch/>
        </p:blipFill>
        <p:spPr>
          <a:xfrm>
            <a:off x="5771160" y="28299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26" name="Shape 11"/>
          <p:cNvSpPr/>
          <p:nvPr/>
        </p:nvSpPr>
        <p:spPr>
          <a:xfrm>
            <a:off x="188280" y="2597040"/>
            <a:ext cx="5211720" cy="9140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2e7dd1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12"/>
          <p:cNvSpPr/>
          <p:nvPr/>
        </p:nvSpPr>
        <p:spPr>
          <a:xfrm>
            <a:off x="282600" y="26521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d1"/>
                </a:solidFill>
                <a:latin typeface="Arial"/>
                <a:ea typeface="Arial"/>
              </a:rPr>
              <a:t>2024 — IA por voz madura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282600" y="29631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Whisper y modelos de transcripción alcanzan precisión suficiente para el español coloquial en obra.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14"/>
          <p:cNvSpPr/>
          <p:nvPr/>
        </p:nvSpPr>
        <p:spPr>
          <a:xfrm>
            <a:off x="2999160" y="3803760"/>
            <a:ext cx="438480" cy="438480"/>
          </a:xfrm>
          <a:solidFill>
            <a:srgbClr val="1a2235"/>
          </a:solidFill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0" name="Image 3" descr="preencoded.png"/>
          <p:cNvPicPr/>
          <p:nvPr/>
        </p:nvPicPr>
        <p:blipFill>
          <a:blip r:embed="rId4"/>
          <a:stretch/>
        </p:blipFill>
        <p:spPr>
          <a:xfrm>
            <a:off x="5760000" y="3847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31" name="Shape 15"/>
          <p:cNvSpPr/>
          <p:nvPr/>
        </p:nvSpPr>
        <p:spPr>
          <a:xfrm>
            <a:off x="6308280" y="3602880"/>
            <a:ext cx="5211720" cy="9140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00c8ff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6"/>
          <p:cNvSpPr/>
          <p:nvPr/>
        </p:nvSpPr>
        <p:spPr>
          <a:xfrm>
            <a:off x="6402600" y="37321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2025 — Digitalización PYME acelerada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7"/>
          <p:cNvSpPr/>
          <p:nvPr/>
        </p:nvSpPr>
        <p:spPr>
          <a:xfrm>
            <a:off x="6402600" y="40431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El 34% de los instaladores adopta alguna herramienta digital. La disposición a pagar crece. El mercado se prepara.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8"/>
          <p:cNvSpPr/>
          <p:nvPr/>
        </p:nvSpPr>
        <p:spPr>
          <a:xfrm>
            <a:off x="2999160" y="4809600"/>
            <a:ext cx="438480" cy="438480"/>
          </a:xfrm>
          <a:solidFill>
            <a:srgbClr val="1a2235"/>
          </a:solidFill>
          <a:ln w="254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5" name="Image 4" descr="preencoded.png"/>
          <p:cNvPicPr/>
          <p:nvPr/>
        </p:nvPicPr>
        <p:blipFill>
          <a:blip r:embed="rId5"/>
          <a:stretch/>
        </p:blipFill>
        <p:spPr>
          <a:xfrm>
            <a:off x="5754960" y="47376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36" name="Shape 19"/>
          <p:cNvSpPr/>
          <p:nvPr/>
        </p:nvSpPr>
        <p:spPr>
          <a:xfrm>
            <a:off x="188280" y="4381200"/>
            <a:ext cx="5211720" cy="91404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0160">
            <a:solidFill>
              <a:srgbClr val="f0b429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282600" y="44521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2026–27 — VeriFactu obligatorio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282600" y="47631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Facturación electrónica obligatoria. Catalizador de adopción masiva. Cada instalador necesita adaptarse.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22"/>
          <p:cNvSpPr/>
          <p:nvPr/>
        </p:nvSpPr>
        <p:spPr>
          <a:xfrm>
            <a:off x="2999160" y="5815440"/>
            <a:ext cx="438480" cy="438480"/>
          </a:xfrm>
          <a:solidFill>
            <a:srgbClr val="10b981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Image 5" descr="preencoded.png"/>
          <p:cNvPicPr/>
          <p:nvPr/>
        </p:nvPicPr>
        <p:blipFill>
          <a:blip r:embed="rId6"/>
          <a:stretch/>
        </p:blipFill>
        <p:spPr>
          <a:xfrm>
            <a:off x="5760000" y="57600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341" name="Shape 23"/>
          <p:cNvSpPr/>
          <p:nvPr/>
        </p:nvSpPr>
        <p:spPr>
          <a:xfrm>
            <a:off x="6308280" y="5565960"/>
            <a:ext cx="5211720" cy="914040"/>
          </a:xfrm>
          <a:prstGeom prst="roundRect">
            <a:avLst>
              <a:gd name="adj" fmla="val 10000"/>
            </a:avLst>
          </a:prstGeom>
          <a:solidFill>
            <a:srgbClr val="001a08"/>
          </a:solidFill>
          <a:ln w="25400">
            <a:solidFill>
              <a:srgbClr val="10b981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6402600" y="57121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→ </a:t>
            </a: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HOY — TrabFlow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5"/>
          <p:cNvSpPr/>
          <p:nvPr/>
        </p:nvSpPr>
        <p:spPr>
          <a:xfrm>
            <a:off x="6402600" y="60231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Todas las piezas encajan. La ventana de 2-3 años para establecer el estándar está abierta ahora.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345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POR QUÉ GANAREMOS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07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274320" y="914400"/>
            <a:ext cx="1163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No somos los primeros en software para instaladores.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274320" y="1389960"/>
            <a:ext cx="11639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c8ff"/>
                </a:solidFill>
                <a:latin typeface="Arial"/>
                <a:ea typeface="Arial"/>
              </a:rPr>
              <a:t>Somos los primeros en unir todo esto en un solo lugar.</a:t>
            </a:r>
            <a:endParaRPr b="0" lang="es-E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274320" y="201168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274320" y="201168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1" descr="preencoded.png"/>
          <p:cNvPicPr/>
          <p:nvPr/>
        </p:nvPicPr>
        <p:blipFill>
          <a:blip r:embed="rId2"/>
          <a:stretch/>
        </p:blipFill>
        <p:spPr>
          <a:xfrm>
            <a:off x="457200" y="22402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1097280" y="22676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ff"/>
                </a:solidFill>
                <a:latin typeface="Arial"/>
                <a:ea typeface="Arial"/>
              </a:rPr>
              <a:t>Voz a presupuesto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438840" y="285300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El instalador dicta desde la furgoneta. Sin formularios. Sin ordenador.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4260960" y="201168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4260960" y="201168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7" name="Image 2" descr="preencoded.png"/>
          <p:cNvPicPr/>
          <p:nvPr/>
        </p:nvPicPr>
        <p:blipFill>
          <a:blip r:embed="rId3"/>
          <a:stretch/>
        </p:blipFill>
        <p:spPr>
          <a:xfrm>
            <a:off x="4443840" y="22402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58" name="Text 11"/>
          <p:cNvSpPr/>
          <p:nvPr/>
        </p:nvSpPr>
        <p:spPr>
          <a:xfrm>
            <a:off x="5083920" y="22676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b429"/>
                </a:solidFill>
                <a:latin typeface="Arial"/>
                <a:ea typeface="Arial"/>
              </a:rPr>
              <a:t>Base Maestra propia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4425840" y="285300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2.200+ actuaciones por oficio. Construida con profesionales reales.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13"/>
          <p:cNvSpPr/>
          <p:nvPr/>
        </p:nvSpPr>
        <p:spPr>
          <a:xfrm>
            <a:off x="8247960" y="201168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14"/>
          <p:cNvSpPr/>
          <p:nvPr/>
        </p:nvSpPr>
        <p:spPr>
          <a:xfrm>
            <a:off x="8247960" y="201168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Image 3" descr="preencoded.png"/>
          <p:cNvPicPr/>
          <p:nvPr/>
        </p:nvPicPr>
        <p:blipFill>
          <a:blip r:embed="rId4"/>
          <a:stretch/>
        </p:blipFill>
        <p:spPr>
          <a:xfrm>
            <a:off x="8430840" y="22402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63" name="Text 15"/>
          <p:cNvSpPr/>
          <p:nvPr/>
        </p:nvSpPr>
        <p:spPr>
          <a:xfrm>
            <a:off x="9070920" y="22676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Normativa integrada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16"/>
          <p:cNvSpPr/>
          <p:nvPr/>
        </p:nvSpPr>
        <p:spPr>
          <a:xfrm>
            <a:off x="8412480" y="285300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REBT, RITE, VeriFactu, ITC-BT-52, RD 244/2019. En la herramienta, no aparte.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7"/>
          <p:cNvSpPr/>
          <p:nvPr/>
        </p:nvSpPr>
        <p:spPr>
          <a:xfrm>
            <a:off x="274320" y="437076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8"/>
          <p:cNvSpPr/>
          <p:nvPr/>
        </p:nvSpPr>
        <p:spPr>
          <a:xfrm>
            <a:off x="274320" y="437076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Image 4" descr="preencoded.png"/>
          <p:cNvPicPr/>
          <p:nvPr/>
        </p:nvPicPr>
        <p:blipFill>
          <a:blip r:embed="rId5"/>
          <a:stretch/>
        </p:blipFill>
        <p:spPr>
          <a:xfrm>
            <a:off x="457200" y="45993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68" name="Text 19"/>
          <p:cNvSpPr/>
          <p:nvPr/>
        </p:nvSpPr>
        <p:spPr>
          <a:xfrm>
            <a:off x="1097280" y="462672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ff"/>
                </a:solidFill>
                <a:latin typeface="Arial"/>
                <a:ea typeface="Arial"/>
              </a:rPr>
              <a:t>Canal distribuidores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438840" y="521208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Catálogos de proveedores en el flujo de presupuestación. No en otro tab.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21"/>
          <p:cNvSpPr/>
          <p:nvPr/>
        </p:nvSpPr>
        <p:spPr>
          <a:xfrm>
            <a:off x="4260960" y="437076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22"/>
          <p:cNvSpPr/>
          <p:nvPr/>
        </p:nvSpPr>
        <p:spPr>
          <a:xfrm>
            <a:off x="4260960" y="437076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Image 5" descr="preencoded.png"/>
          <p:cNvPicPr/>
          <p:nvPr/>
        </p:nvPicPr>
        <p:blipFill>
          <a:blip r:embed="rId6"/>
          <a:stretch/>
        </p:blipFill>
        <p:spPr>
          <a:xfrm>
            <a:off x="4443840" y="45993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73" name="Text 23"/>
          <p:cNvSpPr/>
          <p:nvPr/>
        </p:nvSpPr>
        <p:spPr>
          <a:xfrm>
            <a:off x="5083920" y="462672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b429"/>
                </a:solidFill>
                <a:latin typeface="Arial"/>
                <a:ea typeface="Arial"/>
              </a:rPr>
              <a:t>Plataforma, no app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24"/>
          <p:cNvSpPr/>
          <p:nvPr/>
        </p:nvSpPr>
        <p:spPr>
          <a:xfrm>
            <a:off x="4425840" y="521208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CRM + presupuestos + factura + contratos + materiales + normativa. Todo.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25"/>
          <p:cNvSpPr/>
          <p:nvPr/>
        </p:nvSpPr>
        <p:spPr>
          <a:xfrm>
            <a:off x="8247960" y="4370760"/>
            <a:ext cx="3748680" cy="2084400"/>
          </a:xfrm>
          <a:prstGeom prst="roundRect">
            <a:avLst>
              <a:gd name="adj" fmla="val 6140"/>
            </a:avLst>
          </a:prstGeom>
          <a:solidFill>
            <a:srgbClr val="111827"/>
          </a:solidFill>
          <a:ln w="12700">
            <a:solidFill>
              <a:srgbClr val="000000"/>
            </a:solidFill>
            <a:round/>
          </a:ln>
          <a:effectLst>
            <a:outerShdw algn="bl" blurRad="12708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8247960" y="4370760"/>
            <a:ext cx="3748680" cy="727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Image 6" descr="preencoded.png"/>
          <p:cNvPicPr/>
          <p:nvPr/>
        </p:nvPicPr>
        <p:blipFill>
          <a:blip r:embed="rId7"/>
          <a:stretch/>
        </p:blipFill>
        <p:spPr>
          <a:xfrm>
            <a:off x="8430840" y="45993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78" name="Text 27"/>
          <p:cNvSpPr/>
          <p:nvPr/>
        </p:nvSpPr>
        <p:spPr>
          <a:xfrm>
            <a:off x="9070920" y="462672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Datos del sector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28"/>
          <p:cNvSpPr/>
          <p:nvPr/>
        </p:nvSpPr>
        <p:spPr>
          <a:xfrm>
            <a:off x="8412480" y="5212080"/>
            <a:ext cx="3428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Cada presupuesto generado construye el benchmark de precios por zona y oficio.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29"/>
          <p:cNvSpPr/>
          <p:nvPr/>
        </p:nvSpPr>
        <p:spPr>
          <a:xfrm>
            <a:off x="274320" y="6481440"/>
            <a:ext cx="11639880" cy="328680"/>
          </a:xfrm>
          <a:prstGeom prst="roundRect">
            <a:avLst>
              <a:gd name="adj" fmla="val 22222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30"/>
          <p:cNvSpPr/>
          <p:nvPr/>
        </p:nvSpPr>
        <p:spPr>
          <a:xfrm>
            <a:off x="457200" y="654012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Ningún competidor actual tiene los seis. La Base Maestra, la normativa y las integraciones de proveedor son las barreras que más tiempo requieren.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383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TIMING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08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Cuatro vientos de cola que convergen en 2026.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4"/>
          <p:cNvSpPr/>
          <p:nvPr/>
        </p:nvSpPr>
        <p:spPr>
          <a:xfrm>
            <a:off x="274320" y="182880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8" name="Image 1" descr="preencoded.png"/>
          <p:cNvPicPr/>
          <p:nvPr/>
        </p:nvPicPr>
        <p:blipFill>
          <a:blip r:embed="rId2"/>
          <a:stretch/>
        </p:blipFill>
        <p:spPr>
          <a:xfrm>
            <a:off x="475560" y="24231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89" name="Text 5"/>
          <p:cNvSpPr/>
          <p:nvPr/>
        </p:nvSpPr>
        <p:spPr>
          <a:xfrm>
            <a:off x="1024200" y="199332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b429"/>
                </a:solidFill>
                <a:latin typeface="Arial"/>
                <a:ea typeface="Arial"/>
              </a:rPr>
              <a:t>VeriFactu 2027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1024200" y="237744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Facturación electrónica obligatoria. Cada instalador autónomo necesita adaptarse antes de enero de 2027. TrabFlow llega primero.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7"/>
          <p:cNvSpPr/>
          <p:nvPr/>
        </p:nvSpPr>
        <p:spPr>
          <a:xfrm>
            <a:off x="274320" y="374904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2" name="Image 2" descr="preencoded.png"/>
          <p:cNvPicPr/>
          <p:nvPr/>
        </p:nvPicPr>
        <p:blipFill>
          <a:blip r:embed="rId3"/>
          <a:stretch/>
        </p:blipFill>
        <p:spPr>
          <a:xfrm>
            <a:off x="475560" y="4343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93" name="Text 8"/>
          <p:cNvSpPr/>
          <p:nvPr/>
        </p:nvSpPr>
        <p:spPr>
          <a:xfrm>
            <a:off x="1024200" y="391356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0b981"/>
                </a:solidFill>
                <a:latin typeface="Arial"/>
                <a:ea typeface="Arial"/>
              </a:rPr>
              <a:t>Digitalización acelerada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9"/>
          <p:cNvSpPr/>
          <p:nvPr/>
        </p:nvSpPr>
        <p:spPr>
          <a:xfrm>
            <a:off x="1024200" y="429768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El 78% de los instaladores en España aún usa papel, Excel o WhatsApp. La adopción de herramientas digitales está creciendo un 34% anual.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0"/>
          <p:cNvSpPr/>
          <p:nvPr/>
        </p:nvSpPr>
        <p:spPr>
          <a:xfrm>
            <a:off x="6263640" y="182880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6" name="Image 3" descr="preencoded.png"/>
          <p:cNvPicPr/>
          <p:nvPr/>
        </p:nvPicPr>
        <p:blipFill>
          <a:blip r:embed="rId4"/>
          <a:stretch/>
        </p:blipFill>
        <p:spPr>
          <a:xfrm>
            <a:off x="6464880" y="24231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97" name="Text 11"/>
          <p:cNvSpPr/>
          <p:nvPr/>
        </p:nvSpPr>
        <p:spPr>
          <a:xfrm>
            <a:off x="7013520" y="199332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8ff"/>
                </a:solidFill>
                <a:latin typeface="Arial"/>
                <a:ea typeface="Arial"/>
              </a:rPr>
              <a:t>Kit Digital (subvenciones)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12"/>
          <p:cNvSpPr/>
          <p:nvPr/>
        </p:nvSpPr>
        <p:spPr>
          <a:xfrm>
            <a:off x="7013520" y="237744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TrabFlow puede operar como Agente Digitalizador. Hasta €12.000 de subvención por empresa. El cliente paga cero. La adopción se dispara.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3"/>
          <p:cNvSpPr/>
          <p:nvPr/>
        </p:nvSpPr>
        <p:spPr>
          <a:xfrm>
            <a:off x="6263640" y="374904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0" name="Image 4" descr="preencoded.png"/>
          <p:cNvPicPr/>
          <p:nvPr/>
        </p:nvPicPr>
        <p:blipFill>
          <a:blip r:embed="rId5"/>
          <a:stretch/>
        </p:blipFill>
        <p:spPr>
          <a:xfrm>
            <a:off x="6464880" y="4343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401" name="Text 14"/>
          <p:cNvSpPr/>
          <p:nvPr/>
        </p:nvSpPr>
        <p:spPr>
          <a:xfrm>
            <a:off x="7013520" y="391356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b429"/>
                </a:solidFill>
                <a:latin typeface="Arial"/>
                <a:ea typeface="Arial"/>
              </a:rPr>
              <a:t>Mercado sin incumbente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15"/>
          <p:cNvSpPr/>
          <p:nvPr/>
        </p:nvSpPr>
        <p:spPr>
          <a:xfrm>
            <a:off x="7013520" y="429768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No existe ningún SaaS vertical para instaladores con la penetración de Jobber (UK/EEUU). La ventana de 2-3 años para establecer el estándar está abierta.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6"/>
          <p:cNvSpPr/>
          <p:nvPr/>
        </p:nvSpPr>
        <p:spPr>
          <a:xfrm>
            <a:off x="274320" y="555948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El instalador que adopte TrabFlow hoy construirá un hábito que la competencia tardará años en romper.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405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TAMAÑO DE MERCADO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10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Un vertical de €480M sin software estándar.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4"/>
          <p:cNvSpPr/>
          <p:nvPr/>
        </p:nvSpPr>
        <p:spPr>
          <a:xfrm>
            <a:off x="608040" y="1691640"/>
            <a:ext cx="10972440" cy="1096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5"/>
          <p:cNvSpPr/>
          <p:nvPr/>
        </p:nvSpPr>
        <p:spPr>
          <a:xfrm>
            <a:off x="882360" y="1801440"/>
            <a:ext cx="4169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9ca3af"/>
                </a:solidFill>
                <a:latin typeface="Arial"/>
                <a:ea typeface="Arial"/>
              </a:rPr>
              <a:t>650.000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4960800" y="1783080"/>
            <a:ext cx="6583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instaladores en España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4960800" y="2185560"/>
            <a:ext cx="6583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Mercado total direccionable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8"/>
          <p:cNvSpPr/>
          <p:nvPr/>
        </p:nvSpPr>
        <p:spPr>
          <a:xfrm>
            <a:off x="5865840" y="280728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4b5563"/>
                </a:solidFill>
                <a:latin typeface="Arial"/>
                <a:ea typeface="Arial"/>
              </a:rPr>
              <a:t>↓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9"/>
          <p:cNvSpPr/>
          <p:nvPr/>
        </p:nvSpPr>
        <p:spPr>
          <a:xfrm>
            <a:off x="1751040" y="3044880"/>
            <a:ext cx="8686440" cy="1096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8e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0"/>
          <p:cNvSpPr/>
          <p:nvPr/>
        </p:nvSpPr>
        <p:spPr>
          <a:xfrm>
            <a:off x="2025360" y="3154680"/>
            <a:ext cx="3300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8eb4d8"/>
                </a:solidFill>
                <a:latin typeface="Arial"/>
                <a:ea typeface="Arial"/>
              </a:rPr>
              <a:t>195.000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1"/>
          <p:cNvSpPr/>
          <p:nvPr/>
        </p:nvSpPr>
        <p:spPr>
          <a:xfrm>
            <a:off x="5235120" y="313632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mercado objetivo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12"/>
          <p:cNvSpPr/>
          <p:nvPr/>
        </p:nvSpPr>
        <p:spPr>
          <a:xfrm>
            <a:off x="5235120" y="35388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Con smartphone + facturación &gt;€30K/año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5865840" y="416052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4b5563"/>
                </a:solidFill>
                <a:latin typeface="Arial"/>
                <a:ea typeface="Arial"/>
              </a:rPr>
              <a:t>↓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3122640" y="4398120"/>
            <a:ext cx="5943240" cy="1096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3396960" y="4507920"/>
            <a:ext cx="2258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8ff"/>
                </a:solidFill>
                <a:latin typeface="Arial"/>
                <a:ea typeface="Arial"/>
              </a:rPr>
              <a:t>2.000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16"/>
          <p:cNvSpPr/>
          <p:nvPr/>
        </p:nvSpPr>
        <p:spPr>
          <a:xfrm>
            <a:off x="5564160" y="448956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clientes a 3 años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7"/>
          <p:cNvSpPr/>
          <p:nvPr/>
        </p:nvSpPr>
        <p:spPr>
          <a:xfrm>
            <a:off x="5564160" y="4892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Penetración &lt;1% del mercado objetivo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8"/>
          <p:cNvSpPr/>
          <p:nvPr/>
        </p:nvSpPr>
        <p:spPr>
          <a:xfrm>
            <a:off x="5865840" y="551376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4b5563"/>
                </a:solidFill>
                <a:latin typeface="Arial"/>
                <a:ea typeface="Arial"/>
              </a:rPr>
              <a:t>↓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19"/>
          <p:cNvSpPr/>
          <p:nvPr/>
        </p:nvSpPr>
        <p:spPr>
          <a:xfrm>
            <a:off x="4265640" y="5751720"/>
            <a:ext cx="3657240" cy="1096920"/>
          </a:xfrm>
          <a:prstGeom prst="roundRect">
            <a:avLst>
              <a:gd name="adj" fmla="val 5000"/>
            </a:avLst>
          </a:prstGeom>
          <a:solidFill>
            <a:srgbClr val="1a2c00"/>
          </a:solidFill>
          <a:ln w="254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0"/>
          <p:cNvSpPr/>
          <p:nvPr/>
        </p:nvSpPr>
        <p:spPr>
          <a:xfrm>
            <a:off x="4539960" y="5861160"/>
            <a:ext cx="1389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0b429"/>
                </a:solidFill>
                <a:latin typeface="Arial"/>
                <a:ea typeface="Arial"/>
              </a:rPr>
              <a:t>€</a:t>
            </a:r>
            <a:r>
              <a:rPr b="1" lang="en-US" sz="3400" spc="-1" strike="noStrike">
                <a:solidFill>
                  <a:srgbClr val="f0b429"/>
                </a:solidFill>
                <a:latin typeface="Arial"/>
                <a:ea typeface="Arial"/>
              </a:rPr>
              <a:t>12M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1"/>
          <p:cNvSpPr/>
          <p:nvPr/>
        </p:nvSpPr>
        <p:spPr>
          <a:xfrm>
            <a:off x="5838480" y="5843160"/>
            <a:ext cx="2194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ARR potencial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22"/>
          <p:cNvSpPr/>
          <p:nvPr/>
        </p:nvSpPr>
        <p:spPr>
          <a:xfrm>
            <a:off x="5838480" y="62452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A €49–€179/mes · escenario base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274320" y="6565320"/>
            <a:ext cx="1163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Ref: ServiceTitan (EEUU) $9.500M · Jobber $1.500M. Mismo vertical, mismo modelo sin incumbente en España.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430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MODELO DE NEGOCIO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11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€</a:t>
            </a: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49/mes. Una decisión obvia.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4"/>
          <p:cNvSpPr/>
          <p:nvPr/>
        </p:nvSpPr>
        <p:spPr>
          <a:xfrm>
            <a:off x="274320" y="148140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Si TrabFlow ahorra 2 horas al día, el instalador recupera su inversión en el primer presupuesto.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5"/>
          <p:cNvSpPr/>
          <p:nvPr/>
        </p:nvSpPr>
        <p:spPr>
          <a:xfrm>
            <a:off x="274320" y="2011680"/>
            <a:ext cx="3657240" cy="416016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6350">
            <a:solidFill>
              <a:srgbClr val="4b5563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274320" y="21762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d1"/>
                </a:solidFill>
                <a:latin typeface="Arial"/>
                <a:ea typeface="Arial"/>
              </a:rPr>
              <a:t>Profesional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274320" y="254196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€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49</a:t>
            </a:r>
            <a:endParaRPr b="0" lang="es-E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8"/>
          <p:cNvSpPr/>
          <p:nvPr/>
        </p:nvSpPr>
        <p:spPr>
          <a:xfrm>
            <a:off x="274320" y="3182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/mes · Autónomo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9"/>
          <p:cNvSpPr/>
          <p:nvPr/>
        </p:nvSpPr>
        <p:spPr>
          <a:xfrm>
            <a:off x="640080" y="3520440"/>
            <a:ext cx="292572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0" name="Image 1" descr="preencoded.png"/>
          <p:cNvPicPr/>
          <p:nvPr/>
        </p:nvPicPr>
        <p:blipFill>
          <a:blip r:embed="rId2"/>
          <a:stretch/>
        </p:blipFill>
        <p:spPr>
          <a:xfrm>
            <a:off x="594360" y="36759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41" name="Text 10"/>
          <p:cNvSpPr/>
          <p:nvPr/>
        </p:nvSpPr>
        <p:spPr>
          <a:xfrm>
            <a:off x="932760" y="36576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Presupuestos ilimitados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2" name="Image 2" descr="preencoded.png"/>
          <p:cNvPicPr/>
          <p:nvPr/>
        </p:nvPicPr>
        <p:blipFill>
          <a:blip r:embed="rId3"/>
          <a:stretch/>
        </p:blipFill>
        <p:spPr>
          <a:xfrm>
            <a:off x="594360" y="4151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43" name="Text 11"/>
          <p:cNvSpPr/>
          <p:nvPr/>
        </p:nvSpPr>
        <p:spPr>
          <a:xfrm>
            <a:off x="932760" y="41331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Facturación VeriFactu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3" descr="preencoded.png"/>
          <p:cNvPicPr/>
          <p:nvPr/>
        </p:nvPicPr>
        <p:blipFill>
          <a:blip r:embed="rId4"/>
          <a:stretch/>
        </p:blipFill>
        <p:spPr>
          <a:xfrm>
            <a:off x="594360" y="4626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45" name="Text 12"/>
          <p:cNvSpPr/>
          <p:nvPr/>
        </p:nvSpPr>
        <p:spPr>
          <a:xfrm>
            <a:off x="932760" y="46087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IA por voz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6" name="Image 4" descr="preencoded.png"/>
          <p:cNvPicPr/>
          <p:nvPr/>
        </p:nvPicPr>
        <p:blipFill>
          <a:blip r:embed="rId5"/>
          <a:stretch/>
        </p:blipFill>
        <p:spPr>
          <a:xfrm>
            <a:off x="594360" y="5102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47" name="Text 13"/>
          <p:cNvSpPr/>
          <p:nvPr/>
        </p:nvSpPr>
        <p:spPr>
          <a:xfrm>
            <a:off x="932760" y="50839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WhatsApp integrado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4"/>
          <p:cNvSpPr/>
          <p:nvPr/>
        </p:nvSpPr>
        <p:spPr>
          <a:xfrm>
            <a:off x="4160520" y="2011680"/>
            <a:ext cx="3657240" cy="4160160"/>
          </a:xfrm>
          <a:prstGeom prst="roundRect">
            <a:avLst>
              <a:gd name="adj" fmla="val 3500"/>
            </a:avLst>
          </a:prstGeom>
          <a:solidFill>
            <a:srgbClr val="00222e"/>
          </a:solidFill>
          <a:ln w="25400">
            <a:solidFill>
              <a:srgbClr val="00c8ff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5"/>
          <p:cNvSpPr/>
          <p:nvPr/>
        </p:nvSpPr>
        <p:spPr>
          <a:xfrm>
            <a:off x="4800600" y="1901880"/>
            <a:ext cx="2377080" cy="255600"/>
          </a:xfrm>
          <a:prstGeom prst="roundRect">
            <a:avLst>
              <a:gd name="adj" fmla="val 2857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6"/>
          <p:cNvSpPr/>
          <p:nvPr/>
        </p:nvSpPr>
        <p:spPr>
          <a:xfrm>
            <a:off x="4800600" y="19018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a0e1a"/>
                </a:solidFill>
                <a:latin typeface="Arial"/>
                <a:ea typeface="Arial"/>
              </a:rPr>
              <a:t>MÁS POPULAR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17"/>
          <p:cNvSpPr/>
          <p:nvPr/>
        </p:nvSpPr>
        <p:spPr>
          <a:xfrm>
            <a:off x="4160520" y="21762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Empresa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18"/>
          <p:cNvSpPr/>
          <p:nvPr/>
        </p:nvSpPr>
        <p:spPr>
          <a:xfrm>
            <a:off x="4160520" y="254196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c8ff"/>
                </a:solidFill>
                <a:latin typeface="Arial"/>
                <a:ea typeface="Arial"/>
              </a:rPr>
              <a:t>€</a:t>
            </a:r>
            <a:r>
              <a:rPr b="1" lang="en-US" sz="4200" spc="-1" strike="noStrike">
                <a:solidFill>
                  <a:srgbClr val="00c8ff"/>
                </a:solidFill>
                <a:latin typeface="Arial"/>
                <a:ea typeface="Arial"/>
              </a:rPr>
              <a:t>89</a:t>
            </a:r>
            <a:endParaRPr b="0" lang="es-E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9"/>
          <p:cNvSpPr/>
          <p:nvPr/>
        </p:nvSpPr>
        <p:spPr>
          <a:xfrm>
            <a:off x="4160520" y="3182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/mes · Hasta 5 técnicos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0"/>
          <p:cNvSpPr/>
          <p:nvPr/>
        </p:nvSpPr>
        <p:spPr>
          <a:xfrm>
            <a:off x="4526280" y="3520440"/>
            <a:ext cx="292572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5" name="Image 5" descr="preencoded.png"/>
          <p:cNvPicPr/>
          <p:nvPr/>
        </p:nvPicPr>
        <p:blipFill>
          <a:blip r:embed="rId6"/>
          <a:stretch/>
        </p:blipFill>
        <p:spPr>
          <a:xfrm>
            <a:off x="4480560" y="36759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56" name="Text 21"/>
          <p:cNvSpPr/>
          <p:nvPr/>
        </p:nvSpPr>
        <p:spPr>
          <a:xfrm>
            <a:off x="4818960" y="36576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Todo el plan anterior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7" name="Image 6" descr="preencoded.png"/>
          <p:cNvPicPr/>
          <p:nvPr/>
        </p:nvPicPr>
        <p:blipFill>
          <a:blip r:embed="rId7"/>
          <a:stretch/>
        </p:blipFill>
        <p:spPr>
          <a:xfrm>
            <a:off x="4480560" y="4151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58" name="Text 22"/>
          <p:cNvSpPr/>
          <p:nvPr/>
        </p:nvSpPr>
        <p:spPr>
          <a:xfrm>
            <a:off x="4818960" y="41331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Gestión de equipo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9" name="Image 7" descr="preencoded.png"/>
          <p:cNvPicPr/>
          <p:nvPr/>
        </p:nvPicPr>
        <p:blipFill>
          <a:blip r:embed="rId8"/>
          <a:stretch/>
        </p:blipFill>
        <p:spPr>
          <a:xfrm>
            <a:off x="4480560" y="4626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60" name="Text 23"/>
          <p:cNvSpPr/>
          <p:nvPr/>
        </p:nvSpPr>
        <p:spPr>
          <a:xfrm>
            <a:off x="4818960" y="46087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Contratos O&amp;M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1" name="Image 8" descr="preencoded.png"/>
          <p:cNvPicPr/>
          <p:nvPr/>
        </p:nvPicPr>
        <p:blipFill>
          <a:blip r:embed="rId9"/>
          <a:stretch/>
        </p:blipFill>
        <p:spPr>
          <a:xfrm>
            <a:off x="4480560" y="5102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62" name="Text 24"/>
          <p:cNvSpPr/>
          <p:nvPr/>
        </p:nvSpPr>
        <p:spPr>
          <a:xfrm>
            <a:off x="4818960" y="50839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Catálogo proveedores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Shape 25"/>
          <p:cNvSpPr/>
          <p:nvPr/>
        </p:nvSpPr>
        <p:spPr>
          <a:xfrm>
            <a:off x="8046720" y="2011680"/>
            <a:ext cx="3657240" cy="416016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6350">
            <a:solidFill>
              <a:srgbClr val="4b5563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26"/>
          <p:cNvSpPr/>
          <p:nvPr/>
        </p:nvSpPr>
        <p:spPr>
          <a:xfrm>
            <a:off x="8046720" y="21762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Empresa+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27"/>
          <p:cNvSpPr/>
          <p:nvPr/>
        </p:nvSpPr>
        <p:spPr>
          <a:xfrm>
            <a:off x="8046720" y="2541960"/>
            <a:ext cx="3657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€</a:t>
            </a:r>
            <a:r>
              <a:rPr b="1" lang="en-US" sz="4200" spc="-1" strike="noStrike">
                <a:solidFill>
                  <a:srgbClr val="ffffff"/>
                </a:solidFill>
                <a:latin typeface="Arial"/>
                <a:ea typeface="Arial"/>
              </a:rPr>
              <a:t>179</a:t>
            </a:r>
            <a:endParaRPr b="0" lang="es-E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28"/>
          <p:cNvSpPr/>
          <p:nvPr/>
        </p:nvSpPr>
        <p:spPr>
          <a:xfrm>
            <a:off x="8046720" y="31820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/mes · Hasta 15 técnicos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29"/>
          <p:cNvSpPr/>
          <p:nvPr/>
        </p:nvSpPr>
        <p:spPr>
          <a:xfrm>
            <a:off x="8412480" y="3520440"/>
            <a:ext cx="292572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8" name="Image 9" descr="preencoded.png"/>
          <p:cNvPicPr/>
          <p:nvPr/>
        </p:nvPicPr>
        <p:blipFill>
          <a:blip r:embed="rId10"/>
          <a:stretch/>
        </p:blipFill>
        <p:spPr>
          <a:xfrm>
            <a:off x="8366760" y="36759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69" name="Text 30"/>
          <p:cNvSpPr/>
          <p:nvPr/>
        </p:nvSpPr>
        <p:spPr>
          <a:xfrm>
            <a:off x="8705160" y="36576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Todo el plan Empresa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0" name="Image 10" descr="preencoded.png"/>
          <p:cNvPicPr/>
          <p:nvPr/>
        </p:nvPicPr>
        <p:blipFill>
          <a:blip r:embed="rId11"/>
          <a:stretch/>
        </p:blipFill>
        <p:spPr>
          <a:xfrm>
            <a:off x="8366760" y="4151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71" name="Text 31"/>
          <p:cNvSpPr/>
          <p:nvPr/>
        </p:nvSpPr>
        <p:spPr>
          <a:xfrm>
            <a:off x="8705160" y="41331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Múltiples delegaciones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2" name="Image 11" descr="preencoded.png"/>
          <p:cNvPicPr/>
          <p:nvPr/>
        </p:nvPicPr>
        <p:blipFill>
          <a:blip r:embed="rId12"/>
          <a:stretch/>
        </p:blipFill>
        <p:spPr>
          <a:xfrm>
            <a:off x="8366760" y="46267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73" name="Text 32"/>
          <p:cNvSpPr/>
          <p:nvPr/>
        </p:nvSpPr>
        <p:spPr>
          <a:xfrm>
            <a:off x="8705160" y="46087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API e integraciones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4" name="Image 12" descr="preencoded.png"/>
          <p:cNvPicPr/>
          <p:nvPr/>
        </p:nvPicPr>
        <p:blipFill>
          <a:blip r:embed="rId13"/>
          <a:stretch/>
        </p:blipFill>
        <p:spPr>
          <a:xfrm>
            <a:off x="8366760" y="5102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75" name="Text 33"/>
          <p:cNvSpPr/>
          <p:nvPr/>
        </p:nvSpPr>
        <p:spPr>
          <a:xfrm>
            <a:off x="8705160" y="50839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Soporte prioritario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34"/>
          <p:cNvSpPr/>
          <p:nvPr/>
        </p:nvSpPr>
        <p:spPr>
          <a:xfrm>
            <a:off x="274320" y="6327720"/>
            <a:ext cx="2788560" cy="749520"/>
          </a:xfrm>
          <a:prstGeom prst="roundRect">
            <a:avLst>
              <a:gd name="adj" fmla="val 12195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35"/>
          <p:cNvSpPr/>
          <p:nvPr/>
        </p:nvSpPr>
        <p:spPr>
          <a:xfrm>
            <a:off x="274320" y="636408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c8ff"/>
                </a:solidFill>
                <a:latin typeface="Arial"/>
                <a:ea typeface="Arial"/>
              </a:rPr>
              <a:t>€</a:t>
            </a:r>
            <a:r>
              <a:rPr b="1" lang="en-US" sz="2200" spc="-1" strike="noStrike">
                <a:solidFill>
                  <a:srgbClr val="00c8ff"/>
                </a:solidFill>
                <a:latin typeface="Arial"/>
                <a:ea typeface="Arial"/>
              </a:rPr>
              <a:t>588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36"/>
          <p:cNvSpPr/>
          <p:nvPr/>
        </p:nvSpPr>
        <p:spPr>
          <a:xfrm>
            <a:off x="1645920" y="63734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  <a:ea typeface="Arial"/>
              </a:rPr>
              <a:t>LTV base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37"/>
          <p:cNvSpPr/>
          <p:nvPr/>
        </p:nvSpPr>
        <p:spPr>
          <a:xfrm>
            <a:off x="1645920" y="6638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12 meses × €49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38"/>
          <p:cNvSpPr/>
          <p:nvPr/>
        </p:nvSpPr>
        <p:spPr>
          <a:xfrm>
            <a:off x="3255120" y="6327720"/>
            <a:ext cx="2788560" cy="749520"/>
          </a:xfrm>
          <a:prstGeom prst="roundRect">
            <a:avLst>
              <a:gd name="adj" fmla="val 12195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39"/>
          <p:cNvSpPr/>
          <p:nvPr/>
        </p:nvSpPr>
        <p:spPr>
          <a:xfrm>
            <a:off x="3255120" y="636408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b429"/>
                </a:solidFill>
                <a:latin typeface="Arial"/>
                <a:ea typeface="Arial"/>
              </a:rPr>
              <a:t>2,7m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40"/>
          <p:cNvSpPr/>
          <p:nvPr/>
        </p:nvSpPr>
        <p:spPr>
          <a:xfrm>
            <a:off x="4626720" y="63734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  <a:ea typeface="Arial"/>
              </a:rPr>
              <a:t>Payback CAC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41"/>
          <p:cNvSpPr/>
          <p:nvPr/>
        </p:nvSpPr>
        <p:spPr>
          <a:xfrm>
            <a:off x="4626720" y="6638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cohortes estimadas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42"/>
          <p:cNvSpPr/>
          <p:nvPr/>
        </p:nvSpPr>
        <p:spPr>
          <a:xfrm>
            <a:off x="6236280" y="6327720"/>
            <a:ext cx="2788560" cy="749520"/>
          </a:xfrm>
          <a:prstGeom prst="roundRect">
            <a:avLst>
              <a:gd name="adj" fmla="val 12195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43"/>
          <p:cNvSpPr/>
          <p:nvPr/>
        </p:nvSpPr>
        <p:spPr>
          <a:xfrm>
            <a:off x="6236280" y="636408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c8ff"/>
                </a:solidFill>
                <a:latin typeface="Arial"/>
                <a:ea typeface="Arial"/>
              </a:rPr>
              <a:t>18x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44"/>
          <p:cNvSpPr/>
          <p:nvPr/>
        </p:nvSpPr>
        <p:spPr>
          <a:xfrm>
            <a:off x="7607880" y="63734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  <a:ea typeface="Arial"/>
              </a:rPr>
              <a:t>LTV:CAC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45"/>
          <p:cNvSpPr/>
          <p:nvPr/>
        </p:nvSpPr>
        <p:spPr>
          <a:xfrm>
            <a:off x="7607880" y="6638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ratio objetivo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46"/>
          <p:cNvSpPr/>
          <p:nvPr/>
        </p:nvSpPr>
        <p:spPr>
          <a:xfrm>
            <a:off x="9217080" y="6327720"/>
            <a:ext cx="2788560" cy="749520"/>
          </a:xfrm>
          <a:prstGeom prst="roundRect">
            <a:avLst>
              <a:gd name="adj" fmla="val 12195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47"/>
          <p:cNvSpPr/>
          <p:nvPr/>
        </p:nvSpPr>
        <p:spPr>
          <a:xfrm>
            <a:off x="9217080" y="6364080"/>
            <a:ext cx="1371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0b429"/>
                </a:solidFill>
                <a:latin typeface="Arial"/>
                <a:ea typeface="Arial"/>
              </a:rPr>
              <a:t>85%+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48"/>
          <p:cNvSpPr/>
          <p:nvPr/>
        </p:nvSpPr>
        <p:spPr>
          <a:xfrm>
            <a:off x="10588680" y="63734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"/>
                <a:ea typeface="Arial"/>
              </a:rPr>
              <a:t>Margen bruto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49"/>
          <p:cNvSpPr/>
          <p:nvPr/>
        </p:nvSpPr>
        <p:spPr>
          <a:xfrm>
            <a:off x="10588680" y="66384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infraestructura mínima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493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VENTAJA COMPETITIVA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12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2"/>
          <p:cNvSpPr/>
          <p:nvPr/>
        </p:nvSpPr>
        <p:spPr>
          <a:xfrm>
            <a:off x="274320" y="685800"/>
            <a:ext cx="640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No somos otro SaaS.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3"/>
          <p:cNvSpPr/>
          <p:nvPr/>
        </p:nvSpPr>
        <p:spPr>
          <a:xfrm>
            <a:off x="274320" y="1115640"/>
            <a:ext cx="6400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c8ff"/>
                </a:solidFill>
                <a:latin typeface="Arial"/>
                <a:ea typeface="Arial"/>
              </a:rPr>
              <a:t>Somos la capa de datos del sector.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4"/>
          <p:cNvSpPr/>
          <p:nvPr/>
        </p:nvSpPr>
        <p:spPr>
          <a:xfrm>
            <a:off x="3246120" y="1005840"/>
            <a:ext cx="5668920" cy="5486040"/>
          </a:xfrm>
          <a:solidFill>
            <a:srgbClr val="0a1628"/>
          </a:solidFill>
          <a:ln w="3175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5"/>
          <p:cNvSpPr/>
          <p:nvPr/>
        </p:nvSpPr>
        <p:spPr>
          <a:xfrm>
            <a:off x="4251960" y="1965960"/>
            <a:ext cx="3657240" cy="3565800"/>
          </a:xfrm>
          <a:solidFill>
            <a:srgbClr val="0d1e35"/>
          </a:solidFill>
          <a:ln w="1905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6"/>
          <p:cNvSpPr/>
          <p:nvPr/>
        </p:nvSpPr>
        <p:spPr>
          <a:xfrm>
            <a:off x="5120640" y="2834640"/>
            <a:ext cx="1919880" cy="1828440"/>
          </a:xfrm>
          <a:solidFill>
            <a:srgbClr val="1a5a96"/>
          </a:solidFill>
          <a:ln w="254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7"/>
          <p:cNvSpPr/>
          <p:nvPr/>
        </p:nvSpPr>
        <p:spPr>
          <a:xfrm>
            <a:off x="5166360" y="318204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DATOS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DEL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SECTOR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8"/>
          <p:cNvSpPr/>
          <p:nvPr/>
        </p:nvSpPr>
        <p:spPr>
          <a:xfrm>
            <a:off x="5330880" y="85032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00c8ff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2" name="Image 1" descr="preencoded.png"/>
          <p:cNvPicPr/>
          <p:nvPr/>
        </p:nvPicPr>
        <p:blipFill>
          <a:blip r:embed="rId2"/>
          <a:stretch/>
        </p:blipFill>
        <p:spPr>
          <a:xfrm>
            <a:off x="5916240" y="923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03" name="Text 9"/>
          <p:cNvSpPr/>
          <p:nvPr/>
        </p:nvSpPr>
        <p:spPr>
          <a:xfrm>
            <a:off x="5385960" y="130752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c8ff"/>
                </a:solidFill>
                <a:latin typeface="Arial"/>
                <a:ea typeface="Arial"/>
              </a:rPr>
              <a:t>Más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c8ff"/>
                </a:solidFill>
                <a:latin typeface="Arial"/>
                <a:ea typeface="Arial"/>
              </a:rPr>
              <a:t>Instaladores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10"/>
          <p:cNvSpPr/>
          <p:nvPr/>
        </p:nvSpPr>
        <p:spPr>
          <a:xfrm>
            <a:off x="7405560" y="204840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f0b429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5" name="Image 2" descr="preencoded.png"/>
          <p:cNvPicPr/>
          <p:nvPr/>
        </p:nvPicPr>
        <p:blipFill>
          <a:blip r:embed="rId3"/>
          <a:stretch/>
        </p:blipFill>
        <p:spPr>
          <a:xfrm>
            <a:off x="7990920" y="21214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06" name="Text 11"/>
          <p:cNvSpPr/>
          <p:nvPr/>
        </p:nvSpPr>
        <p:spPr>
          <a:xfrm>
            <a:off x="7460640" y="250560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0b429"/>
                </a:solidFill>
                <a:latin typeface="Arial"/>
                <a:ea typeface="Arial"/>
              </a:rPr>
              <a:t>Más Datos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0b429"/>
                </a:solidFill>
                <a:latin typeface="Arial"/>
                <a:ea typeface="Arial"/>
              </a:rPr>
              <a:t>de Actuaciones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12"/>
          <p:cNvSpPr/>
          <p:nvPr/>
        </p:nvSpPr>
        <p:spPr>
          <a:xfrm>
            <a:off x="7405560" y="444384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10b981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8" name="Image 3" descr="preencoded.png"/>
          <p:cNvPicPr/>
          <p:nvPr/>
        </p:nvPicPr>
        <p:blipFill>
          <a:blip r:embed="rId4"/>
          <a:stretch/>
        </p:blipFill>
        <p:spPr>
          <a:xfrm>
            <a:off x="7990920" y="45172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09" name="Text 13"/>
          <p:cNvSpPr/>
          <p:nvPr/>
        </p:nvSpPr>
        <p:spPr>
          <a:xfrm>
            <a:off x="7460640" y="490104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b981"/>
                </a:solidFill>
                <a:latin typeface="Arial"/>
                <a:ea typeface="Arial"/>
              </a:rPr>
              <a:t>IA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b981"/>
                </a:solidFill>
                <a:latin typeface="Arial"/>
                <a:ea typeface="Arial"/>
              </a:rPr>
              <a:t>Más Precisa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14"/>
          <p:cNvSpPr/>
          <p:nvPr/>
        </p:nvSpPr>
        <p:spPr>
          <a:xfrm>
            <a:off x="5330880" y="564192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00c8ff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1" name="Image 4" descr="preencoded.png"/>
          <p:cNvPicPr/>
          <p:nvPr/>
        </p:nvPicPr>
        <p:blipFill>
          <a:blip r:embed="rId5"/>
          <a:stretch/>
        </p:blipFill>
        <p:spPr>
          <a:xfrm>
            <a:off x="5916240" y="57150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12" name="Text 15"/>
          <p:cNvSpPr/>
          <p:nvPr/>
        </p:nvSpPr>
        <p:spPr>
          <a:xfrm>
            <a:off x="5385960" y="609912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c8ff"/>
                </a:solidFill>
                <a:latin typeface="Arial"/>
                <a:ea typeface="Arial"/>
              </a:rPr>
              <a:t>Mejor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c8ff"/>
                </a:solidFill>
                <a:latin typeface="Arial"/>
                <a:ea typeface="Arial"/>
              </a:rPr>
              <a:t>Producto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16"/>
          <p:cNvSpPr/>
          <p:nvPr/>
        </p:nvSpPr>
        <p:spPr>
          <a:xfrm>
            <a:off x="3256200" y="444384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f0b429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4" name="Image 5" descr="preencoded.png"/>
          <p:cNvPicPr/>
          <p:nvPr/>
        </p:nvPicPr>
        <p:blipFill>
          <a:blip r:embed="rId6"/>
          <a:stretch/>
        </p:blipFill>
        <p:spPr>
          <a:xfrm>
            <a:off x="3841560" y="45172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15" name="Text 17"/>
          <p:cNvSpPr/>
          <p:nvPr/>
        </p:nvSpPr>
        <p:spPr>
          <a:xfrm>
            <a:off x="3310920" y="490104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0b429"/>
                </a:solidFill>
                <a:latin typeface="Arial"/>
                <a:ea typeface="Arial"/>
              </a:rPr>
              <a:t>Más Valor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0b429"/>
                </a:solidFill>
                <a:latin typeface="Arial"/>
                <a:ea typeface="Arial"/>
              </a:rPr>
              <a:t>Proveedor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3256200" y="2048400"/>
            <a:ext cx="149940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19050">
            <a:solidFill>
              <a:srgbClr val="10b981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7" name="Image 6" descr="preencoded.png"/>
          <p:cNvPicPr/>
          <p:nvPr/>
        </p:nvPicPr>
        <p:blipFill>
          <a:blip r:embed="rId7"/>
          <a:stretch/>
        </p:blipFill>
        <p:spPr>
          <a:xfrm>
            <a:off x="3841560" y="21214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18" name="Text 19"/>
          <p:cNvSpPr/>
          <p:nvPr/>
        </p:nvSpPr>
        <p:spPr>
          <a:xfrm>
            <a:off x="3310920" y="2505600"/>
            <a:ext cx="1389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b981"/>
                </a:solidFill>
                <a:latin typeface="Arial"/>
                <a:ea typeface="Arial"/>
              </a:rPr>
              <a:t>Más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0b981"/>
                </a:solidFill>
                <a:latin typeface="Arial"/>
                <a:ea typeface="Arial"/>
              </a:rPr>
              <a:t>Integraciones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20"/>
          <p:cNvSpPr/>
          <p:nvPr/>
        </p:nvSpPr>
        <p:spPr>
          <a:xfrm>
            <a:off x="274320" y="1691640"/>
            <a:ext cx="2834280" cy="1078560"/>
          </a:xfrm>
          <a:prstGeom prst="roundRect">
            <a:avLst>
              <a:gd name="adj" fmla="val 8475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21"/>
          <p:cNvSpPr/>
          <p:nvPr/>
        </p:nvSpPr>
        <p:spPr>
          <a:xfrm>
            <a:off x="274320" y="1691640"/>
            <a:ext cx="63720" cy="1078560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22"/>
          <p:cNvSpPr/>
          <p:nvPr/>
        </p:nvSpPr>
        <p:spPr>
          <a:xfrm>
            <a:off x="457200" y="17830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0b429"/>
                </a:solidFill>
                <a:latin typeface="Arial"/>
                <a:ea typeface="Arial"/>
              </a:rPr>
              <a:t>Base Maestra propietaria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23"/>
          <p:cNvSpPr/>
          <p:nvPr/>
        </p:nvSpPr>
        <p:spPr>
          <a:xfrm>
            <a:off x="457200" y="21304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2.200+ actuaciones validadas con profesionales reales. Años de conocimiento sectorial.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24"/>
          <p:cNvSpPr/>
          <p:nvPr/>
        </p:nvSpPr>
        <p:spPr>
          <a:xfrm>
            <a:off x="274320" y="2926080"/>
            <a:ext cx="2834280" cy="1078560"/>
          </a:xfrm>
          <a:prstGeom prst="roundRect">
            <a:avLst>
              <a:gd name="adj" fmla="val 8475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25"/>
          <p:cNvSpPr/>
          <p:nvPr/>
        </p:nvSpPr>
        <p:spPr>
          <a:xfrm>
            <a:off x="274320" y="2926080"/>
            <a:ext cx="63720" cy="1078560"/>
          </a:xfrm>
          <a:prstGeom prst="roundRect">
            <a:avLst>
              <a:gd name="adj" fmla="val 16667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26"/>
          <p:cNvSpPr/>
          <p:nvPr/>
        </p:nvSpPr>
        <p:spPr>
          <a:xfrm>
            <a:off x="457200" y="301752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8ff"/>
                </a:solidFill>
                <a:latin typeface="Arial"/>
                <a:ea typeface="Arial"/>
              </a:rPr>
              <a:t>Datos por zona y oficio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7"/>
          <p:cNvSpPr/>
          <p:nvPr/>
        </p:nvSpPr>
        <p:spPr>
          <a:xfrm>
            <a:off x="457200" y="336492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Benchmark de precios que mejora con cada presupuesto generado.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28"/>
          <p:cNvSpPr/>
          <p:nvPr/>
        </p:nvSpPr>
        <p:spPr>
          <a:xfrm>
            <a:off x="274320" y="4160520"/>
            <a:ext cx="2834280" cy="1078560"/>
          </a:xfrm>
          <a:prstGeom prst="roundRect">
            <a:avLst>
              <a:gd name="adj" fmla="val 8475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29"/>
          <p:cNvSpPr/>
          <p:nvPr/>
        </p:nvSpPr>
        <p:spPr>
          <a:xfrm>
            <a:off x="274320" y="4160520"/>
            <a:ext cx="63720" cy="10785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30"/>
          <p:cNvSpPr/>
          <p:nvPr/>
        </p:nvSpPr>
        <p:spPr>
          <a:xfrm>
            <a:off x="457200" y="425196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Arial"/>
                <a:ea typeface="Arial"/>
              </a:rPr>
              <a:t>Integraciones de proveedor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31"/>
          <p:cNvSpPr/>
          <p:nvPr/>
        </p:nvSpPr>
        <p:spPr>
          <a:xfrm>
            <a:off x="457200" y="459936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Catálogos integrados en el flujo. Requieren acuerdos sectoriales que se construyen con el tiempo.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32"/>
          <p:cNvSpPr/>
          <p:nvPr/>
        </p:nvSpPr>
        <p:spPr>
          <a:xfrm>
            <a:off x="274320" y="5394960"/>
            <a:ext cx="2834280" cy="1078560"/>
          </a:xfrm>
          <a:prstGeom prst="roundRect">
            <a:avLst>
              <a:gd name="adj" fmla="val 8475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33"/>
          <p:cNvSpPr/>
          <p:nvPr/>
        </p:nvSpPr>
        <p:spPr>
          <a:xfrm>
            <a:off x="274320" y="5394960"/>
            <a:ext cx="63720" cy="1078560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34"/>
          <p:cNvSpPr/>
          <p:nvPr/>
        </p:nvSpPr>
        <p:spPr>
          <a:xfrm>
            <a:off x="457200" y="548640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0b429"/>
                </a:solidFill>
                <a:latin typeface="Arial"/>
                <a:ea typeface="Arial"/>
              </a:rPr>
              <a:t>Efecto de red del gremio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5"/>
          <p:cNvSpPr/>
          <p:nvPr/>
        </p:nvSpPr>
        <p:spPr>
          <a:xfrm>
            <a:off x="457200" y="583380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Sector unido y vertical. El estándar de facto se autorrefuerza.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36"/>
          <p:cNvSpPr/>
          <p:nvPr/>
        </p:nvSpPr>
        <p:spPr>
          <a:xfrm>
            <a:off x="274320" y="6492240"/>
            <a:ext cx="1163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b5563"/>
                </a:solidFill>
                <a:latin typeface="Arial"/>
                <a:ea typeface="Arial"/>
              </a:rPr>
              <a:t>A más usuarios, mejor es el producto para todos.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537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ECOSISTEMA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13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Dos canales que se refuerzan mutuamente.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4"/>
          <p:cNvSpPr/>
          <p:nvPr/>
        </p:nvSpPr>
        <p:spPr>
          <a:xfrm>
            <a:off x="274320" y="1691640"/>
            <a:ext cx="5577480" cy="4407120"/>
          </a:xfrm>
          <a:prstGeom prst="roundRect">
            <a:avLst>
              <a:gd name="adj" fmla="val 2905"/>
            </a:avLst>
          </a:prstGeom>
          <a:solidFill>
            <a:srgbClr val="111827"/>
          </a:solidFill>
          <a:ln w="0">
            <a:noFill/>
          </a:ln>
          <a:effectLst>
            <a:outerShdw algn="bl" blurRad="127080" dir="54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2" name="Image 1" descr="preencoded.png"/>
          <p:cNvPicPr/>
          <p:nvPr/>
        </p:nvPicPr>
        <p:blipFill>
          <a:blip r:embed="rId2"/>
          <a:stretch/>
        </p:blipFill>
        <p:spPr>
          <a:xfrm>
            <a:off x="502920" y="18745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43" name="Text 5"/>
          <p:cNvSpPr/>
          <p:nvPr/>
        </p:nvSpPr>
        <p:spPr>
          <a:xfrm>
            <a:off x="1097280" y="192024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8ff"/>
                </a:solidFill>
                <a:latin typeface="Arial"/>
                <a:ea typeface="Arial"/>
              </a:rPr>
              <a:t>Asociaciones y Gremios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6"/>
          <p:cNvSpPr/>
          <p:nvPr/>
        </p:nvSpPr>
        <p:spPr>
          <a:xfrm>
            <a:off x="457200" y="233172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Canal de distribución de confianza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7"/>
          <p:cNvSpPr/>
          <p:nvPr/>
        </p:nvSpPr>
        <p:spPr>
          <a:xfrm>
            <a:off x="457200" y="2743200"/>
            <a:ext cx="521172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8"/>
          <p:cNvSpPr/>
          <p:nvPr/>
        </p:nvSpPr>
        <p:spPr>
          <a:xfrm>
            <a:off x="640080" y="2834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CONAIF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9"/>
          <p:cNvSpPr/>
          <p:nvPr/>
        </p:nvSpPr>
        <p:spPr>
          <a:xfrm>
            <a:off x="640080" y="316368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Confederación nacional. Canal a 200.000+ trabajadores del sector.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10"/>
          <p:cNvSpPr/>
          <p:nvPr/>
        </p:nvSpPr>
        <p:spPr>
          <a:xfrm>
            <a:off x="457200" y="3767400"/>
            <a:ext cx="521172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11"/>
          <p:cNvSpPr/>
          <p:nvPr/>
        </p:nvSpPr>
        <p:spPr>
          <a:xfrm>
            <a:off x="640080" y="38588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FENIE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12"/>
          <p:cNvSpPr/>
          <p:nvPr/>
        </p:nvSpPr>
        <p:spPr>
          <a:xfrm>
            <a:off x="640080" y="418788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Federación eléctrica. 35.000+ empresas instaladoras.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13"/>
          <p:cNvSpPr/>
          <p:nvPr/>
        </p:nvSpPr>
        <p:spPr>
          <a:xfrm>
            <a:off x="457200" y="4791600"/>
            <a:ext cx="521172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14"/>
          <p:cNvSpPr/>
          <p:nvPr/>
        </p:nvSpPr>
        <p:spPr>
          <a:xfrm>
            <a:off x="640080" y="48830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APIEM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5"/>
          <p:cNvSpPr/>
          <p:nvPr/>
        </p:nvSpPr>
        <p:spPr>
          <a:xfrm>
            <a:off x="640080" y="521208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Instaladores eléctricos de Madrid. 8.000+ profesionales.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6"/>
          <p:cNvSpPr/>
          <p:nvPr/>
        </p:nvSpPr>
        <p:spPr>
          <a:xfrm>
            <a:off x="457200" y="5724000"/>
            <a:ext cx="5211720" cy="255600"/>
          </a:xfrm>
          <a:prstGeom prst="roundRect">
            <a:avLst>
              <a:gd name="adj" fmla="val 28571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17"/>
          <p:cNvSpPr/>
          <p:nvPr/>
        </p:nvSpPr>
        <p:spPr>
          <a:xfrm>
            <a:off x="457200" y="5724000"/>
            <a:ext cx="5211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b5563"/>
                </a:solidFill>
                <a:latin typeface="Arial"/>
                <a:ea typeface="Arial"/>
              </a:rPr>
              <a:t>INTEGRACIONES PRIORITARIAS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18"/>
          <p:cNvSpPr/>
          <p:nvPr/>
        </p:nvSpPr>
        <p:spPr>
          <a:xfrm>
            <a:off x="6217920" y="1691640"/>
            <a:ext cx="5668920" cy="4407120"/>
          </a:xfrm>
          <a:prstGeom prst="roundRect">
            <a:avLst>
              <a:gd name="adj" fmla="val 2905"/>
            </a:avLst>
          </a:prstGeom>
          <a:solidFill>
            <a:srgbClr val="111827"/>
          </a:solidFill>
          <a:ln w="0">
            <a:noFill/>
          </a:ln>
          <a:effectLst>
            <a:outerShdw algn="bl" blurRad="127080" dir="5400000" dist="507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7" name="Image 2" descr="preencoded.png"/>
          <p:cNvPicPr/>
          <p:nvPr/>
        </p:nvPicPr>
        <p:blipFill>
          <a:blip r:embed="rId3"/>
          <a:stretch/>
        </p:blipFill>
        <p:spPr>
          <a:xfrm>
            <a:off x="6446520" y="18745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58" name="Text 19"/>
          <p:cNvSpPr/>
          <p:nvPr/>
        </p:nvSpPr>
        <p:spPr>
          <a:xfrm>
            <a:off x="7040880" y="192024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0b429"/>
                </a:solidFill>
                <a:latin typeface="Arial"/>
                <a:ea typeface="Arial"/>
              </a:rPr>
              <a:t>Distribuidores de Material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0"/>
          <p:cNvSpPr/>
          <p:nvPr/>
        </p:nvSpPr>
        <p:spPr>
          <a:xfrm>
            <a:off x="6400800" y="23317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Presencia en el punto de decisión de compra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21"/>
          <p:cNvSpPr/>
          <p:nvPr/>
        </p:nvSpPr>
        <p:spPr>
          <a:xfrm>
            <a:off x="6400800" y="2743200"/>
            <a:ext cx="530316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22"/>
          <p:cNvSpPr/>
          <p:nvPr/>
        </p:nvSpPr>
        <p:spPr>
          <a:xfrm>
            <a:off x="6583680" y="2834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OBRAMAT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23"/>
          <p:cNvSpPr/>
          <p:nvPr/>
        </p:nvSpPr>
        <p:spPr>
          <a:xfrm>
            <a:off x="6583680" y="3163680"/>
            <a:ext cx="4891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Gran superficie: electricidad, fontanería, construcción.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24"/>
          <p:cNvSpPr/>
          <p:nvPr/>
        </p:nvSpPr>
        <p:spPr>
          <a:xfrm>
            <a:off x="6400800" y="3767400"/>
            <a:ext cx="530316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25"/>
          <p:cNvSpPr/>
          <p:nvPr/>
        </p:nvSpPr>
        <p:spPr>
          <a:xfrm>
            <a:off x="6583680" y="38588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Saltoki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26"/>
          <p:cNvSpPr/>
          <p:nvPr/>
        </p:nvSpPr>
        <p:spPr>
          <a:xfrm>
            <a:off x="6583680" y="4187880"/>
            <a:ext cx="4891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Fontanería y climatización. Catálogo especializado.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27"/>
          <p:cNvSpPr/>
          <p:nvPr/>
        </p:nvSpPr>
        <p:spPr>
          <a:xfrm>
            <a:off x="6400800" y="4791600"/>
            <a:ext cx="5303160" cy="840960"/>
          </a:xfrm>
          <a:prstGeom prst="roundRect">
            <a:avLst>
              <a:gd name="adj" fmla="val 8696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28"/>
          <p:cNvSpPr/>
          <p:nvPr/>
        </p:nvSpPr>
        <p:spPr>
          <a:xfrm>
            <a:off x="6583680" y="48830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Sonepar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29"/>
          <p:cNvSpPr/>
          <p:nvPr/>
        </p:nvSpPr>
        <p:spPr>
          <a:xfrm>
            <a:off x="6583680" y="5212080"/>
            <a:ext cx="4891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Material eléctrico. Red nacional de distribución.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30"/>
          <p:cNvSpPr/>
          <p:nvPr/>
        </p:nvSpPr>
        <p:spPr>
          <a:xfrm>
            <a:off x="6400800" y="5724000"/>
            <a:ext cx="5303160" cy="255600"/>
          </a:xfrm>
          <a:prstGeom prst="roundRect">
            <a:avLst>
              <a:gd name="adj" fmla="val 28571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31"/>
          <p:cNvSpPr/>
          <p:nvPr/>
        </p:nvSpPr>
        <p:spPr>
          <a:xfrm>
            <a:off x="6400800" y="572400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b5563"/>
                </a:solidFill>
                <a:latin typeface="Arial"/>
                <a:ea typeface="Arial"/>
              </a:rPr>
              <a:t>INTEGRACIONES PRIORITARIAS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32"/>
          <p:cNvSpPr/>
          <p:nvPr/>
        </p:nvSpPr>
        <p:spPr>
          <a:xfrm>
            <a:off x="274320" y="607176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b5563"/>
                </a:solidFill>
                <a:latin typeface="Arial"/>
                <a:ea typeface="Arial"/>
              </a:rPr>
              <a:t>Cada presupuesto con referencia de proveedor es una intención de compra real. Cada asociación que adopta TrabFlow es una barrera de entrada para la competencia.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573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ROADMAP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14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De España a la infraestructura del gremio.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Shape 4"/>
          <p:cNvSpPr/>
          <p:nvPr/>
        </p:nvSpPr>
        <p:spPr>
          <a:xfrm>
            <a:off x="457200" y="2176200"/>
            <a:ext cx="11274120" cy="543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5"/>
          <p:cNvSpPr/>
          <p:nvPr/>
        </p:nvSpPr>
        <p:spPr>
          <a:xfrm>
            <a:off x="1508760" y="2030040"/>
            <a:ext cx="347040" cy="347040"/>
          </a:xfr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6"/>
          <p:cNvSpPr/>
          <p:nvPr/>
        </p:nvSpPr>
        <p:spPr>
          <a:xfrm>
            <a:off x="4453200" y="2030040"/>
            <a:ext cx="347040" cy="347040"/>
          </a:xfr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7"/>
          <p:cNvSpPr/>
          <p:nvPr/>
        </p:nvSpPr>
        <p:spPr>
          <a:xfrm>
            <a:off x="7397640" y="2030040"/>
            <a:ext cx="347040" cy="347040"/>
          </a:xfr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8"/>
          <p:cNvSpPr/>
          <p:nvPr/>
        </p:nvSpPr>
        <p:spPr>
          <a:xfrm>
            <a:off x="10341720" y="2030040"/>
            <a:ext cx="347040" cy="347040"/>
          </a:xfr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320040" y="2633400"/>
            <a:ext cx="2788560" cy="3611520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3" name="Image 1" descr="preencoded.png"/>
          <p:cNvPicPr/>
          <p:nvPr/>
        </p:nvPicPr>
        <p:blipFill>
          <a:blip r:embed="rId2"/>
          <a:stretch/>
        </p:blipFill>
        <p:spPr>
          <a:xfrm>
            <a:off x="521280" y="278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84" name="Shape 10"/>
          <p:cNvSpPr/>
          <p:nvPr/>
        </p:nvSpPr>
        <p:spPr>
          <a:xfrm>
            <a:off x="1033200" y="2788920"/>
            <a:ext cx="1096920" cy="255600"/>
          </a:xfrm>
          <a:prstGeom prst="roundRect">
            <a:avLst>
              <a:gd name="adj" fmla="val 21429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1"/>
          <p:cNvSpPr/>
          <p:nvPr/>
        </p:nvSpPr>
        <p:spPr>
          <a:xfrm>
            <a:off x="1033200" y="2788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c8ff"/>
                </a:solidFill>
                <a:latin typeface="Arial"/>
                <a:ea typeface="Arial"/>
              </a:rPr>
              <a:t>FASE 1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12"/>
          <p:cNvSpPr/>
          <p:nvPr/>
        </p:nvSpPr>
        <p:spPr>
          <a:xfrm>
            <a:off x="429840" y="3108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2026 · Q3–Q4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3"/>
          <p:cNvSpPr/>
          <p:nvPr/>
        </p:nvSpPr>
        <p:spPr>
          <a:xfrm>
            <a:off x="429840" y="3401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Product-Market Fit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8" name="Image 2" descr="preencoded.png"/>
          <p:cNvPicPr/>
          <p:nvPr/>
        </p:nvPicPr>
        <p:blipFill>
          <a:blip r:embed="rId3"/>
          <a:stretch/>
        </p:blipFill>
        <p:spPr>
          <a:xfrm>
            <a:off x="457200" y="3886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589" name="Text 14"/>
          <p:cNvSpPr/>
          <p:nvPr/>
        </p:nvSpPr>
        <p:spPr>
          <a:xfrm>
            <a:off x="758880" y="385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Beta pública. Primeras cohortes reales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0" name="Image 3" descr="preencoded.png"/>
          <p:cNvPicPr/>
          <p:nvPr/>
        </p:nvPicPr>
        <p:blipFill>
          <a:blip r:embed="rId4"/>
          <a:stretch/>
        </p:blipFill>
        <p:spPr>
          <a:xfrm>
            <a:off x="457200" y="43434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591" name="Text 15"/>
          <p:cNvSpPr/>
          <p:nvPr/>
        </p:nvSpPr>
        <p:spPr>
          <a:xfrm>
            <a:off x="758880" y="43160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Verticales VE + Fotovoltaica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2" name="Image 4" descr="preencoded.png"/>
          <p:cNvPicPr/>
          <p:nvPr/>
        </p:nvPicPr>
        <p:blipFill>
          <a:blip r:embed="rId5"/>
          <a:stretch/>
        </p:blipFill>
        <p:spPr>
          <a:xfrm>
            <a:off x="457200" y="48006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593" name="Text 16"/>
          <p:cNvSpPr/>
          <p:nvPr/>
        </p:nvSpPr>
        <p:spPr>
          <a:xfrm>
            <a:off x="758880" y="47732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Validar retención y NPS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3264480" y="2633400"/>
            <a:ext cx="2788560" cy="3611520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5" name="Image 5" descr="preencoded.png"/>
          <p:cNvPicPr/>
          <p:nvPr/>
        </p:nvPicPr>
        <p:blipFill>
          <a:blip r:embed="rId6"/>
          <a:stretch/>
        </p:blipFill>
        <p:spPr>
          <a:xfrm>
            <a:off x="3465720" y="278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596" name="Shape 18"/>
          <p:cNvSpPr/>
          <p:nvPr/>
        </p:nvSpPr>
        <p:spPr>
          <a:xfrm>
            <a:off x="3977640" y="2788920"/>
            <a:ext cx="1096920" cy="255600"/>
          </a:xfrm>
          <a:prstGeom prst="roundRect">
            <a:avLst>
              <a:gd name="adj" fmla="val 21429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9"/>
          <p:cNvSpPr/>
          <p:nvPr/>
        </p:nvSpPr>
        <p:spPr>
          <a:xfrm>
            <a:off x="3977640" y="2788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e7dd1"/>
                </a:solidFill>
                <a:latin typeface="Arial"/>
                <a:ea typeface="Arial"/>
              </a:rPr>
              <a:t>FASE 2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20"/>
          <p:cNvSpPr/>
          <p:nvPr/>
        </p:nvSpPr>
        <p:spPr>
          <a:xfrm>
            <a:off x="3374280" y="3108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2027 · Q1–Q2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21"/>
          <p:cNvSpPr/>
          <p:nvPr/>
        </p:nvSpPr>
        <p:spPr>
          <a:xfrm>
            <a:off x="3374280" y="3401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Asociaciones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0" name="Image 6" descr="preencoded.png"/>
          <p:cNvPicPr/>
          <p:nvPr/>
        </p:nvPicPr>
        <p:blipFill>
          <a:blip r:embed="rId7"/>
          <a:stretch/>
        </p:blipFill>
        <p:spPr>
          <a:xfrm>
            <a:off x="3401640" y="3886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01" name="Text 22"/>
          <p:cNvSpPr/>
          <p:nvPr/>
        </p:nvSpPr>
        <p:spPr>
          <a:xfrm>
            <a:off x="3703320" y="385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CONAIF, FENIE como canal de distribución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2" name="Image 7" descr="preencoded.png"/>
          <p:cNvPicPr/>
          <p:nvPr/>
        </p:nvPicPr>
        <p:blipFill>
          <a:blip r:embed="rId8"/>
          <a:stretch/>
        </p:blipFill>
        <p:spPr>
          <a:xfrm>
            <a:off x="3401640" y="43434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03" name="Text 23"/>
          <p:cNvSpPr/>
          <p:nvPr/>
        </p:nvSpPr>
        <p:spPr>
          <a:xfrm>
            <a:off x="3703320" y="43160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100+ clientes de pago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4" name="Image 8" descr="preencoded.png"/>
          <p:cNvPicPr/>
          <p:nvPr/>
        </p:nvPicPr>
        <p:blipFill>
          <a:blip r:embed="rId9"/>
          <a:stretch/>
        </p:blipFill>
        <p:spPr>
          <a:xfrm>
            <a:off x="3401640" y="48006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05" name="Text 24"/>
          <p:cNvSpPr/>
          <p:nvPr/>
        </p:nvSpPr>
        <p:spPr>
          <a:xfrm>
            <a:off x="3703320" y="47732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VeriFactu como catalizador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25"/>
          <p:cNvSpPr/>
          <p:nvPr/>
        </p:nvSpPr>
        <p:spPr>
          <a:xfrm>
            <a:off x="6208920" y="2633400"/>
            <a:ext cx="2788560" cy="3611520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7" name="Image 9" descr="preencoded.png"/>
          <p:cNvPicPr/>
          <p:nvPr/>
        </p:nvPicPr>
        <p:blipFill>
          <a:blip r:embed="rId10"/>
          <a:stretch/>
        </p:blipFill>
        <p:spPr>
          <a:xfrm>
            <a:off x="6409800" y="278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08" name="Shape 26"/>
          <p:cNvSpPr/>
          <p:nvPr/>
        </p:nvSpPr>
        <p:spPr>
          <a:xfrm>
            <a:off x="6922080" y="2788920"/>
            <a:ext cx="1096920" cy="255600"/>
          </a:xfrm>
          <a:prstGeom prst="roundRect">
            <a:avLst>
              <a:gd name="adj" fmla="val 21429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27"/>
          <p:cNvSpPr/>
          <p:nvPr/>
        </p:nvSpPr>
        <p:spPr>
          <a:xfrm>
            <a:off x="6922080" y="2788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0b429"/>
                </a:solidFill>
                <a:latin typeface="Arial"/>
                <a:ea typeface="Arial"/>
              </a:rPr>
              <a:t>FASE 3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28"/>
          <p:cNvSpPr/>
          <p:nvPr/>
        </p:nvSpPr>
        <p:spPr>
          <a:xfrm>
            <a:off x="6318360" y="3108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2027 · Q3–Q4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29"/>
          <p:cNvSpPr/>
          <p:nvPr/>
        </p:nvSpPr>
        <p:spPr>
          <a:xfrm>
            <a:off x="6318360" y="3401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Marketplace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2" name="Image 10" descr="preencoded.png"/>
          <p:cNvPicPr/>
          <p:nvPr/>
        </p:nvPicPr>
        <p:blipFill>
          <a:blip r:embed="rId11"/>
          <a:stretch/>
        </p:blipFill>
        <p:spPr>
          <a:xfrm>
            <a:off x="6346080" y="3886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13" name="Text 30"/>
          <p:cNvSpPr/>
          <p:nvPr/>
        </p:nvSpPr>
        <p:spPr>
          <a:xfrm>
            <a:off x="6647760" y="385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Catálogos de 3+ distribuidores integrados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4" name="Image 11" descr="preencoded.png"/>
          <p:cNvPicPr/>
          <p:nvPr/>
        </p:nvPicPr>
        <p:blipFill>
          <a:blip r:embed="rId12"/>
          <a:stretch/>
        </p:blipFill>
        <p:spPr>
          <a:xfrm>
            <a:off x="6346080" y="43434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15" name="Text 31"/>
          <p:cNvSpPr/>
          <p:nvPr/>
        </p:nvSpPr>
        <p:spPr>
          <a:xfrm>
            <a:off x="6647760" y="43160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Pedido de material desde presupuesto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6" name="Image 12" descr="preencoded.png"/>
          <p:cNvPicPr/>
          <p:nvPr/>
        </p:nvPicPr>
        <p:blipFill>
          <a:blip r:embed="rId13"/>
          <a:stretch/>
        </p:blipFill>
        <p:spPr>
          <a:xfrm>
            <a:off x="6346080" y="48006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17" name="Text 32"/>
          <p:cNvSpPr/>
          <p:nvPr/>
        </p:nvSpPr>
        <p:spPr>
          <a:xfrm>
            <a:off x="6647760" y="47732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Revenue share con proveedores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33"/>
          <p:cNvSpPr/>
          <p:nvPr/>
        </p:nvSpPr>
        <p:spPr>
          <a:xfrm>
            <a:off x="9153000" y="2633400"/>
            <a:ext cx="2788560" cy="3611520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9" name="Image 13" descr="preencoded.png"/>
          <p:cNvPicPr/>
          <p:nvPr/>
        </p:nvPicPr>
        <p:blipFill>
          <a:blip r:embed="rId14"/>
          <a:stretch/>
        </p:blipFill>
        <p:spPr>
          <a:xfrm>
            <a:off x="9354240" y="2788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620" name="Shape 34"/>
          <p:cNvSpPr/>
          <p:nvPr/>
        </p:nvSpPr>
        <p:spPr>
          <a:xfrm>
            <a:off x="9866520" y="2788920"/>
            <a:ext cx="1096920" cy="255600"/>
          </a:xfrm>
          <a:prstGeom prst="roundRect">
            <a:avLst>
              <a:gd name="adj" fmla="val 21429"/>
            </a:avLst>
          </a:prstGeom>
          <a:solidFill>
            <a:srgbClr val="1a2235"/>
          </a:solidFill>
          <a:ln w="12700">
            <a:solidFill>
              <a:srgbClr val="1a22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35"/>
          <p:cNvSpPr/>
          <p:nvPr/>
        </p:nvSpPr>
        <p:spPr>
          <a:xfrm>
            <a:off x="9866520" y="27889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0b981"/>
                </a:solidFill>
                <a:latin typeface="Arial"/>
                <a:ea typeface="Arial"/>
              </a:rPr>
              <a:t>FASE 4</a:t>
            </a:r>
            <a:endParaRPr b="0" lang="es-E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36"/>
          <p:cNvSpPr/>
          <p:nvPr/>
        </p:nvSpPr>
        <p:spPr>
          <a:xfrm>
            <a:off x="9262800" y="310896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ca3af"/>
                </a:solidFill>
                <a:latin typeface="Arial"/>
                <a:ea typeface="Arial"/>
              </a:rPr>
              <a:t>2028+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37"/>
          <p:cNvSpPr/>
          <p:nvPr/>
        </p:nvSpPr>
        <p:spPr>
          <a:xfrm>
            <a:off x="9262800" y="3401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LATAM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4" name="Image 14" descr="preencoded.png"/>
          <p:cNvPicPr/>
          <p:nvPr/>
        </p:nvPicPr>
        <p:blipFill>
          <a:blip r:embed="rId15"/>
          <a:stretch/>
        </p:blipFill>
        <p:spPr>
          <a:xfrm>
            <a:off x="9290160" y="3886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25" name="Text 38"/>
          <p:cNvSpPr/>
          <p:nvPr/>
        </p:nvSpPr>
        <p:spPr>
          <a:xfrm>
            <a:off x="9592200" y="38588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México, Colombia, Chile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6" name="Image 15" descr="preencoded.png"/>
          <p:cNvPicPr/>
          <p:nvPr/>
        </p:nvPicPr>
        <p:blipFill>
          <a:blip r:embed="rId16"/>
          <a:stretch/>
        </p:blipFill>
        <p:spPr>
          <a:xfrm>
            <a:off x="9290160" y="43434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27" name="Text 39"/>
          <p:cNvSpPr/>
          <p:nvPr/>
        </p:nvSpPr>
        <p:spPr>
          <a:xfrm>
            <a:off x="9592200" y="43160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2,1M instaladores adicionales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8" name="Image 16" descr="preencoded.png"/>
          <p:cNvPicPr/>
          <p:nvPr/>
        </p:nvPicPr>
        <p:blipFill>
          <a:blip r:embed="rId17"/>
          <a:stretch/>
        </p:blipFill>
        <p:spPr>
          <a:xfrm>
            <a:off x="9290160" y="48006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629" name="Text 40"/>
          <p:cNvSpPr/>
          <p:nvPr/>
        </p:nvSpPr>
        <p:spPr>
          <a:xfrm>
            <a:off x="9592200" y="4773240"/>
            <a:ext cx="226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Adaptación local por vertical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41"/>
          <p:cNvSpPr/>
          <p:nvPr/>
        </p:nvSpPr>
        <p:spPr>
          <a:xfrm>
            <a:off x="274320" y="6419160"/>
            <a:ext cx="11639880" cy="328680"/>
          </a:xfrm>
          <a:prstGeom prst="roundRect">
            <a:avLst>
              <a:gd name="adj" fmla="val 22222"/>
            </a:avLst>
          </a:prstGeom>
          <a:solidFill>
            <a:srgbClr val="001a10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42"/>
          <p:cNvSpPr/>
          <p:nvPr/>
        </p:nvSpPr>
        <p:spPr>
          <a:xfrm>
            <a:off x="457200" y="6446520"/>
            <a:ext cx="1127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0b981"/>
                </a:solidFill>
                <a:latin typeface="Arial"/>
                <a:ea typeface="Arial"/>
              </a:rPr>
              <a:t>North Star: tiempo hasta el primer presupuesto enviado. Objetivo: &lt; 3 minutos desde el alta.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633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PROYECCIONES FINANCIERAS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15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Tres escenarios reconciliados a 36 meses.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4"/>
          <p:cNvSpPr/>
          <p:nvPr/>
        </p:nvSpPr>
        <p:spPr>
          <a:xfrm>
            <a:off x="274320" y="1874520"/>
            <a:ext cx="3794400" cy="4754520"/>
          </a:xfrm>
          <a:prstGeom prst="roundRect">
            <a:avLst>
              <a:gd name="adj" fmla="val 3373"/>
            </a:avLst>
          </a:prstGeom>
          <a:solidFill>
            <a:srgbClr val="111827"/>
          </a:solidFill>
          <a:ln w="6350">
            <a:solidFill>
              <a:srgbClr val="4b5563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5"/>
          <p:cNvSpPr/>
          <p:nvPr/>
        </p:nvSpPr>
        <p:spPr>
          <a:xfrm>
            <a:off x="274320" y="203004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9ca3af"/>
                </a:solidFill>
                <a:latin typeface="Arial"/>
                <a:ea typeface="Arial"/>
              </a:rPr>
              <a:t>Conservador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6"/>
          <p:cNvSpPr/>
          <p:nvPr/>
        </p:nvSpPr>
        <p:spPr>
          <a:xfrm>
            <a:off x="274320" y="242316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ARR Año 3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7"/>
          <p:cNvSpPr/>
          <p:nvPr/>
        </p:nvSpPr>
        <p:spPr>
          <a:xfrm>
            <a:off x="274320" y="2651760"/>
            <a:ext cx="3794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9ca3af"/>
                </a:solidFill>
                <a:latin typeface="Arial"/>
                <a:ea typeface="Arial"/>
              </a:rPr>
              <a:t>€</a:t>
            </a:r>
            <a:r>
              <a:rPr b="1" lang="en-US" sz="3800" spc="-1" strike="noStrike">
                <a:solidFill>
                  <a:srgbClr val="9ca3af"/>
                </a:solidFill>
                <a:latin typeface="Arial"/>
                <a:ea typeface="Arial"/>
              </a:rPr>
              <a:t>119K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8"/>
          <p:cNvSpPr/>
          <p:nvPr/>
        </p:nvSpPr>
        <p:spPr>
          <a:xfrm>
            <a:off x="731520" y="3383280"/>
            <a:ext cx="288000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9"/>
          <p:cNvSpPr/>
          <p:nvPr/>
        </p:nvSpPr>
        <p:spPr>
          <a:xfrm>
            <a:off x="274320" y="34930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203 clientes activos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10"/>
          <p:cNvSpPr/>
          <p:nvPr/>
        </p:nvSpPr>
        <p:spPr>
          <a:xfrm>
            <a:off x="274320" y="38404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ca3af"/>
                </a:solidFill>
                <a:latin typeface="Arial"/>
                <a:ea typeface="Arial"/>
              </a:rPr>
              <a:t>MRR: €9.900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11"/>
          <p:cNvSpPr/>
          <p:nvPr/>
        </p:nvSpPr>
        <p:spPr>
          <a:xfrm>
            <a:off x="457200" y="427932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Retención: ~75% · CAC: €80 · Churn: ~2%/mes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12"/>
          <p:cNvSpPr/>
          <p:nvPr/>
        </p:nvSpPr>
        <p:spPr>
          <a:xfrm>
            <a:off x="411480" y="49561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Sin acuerdos de canal. Crecimiento orgánico.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13"/>
          <p:cNvSpPr/>
          <p:nvPr/>
        </p:nvSpPr>
        <p:spPr>
          <a:xfrm>
            <a:off x="4251960" y="1874520"/>
            <a:ext cx="3794400" cy="4754520"/>
          </a:xfrm>
          <a:prstGeom prst="roundRect">
            <a:avLst>
              <a:gd name="adj" fmla="val 3373"/>
            </a:avLst>
          </a:prstGeom>
          <a:solidFill>
            <a:srgbClr val="001c2e"/>
          </a:solidFill>
          <a:ln w="25400">
            <a:solidFill>
              <a:srgbClr val="00c8ff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14"/>
          <p:cNvSpPr/>
          <p:nvPr/>
        </p:nvSpPr>
        <p:spPr>
          <a:xfrm>
            <a:off x="4251960" y="203004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ff"/>
                </a:solidFill>
                <a:latin typeface="Arial"/>
                <a:ea typeface="Arial"/>
              </a:rPr>
              <a:t>Base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15"/>
          <p:cNvSpPr/>
          <p:nvPr/>
        </p:nvSpPr>
        <p:spPr>
          <a:xfrm>
            <a:off x="4251960" y="242316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ARR Año 3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16"/>
          <p:cNvSpPr/>
          <p:nvPr/>
        </p:nvSpPr>
        <p:spPr>
          <a:xfrm>
            <a:off x="4251960" y="2651760"/>
            <a:ext cx="3794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00c8ff"/>
                </a:solidFill>
                <a:latin typeface="Arial"/>
                <a:ea typeface="Arial"/>
              </a:rPr>
              <a:t>€</a:t>
            </a:r>
            <a:r>
              <a:rPr b="1" lang="en-US" sz="3800" spc="-1" strike="noStrike">
                <a:solidFill>
                  <a:srgbClr val="00c8ff"/>
                </a:solidFill>
                <a:latin typeface="Arial"/>
                <a:ea typeface="Arial"/>
              </a:rPr>
              <a:t>318K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17"/>
          <p:cNvSpPr/>
          <p:nvPr/>
        </p:nvSpPr>
        <p:spPr>
          <a:xfrm>
            <a:off x="4709160" y="3383280"/>
            <a:ext cx="288000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18"/>
          <p:cNvSpPr/>
          <p:nvPr/>
        </p:nvSpPr>
        <p:spPr>
          <a:xfrm>
            <a:off x="4251960" y="34930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541 clientes activos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19"/>
          <p:cNvSpPr/>
          <p:nvPr/>
        </p:nvSpPr>
        <p:spPr>
          <a:xfrm>
            <a:off x="4251960" y="38404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MRR: €26.500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20"/>
          <p:cNvSpPr/>
          <p:nvPr/>
        </p:nvSpPr>
        <p:spPr>
          <a:xfrm>
            <a:off x="4434840" y="427932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Retención: ~85% · CAC: €65 · Churn: ~1,2%/mes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21"/>
          <p:cNvSpPr/>
          <p:nvPr/>
        </p:nvSpPr>
        <p:spPr>
          <a:xfrm>
            <a:off x="4389120" y="49561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1-2 acuerdos de asociación activados.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Shape 22"/>
          <p:cNvSpPr/>
          <p:nvPr/>
        </p:nvSpPr>
        <p:spPr>
          <a:xfrm>
            <a:off x="8229600" y="1874520"/>
            <a:ext cx="3794400" cy="4754520"/>
          </a:xfrm>
          <a:prstGeom prst="roundRect">
            <a:avLst>
              <a:gd name="adj" fmla="val 3373"/>
            </a:avLst>
          </a:prstGeom>
          <a:solidFill>
            <a:srgbClr val="111827"/>
          </a:solidFill>
          <a:ln w="6350">
            <a:solidFill>
              <a:srgbClr val="4b5563"/>
            </a:solidFill>
            <a:round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23"/>
          <p:cNvSpPr/>
          <p:nvPr/>
        </p:nvSpPr>
        <p:spPr>
          <a:xfrm>
            <a:off x="8229600" y="203004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b429"/>
                </a:solidFill>
                <a:latin typeface="Arial"/>
                <a:ea typeface="Arial"/>
              </a:rPr>
              <a:t>Agresivo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24"/>
          <p:cNvSpPr/>
          <p:nvPr/>
        </p:nvSpPr>
        <p:spPr>
          <a:xfrm>
            <a:off x="8229600" y="2423160"/>
            <a:ext cx="3794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Arial"/>
                <a:ea typeface="Arial"/>
              </a:rPr>
              <a:t>ARR Año 3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25"/>
          <p:cNvSpPr/>
          <p:nvPr/>
        </p:nvSpPr>
        <p:spPr>
          <a:xfrm>
            <a:off x="8229600" y="2651760"/>
            <a:ext cx="37944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0b429"/>
                </a:solidFill>
                <a:latin typeface="Arial"/>
                <a:ea typeface="Arial"/>
              </a:rPr>
              <a:t>€</a:t>
            </a:r>
            <a:r>
              <a:rPr b="1" lang="en-US" sz="3800" spc="-1" strike="noStrike">
                <a:solidFill>
                  <a:srgbClr val="f0b429"/>
                </a:solidFill>
                <a:latin typeface="Arial"/>
                <a:ea typeface="Arial"/>
              </a:rPr>
              <a:t>927K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Shape 26"/>
          <p:cNvSpPr/>
          <p:nvPr/>
        </p:nvSpPr>
        <p:spPr>
          <a:xfrm>
            <a:off x="8686800" y="3383280"/>
            <a:ext cx="2880000" cy="86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Text 27"/>
          <p:cNvSpPr/>
          <p:nvPr/>
        </p:nvSpPr>
        <p:spPr>
          <a:xfrm>
            <a:off x="8229600" y="34930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1.578 clientes activos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28"/>
          <p:cNvSpPr/>
          <p:nvPr/>
        </p:nvSpPr>
        <p:spPr>
          <a:xfrm>
            <a:off x="8229600" y="38404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0b429"/>
                </a:solidFill>
                <a:latin typeface="Arial"/>
                <a:ea typeface="Arial"/>
              </a:rPr>
              <a:t>MRR: €77.200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29"/>
          <p:cNvSpPr/>
          <p:nvPr/>
        </p:nvSpPr>
        <p:spPr>
          <a:xfrm>
            <a:off x="8412480" y="427932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Retención: ~90% · CAC: €50 · Churn: ~0,8%/mes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30"/>
          <p:cNvSpPr/>
          <p:nvPr/>
        </p:nvSpPr>
        <p:spPr>
          <a:xfrm>
            <a:off x="8366760" y="49561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Canal FENIE + CONAIF + marketplace activo.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31"/>
          <p:cNvSpPr/>
          <p:nvPr/>
        </p:nvSpPr>
        <p:spPr>
          <a:xfrm>
            <a:off x="1005840" y="6400800"/>
            <a:ext cx="91080" cy="127800"/>
          </a:xfrm>
          <a:prstGeom prst="roundRect">
            <a:avLst>
              <a:gd name="adj" fmla="val 40000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2"/>
          <p:cNvSpPr/>
          <p:nvPr/>
        </p:nvSpPr>
        <p:spPr>
          <a:xfrm>
            <a:off x="1005840" y="6602040"/>
            <a:ext cx="173520" cy="127800"/>
          </a:xfrm>
          <a:prstGeom prst="roundRect">
            <a:avLst>
              <a:gd name="adj" fmla="val 2857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3"/>
          <p:cNvSpPr/>
          <p:nvPr/>
        </p:nvSpPr>
        <p:spPr>
          <a:xfrm>
            <a:off x="1005840" y="6803280"/>
            <a:ext cx="381960" cy="127800"/>
          </a:xfrm>
          <a:prstGeom prst="roundRect">
            <a:avLst>
              <a:gd name="adj" fmla="val 28571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34"/>
          <p:cNvSpPr/>
          <p:nvPr/>
        </p:nvSpPr>
        <p:spPr>
          <a:xfrm>
            <a:off x="4892040" y="6400800"/>
            <a:ext cx="243000" cy="127800"/>
          </a:xfrm>
          <a:prstGeom prst="roundRect">
            <a:avLst>
              <a:gd name="adj" fmla="val 28571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5"/>
          <p:cNvSpPr/>
          <p:nvPr/>
        </p:nvSpPr>
        <p:spPr>
          <a:xfrm>
            <a:off x="4892040" y="6602040"/>
            <a:ext cx="486000" cy="127800"/>
          </a:xfrm>
          <a:prstGeom prst="roundRect">
            <a:avLst>
              <a:gd name="adj" fmla="val 2857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36"/>
          <p:cNvSpPr/>
          <p:nvPr/>
        </p:nvSpPr>
        <p:spPr>
          <a:xfrm>
            <a:off x="4892040" y="6803280"/>
            <a:ext cx="1128960" cy="127800"/>
          </a:xfrm>
          <a:prstGeom prst="roundRect">
            <a:avLst>
              <a:gd name="adj" fmla="val 28571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37"/>
          <p:cNvSpPr/>
          <p:nvPr/>
        </p:nvSpPr>
        <p:spPr>
          <a:xfrm>
            <a:off x="8778240" y="6400800"/>
            <a:ext cx="434160" cy="127800"/>
          </a:xfrm>
          <a:prstGeom prst="roundRect">
            <a:avLst>
              <a:gd name="adj" fmla="val 28571"/>
            </a:avLst>
          </a:prstGeom>
          <a:solidFill>
            <a:srgbClr val="9ca3af"/>
          </a:solidFill>
          <a:ln w="12700">
            <a:solidFill>
              <a:srgbClr val="9ca3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8"/>
          <p:cNvSpPr/>
          <p:nvPr/>
        </p:nvSpPr>
        <p:spPr>
          <a:xfrm>
            <a:off x="8778240" y="6602040"/>
            <a:ext cx="1181160" cy="127800"/>
          </a:xfrm>
          <a:prstGeom prst="roundRect">
            <a:avLst>
              <a:gd name="adj" fmla="val 2857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9"/>
          <p:cNvSpPr/>
          <p:nvPr/>
        </p:nvSpPr>
        <p:spPr>
          <a:xfrm>
            <a:off x="8778240" y="6803280"/>
            <a:ext cx="3387600" cy="127800"/>
          </a:xfrm>
          <a:prstGeom prst="roundRect">
            <a:avLst>
              <a:gd name="adj" fmla="val 28571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40"/>
          <p:cNvSpPr/>
          <p:nvPr/>
        </p:nvSpPr>
        <p:spPr>
          <a:xfrm>
            <a:off x="274320" y="637344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Supuestos: churn y CAC son hipótesis a validar con cohortes reales. Modelo financiero reconciliado disponible bajo NDA.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675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LA RONDA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16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3"/>
          <p:cNvSpPr/>
          <p:nvPr/>
        </p:nvSpPr>
        <p:spPr>
          <a:xfrm>
            <a:off x="274320" y="914400"/>
            <a:ext cx="1163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Seed Round: €1M.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4"/>
          <p:cNvSpPr/>
          <p:nvPr/>
        </p:nvSpPr>
        <p:spPr>
          <a:xfrm>
            <a:off x="274320" y="1481400"/>
            <a:ext cx="1163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c8ff"/>
                </a:solidFill>
                <a:latin typeface="Arial"/>
                <a:ea typeface="Arial"/>
              </a:rPr>
              <a:t>Capital para acelerar. No para sobrevivir.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Shape 5"/>
          <p:cNvSpPr/>
          <p:nvPr/>
        </p:nvSpPr>
        <p:spPr>
          <a:xfrm>
            <a:off x="-182880" y="91440"/>
            <a:ext cx="3657240" cy="3657240"/>
          </a:xfrm>
          <a:solidFill>
            <a:srgbClr val="1a2235"/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Shape 6"/>
          <p:cNvSpPr/>
          <p:nvPr/>
        </p:nvSpPr>
        <p:spPr>
          <a:xfrm>
            <a:off x="2750040" y="1302480"/>
            <a:ext cx="72720" cy="72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7"/>
          <p:cNvSpPr/>
          <p:nvPr/>
        </p:nvSpPr>
        <p:spPr>
          <a:xfrm>
            <a:off x="1609200" y="3163680"/>
            <a:ext cx="72720" cy="72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8"/>
          <p:cNvSpPr/>
          <p:nvPr/>
        </p:nvSpPr>
        <p:spPr>
          <a:xfrm>
            <a:off x="329040" y="1883520"/>
            <a:ext cx="72720" cy="72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9"/>
          <p:cNvSpPr/>
          <p:nvPr/>
        </p:nvSpPr>
        <p:spPr>
          <a:xfrm>
            <a:off x="1028160" y="743040"/>
            <a:ext cx="72720" cy="72720"/>
          </a:xfrm>
          <a:prstGeom prst="rect">
            <a:avLst/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0"/>
          <p:cNvSpPr/>
          <p:nvPr/>
        </p:nvSpPr>
        <p:spPr>
          <a:xfrm>
            <a:off x="-91440" y="182880"/>
            <a:ext cx="3474360" cy="1215720"/>
          </a:xfrm>
          <a:prstGeom prst="roundRect">
            <a:avLst>
              <a:gd name="adj" fmla="val 4511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1"/>
          <p:cNvSpPr/>
          <p:nvPr/>
        </p:nvSpPr>
        <p:spPr>
          <a:xfrm>
            <a:off x="-91440" y="1398960"/>
            <a:ext cx="3474360" cy="1042200"/>
          </a:xfrm>
          <a:prstGeom prst="roundRect">
            <a:avLst>
              <a:gd name="adj" fmla="val 5263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2"/>
          <p:cNvSpPr/>
          <p:nvPr/>
        </p:nvSpPr>
        <p:spPr>
          <a:xfrm>
            <a:off x="-91440" y="2441520"/>
            <a:ext cx="3474360" cy="694440"/>
          </a:xfrm>
          <a:prstGeom prst="roundRect">
            <a:avLst>
              <a:gd name="adj" fmla="val 7895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3"/>
          <p:cNvSpPr/>
          <p:nvPr/>
        </p:nvSpPr>
        <p:spPr>
          <a:xfrm>
            <a:off x="-91440" y="3136320"/>
            <a:ext cx="3474360" cy="520920"/>
          </a:xfrm>
          <a:prstGeom prst="roundRect">
            <a:avLst>
              <a:gd name="adj" fmla="val 10526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4"/>
          <p:cNvSpPr/>
          <p:nvPr/>
        </p:nvSpPr>
        <p:spPr>
          <a:xfrm>
            <a:off x="822960" y="1097280"/>
            <a:ext cx="1645560" cy="1645560"/>
          </a:xfrm>
          <a:solidFill>
            <a:srgbClr val="0a0e1a"/>
          </a:solidFill>
          <a:ln w="12700">
            <a:solidFill>
              <a:srgbClr val="0a0e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15"/>
          <p:cNvSpPr/>
          <p:nvPr/>
        </p:nvSpPr>
        <p:spPr>
          <a:xfrm>
            <a:off x="960120" y="160020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€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1M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Seed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Shape 16"/>
          <p:cNvSpPr/>
          <p:nvPr/>
        </p:nvSpPr>
        <p:spPr>
          <a:xfrm>
            <a:off x="3931920" y="1874520"/>
            <a:ext cx="804636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17"/>
          <p:cNvSpPr/>
          <p:nvPr/>
        </p:nvSpPr>
        <p:spPr>
          <a:xfrm>
            <a:off x="3931920" y="2075760"/>
            <a:ext cx="228240" cy="548280"/>
          </a:xfrm>
          <a:prstGeom prst="roundRect">
            <a:avLst>
              <a:gd name="adj" fmla="val 24000"/>
            </a:avLst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18"/>
          <p:cNvSpPr/>
          <p:nvPr/>
        </p:nvSpPr>
        <p:spPr>
          <a:xfrm>
            <a:off x="4316040" y="1984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ff"/>
                </a:solidFill>
                <a:latin typeface="Arial"/>
                <a:ea typeface="Arial"/>
              </a:rPr>
              <a:t>Producto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19"/>
          <p:cNvSpPr/>
          <p:nvPr/>
        </p:nvSpPr>
        <p:spPr>
          <a:xfrm>
            <a:off x="8686800" y="1984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€</a:t>
            </a:r>
            <a:r>
              <a:rPr b="1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350K  ·  35%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20"/>
          <p:cNvSpPr/>
          <p:nvPr/>
        </p:nvSpPr>
        <p:spPr>
          <a:xfrm>
            <a:off x="4316040" y="236844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Equipo técnico · Base Maestra · IA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21"/>
          <p:cNvSpPr/>
          <p:nvPr/>
        </p:nvSpPr>
        <p:spPr>
          <a:xfrm>
            <a:off x="3931920" y="3017520"/>
            <a:ext cx="804636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Shape 22"/>
          <p:cNvSpPr/>
          <p:nvPr/>
        </p:nvSpPr>
        <p:spPr>
          <a:xfrm>
            <a:off x="3931920" y="3218760"/>
            <a:ext cx="228240" cy="548280"/>
          </a:xfrm>
          <a:prstGeom prst="roundRect">
            <a:avLst>
              <a:gd name="adj" fmla="val 24000"/>
            </a:avLst>
          </a:prstGeom>
          <a:solidFill>
            <a:srgbClr val="f0b429"/>
          </a:solidFill>
          <a:ln w="12700">
            <a:solidFill>
              <a:srgbClr val="f0b4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23"/>
          <p:cNvSpPr/>
          <p:nvPr/>
        </p:nvSpPr>
        <p:spPr>
          <a:xfrm>
            <a:off x="4316040" y="3127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0b429"/>
                </a:solidFill>
                <a:latin typeface="Arial"/>
                <a:ea typeface="Arial"/>
              </a:rPr>
              <a:t>Ventas &amp; Partnerships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24"/>
          <p:cNvSpPr/>
          <p:nvPr/>
        </p:nvSpPr>
        <p:spPr>
          <a:xfrm>
            <a:off x="8686800" y="3127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€</a:t>
            </a: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300K  ·  30%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25"/>
          <p:cNvSpPr/>
          <p:nvPr/>
        </p:nvSpPr>
        <p:spPr>
          <a:xfrm>
            <a:off x="4316040" y="351144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Head of Sales · Canal asociaciones · CRM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26"/>
          <p:cNvSpPr/>
          <p:nvPr/>
        </p:nvSpPr>
        <p:spPr>
          <a:xfrm>
            <a:off x="3931920" y="4160520"/>
            <a:ext cx="804636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27"/>
          <p:cNvSpPr/>
          <p:nvPr/>
        </p:nvSpPr>
        <p:spPr>
          <a:xfrm>
            <a:off x="3931920" y="4361760"/>
            <a:ext cx="228240" cy="548280"/>
          </a:xfrm>
          <a:prstGeom prst="roundRect">
            <a:avLst>
              <a:gd name="adj" fmla="val 24000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28"/>
          <p:cNvSpPr/>
          <p:nvPr/>
        </p:nvSpPr>
        <p:spPr>
          <a:xfrm>
            <a:off x="4316040" y="4270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Arial"/>
                <a:ea typeface="Arial"/>
              </a:rPr>
              <a:t>Operaciones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29"/>
          <p:cNvSpPr/>
          <p:nvPr/>
        </p:nvSpPr>
        <p:spPr>
          <a:xfrm>
            <a:off x="8686800" y="4270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€</a:t>
            </a: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200K  ·  20%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30"/>
          <p:cNvSpPr/>
          <p:nvPr/>
        </p:nvSpPr>
        <p:spPr>
          <a:xfrm>
            <a:off x="4316040" y="465444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Infraestructura · Legal · Finance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31"/>
          <p:cNvSpPr/>
          <p:nvPr/>
        </p:nvSpPr>
        <p:spPr>
          <a:xfrm>
            <a:off x="3931920" y="5303520"/>
            <a:ext cx="8046360" cy="987120"/>
          </a:xfrm>
          <a:prstGeom prst="roundRect">
            <a:avLst>
              <a:gd name="adj" fmla="val 9259"/>
            </a:avLst>
          </a:prstGeom>
          <a:solidFill>
            <a:srgbClr val="111827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32"/>
          <p:cNvSpPr/>
          <p:nvPr/>
        </p:nvSpPr>
        <p:spPr>
          <a:xfrm>
            <a:off x="3931920" y="5504760"/>
            <a:ext cx="228240" cy="548280"/>
          </a:xfrm>
          <a:prstGeom prst="roundRect">
            <a:avLst>
              <a:gd name="adj" fmla="val 24000"/>
            </a:avLst>
          </a:prstGeom>
          <a:solidFill>
            <a:srgbClr val="2e7dd1"/>
          </a:solidFill>
          <a:ln w="127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33"/>
          <p:cNvSpPr/>
          <p:nvPr/>
        </p:nvSpPr>
        <p:spPr>
          <a:xfrm>
            <a:off x="4316040" y="54133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d1"/>
                </a:solidFill>
                <a:latin typeface="Arial"/>
                <a:ea typeface="Arial"/>
              </a:rPr>
              <a:t>Marketing &amp; Growth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34"/>
          <p:cNvSpPr/>
          <p:nvPr/>
        </p:nvSpPr>
        <p:spPr>
          <a:xfrm>
            <a:off x="8686800" y="5413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d1"/>
                </a:solidFill>
                <a:latin typeface="Arial"/>
                <a:ea typeface="Arial"/>
              </a:rPr>
              <a:t>€</a:t>
            </a:r>
            <a:r>
              <a:rPr b="1" lang="en-US" sz="1400" spc="-1" strike="noStrike">
                <a:solidFill>
                  <a:srgbClr val="2e7dd1"/>
                </a:solidFill>
                <a:latin typeface="Arial"/>
                <a:ea typeface="Arial"/>
              </a:rPr>
              <a:t>150K  ·  15%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35"/>
          <p:cNvSpPr/>
          <p:nvPr/>
        </p:nvSpPr>
        <p:spPr>
          <a:xfrm>
            <a:off x="4316040" y="579744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a3af"/>
                </a:solidFill>
                <a:latin typeface="Arial"/>
                <a:ea typeface="Arial"/>
              </a:rPr>
              <a:t>Contenidos · SEO · Eventos sector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36"/>
          <p:cNvSpPr/>
          <p:nvPr/>
        </p:nvSpPr>
        <p:spPr>
          <a:xfrm>
            <a:off x="274320" y="5742360"/>
            <a:ext cx="11639880" cy="1298160"/>
          </a:xfrm>
          <a:prstGeom prst="roundRect">
            <a:avLst>
              <a:gd name="adj" fmla="val 8451"/>
            </a:avLst>
          </a:prstGeom>
          <a:solidFill>
            <a:srgbClr val="001a08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37"/>
          <p:cNvSpPr/>
          <p:nvPr/>
        </p:nvSpPr>
        <p:spPr>
          <a:xfrm>
            <a:off x="502920" y="581544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Arial"/>
                <a:ea typeface="Arial"/>
              </a:rPr>
              <a:t>Con esta ronda conseguiremos: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3" name="Image 1" descr="preencoded.png"/>
          <p:cNvPicPr/>
          <p:nvPr/>
        </p:nvPicPr>
        <p:blipFill>
          <a:blip r:embed="rId2"/>
          <a:stretch/>
        </p:blipFill>
        <p:spPr>
          <a:xfrm>
            <a:off x="502920" y="6236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14" name="Text 38"/>
          <p:cNvSpPr/>
          <p:nvPr/>
        </p:nvSpPr>
        <p:spPr>
          <a:xfrm>
            <a:off x="831960" y="61995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1.000 clientes de pago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5" name="Image 2" descr="preencoded.png"/>
          <p:cNvPicPr/>
          <p:nvPr/>
        </p:nvPicPr>
        <p:blipFill>
          <a:blip r:embed="rId3"/>
          <a:stretch/>
        </p:blipFill>
        <p:spPr>
          <a:xfrm>
            <a:off x="502920" y="65836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16" name="Text 39"/>
          <p:cNvSpPr/>
          <p:nvPr/>
        </p:nvSpPr>
        <p:spPr>
          <a:xfrm>
            <a:off x="831960" y="65469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Marketplace activo con pedido de material desde presupuesto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7" name="Image 3" descr="preencoded.png"/>
          <p:cNvPicPr/>
          <p:nvPr/>
        </p:nvPicPr>
        <p:blipFill>
          <a:blip r:embed="rId4"/>
          <a:stretch/>
        </p:blipFill>
        <p:spPr>
          <a:xfrm>
            <a:off x="502920" y="69310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18" name="Text 40"/>
          <p:cNvSpPr/>
          <p:nvPr/>
        </p:nvSpPr>
        <p:spPr>
          <a:xfrm>
            <a:off x="831960" y="689472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3 distribuidores integrados en catálogo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9" name="Image 4" descr="preencoded.png"/>
          <p:cNvPicPr/>
          <p:nvPr/>
        </p:nvPicPr>
        <p:blipFill>
          <a:blip r:embed="rId5"/>
          <a:stretch/>
        </p:blipFill>
        <p:spPr>
          <a:xfrm>
            <a:off x="6537960" y="6236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20" name="Text 41"/>
          <p:cNvSpPr/>
          <p:nvPr/>
        </p:nvSpPr>
        <p:spPr>
          <a:xfrm>
            <a:off x="6867000" y="61995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2 acuerdos de asociación (CONAIF / FENIE)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1" name="Image 5" descr="preencoded.png"/>
          <p:cNvPicPr/>
          <p:nvPr/>
        </p:nvPicPr>
        <p:blipFill>
          <a:blip r:embed="rId6"/>
          <a:stretch/>
        </p:blipFill>
        <p:spPr>
          <a:xfrm>
            <a:off x="6537960" y="65836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22" name="Text 42"/>
          <p:cNvSpPr/>
          <p:nvPr/>
        </p:nvSpPr>
        <p:spPr>
          <a:xfrm>
            <a:off x="6867000" y="6546960"/>
            <a:ext cx="5486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ARR &gt; €500K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Text 43"/>
          <p:cNvSpPr/>
          <p:nvPr/>
        </p:nvSpPr>
        <p:spPr>
          <a:xfrm>
            <a:off x="274320" y="7113960"/>
            <a:ext cx="11639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Complementario (no dilutivo): ENISA €75K · Kit Digital como Agente Digitalizador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725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LA VISIÓN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17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Text 3"/>
          <p:cNvSpPr/>
          <p:nvPr/>
        </p:nvSpPr>
        <p:spPr>
          <a:xfrm>
            <a:off x="274320" y="914400"/>
            <a:ext cx="11639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¿Por qué TrabFlow puede ser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"/>
                <a:ea typeface="Arial"/>
              </a:rPr>
              <a:t>una compañía de €100M+?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4"/>
          <p:cNvSpPr/>
          <p:nvPr/>
        </p:nvSpPr>
        <p:spPr>
          <a:xfrm>
            <a:off x="274320" y="214884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0" name="Image 1" descr="preencoded.png"/>
          <p:cNvPicPr/>
          <p:nvPr/>
        </p:nvPicPr>
        <p:blipFill>
          <a:blip r:embed="rId2"/>
          <a:stretch/>
        </p:blipFill>
        <p:spPr>
          <a:xfrm>
            <a:off x="475560" y="27432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731" name="Text 5"/>
          <p:cNvSpPr/>
          <p:nvPr/>
        </p:nvSpPr>
        <p:spPr>
          <a:xfrm>
            <a:off x="1024200" y="231336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Mercado validado por comparables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6"/>
          <p:cNvSpPr/>
          <p:nvPr/>
        </p:nvSpPr>
        <p:spPr>
          <a:xfrm>
            <a:off x="1024200" y="269748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ServiceTitan (EEUU): $9.500M. Jobber: $1.500M. Housecall Pro: $380M. Mismo modelo, mismo vertical. La diferencia: nadie lo ha construido en España ni LATAM.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7"/>
          <p:cNvSpPr/>
          <p:nvPr/>
        </p:nvSpPr>
        <p:spPr>
          <a:xfrm>
            <a:off x="274320" y="404172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4" name="Image 2" descr="preencoded.png"/>
          <p:cNvPicPr/>
          <p:nvPr/>
        </p:nvPicPr>
        <p:blipFill>
          <a:blip r:embed="rId3"/>
          <a:stretch/>
        </p:blipFill>
        <p:spPr>
          <a:xfrm>
            <a:off x="475560" y="46360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735" name="Text 8"/>
          <p:cNvSpPr/>
          <p:nvPr/>
        </p:nvSpPr>
        <p:spPr>
          <a:xfrm>
            <a:off x="1024200" y="420624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Moat de datos que crece solo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1024200" y="459036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Cada presupuesto generado mejora el catálogo, los precios de referencia y la precisión de la IA para todos los usuarios. El producto mejora sin coste incremental.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6263640" y="214884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8" name="Image 3" descr="preencoded.png"/>
          <p:cNvPicPr/>
          <p:nvPr/>
        </p:nvPicPr>
        <p:blipFill>
          <a:blip r:embed="rId4"/>
          <a:stretch/>
        </p:blipFill>
        <p:spPr>
          <a:xfrm>
            <a:off x="6464880" y="27432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739" name="Text 11"/>
          <p:cNvSpPr/>
          <p:nvPr/>
        </p:nvSpPr>
        <p:spPr>
          <a:xfrm>
            <a:off x="7013520" y="231336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Arial"/>
                <a:ea typeface="Arial"/>
              </a:rPr>
              <a:t>Plataforma, no producto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12"/>
          <p:cNvSpPr/>
          <p:nvPr/>
        </p:nvSpPr>
        <p:spPr>
          <a:xfrm>
            <a:off x="7013520" y="269748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TrabFlow no es un gestor de facturas. Es la capa de datos del instalador: presupuestos, materiales, proveedores, normativa, contratos, historial. Una infraestructura.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13"/>
          <p:cNvSpPr/>
          <p:nvPr/>
        </p:nvSpPr>
        <p:spPr>
          <a:xfrm>
            <a:off x="6263640" y="4041720"/>
            <a:ext cx="5668920" cy="162720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2" name="Image 4" descr="preencoded.png"/>
          <p:cNvPicPr/>
          <p:nvPr/>
        </p:nvPicPr>
        <p:blipFill>
          <a:blip r:embed="rId5"/>
          <a:stretch/>
        </p:blipFill>
        <p:spPr>
          <a:xfrm>
            <a:off x="6464880" y="46360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743" name="Text 14"/>
          <p:cNvSpPr/>
          <p:nvPr/>
        </p:nvSpPr>
        <p:spPr>
          <a:xfrm>
            <a:off x="7013520" y="4206240"/>
            <a:ext cx="4708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0b429"/>
                </a:solidFill>
                <a:latin typeface="Arial"/>
                <a:ea typeface="Arial"/>
              </a:rPr>
              <a:t>Expansión sin fricción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15"/>
          <p:cNvSpPr/>
          <p:nvPr/>
        </p:nvSpPr>
        <p:spPr>
          <a:xfrm>
            <a:off x="7013520" y="4590360"/>
            <a:ext cx="4708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El Vertical Playbook de TrabFlow permite añadir nuevos oficios (VE, fotovoltaica, gas, PCI) con el mismo motor. LATAM replica el modelo sin construir desde cero.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6"/>
          <p:cNvSpPr/>
          <p:nvPr/>
        </p:nvSpPr>
        <p:spPr>
          <a:xfrm>
            <a:off x="274320" y="5687640"/>
            <a:ext cx="11639880" cy="987120"/>
          </a:xfrm>
          <a:prstGeom prst="roundRect">
            <a:avLst>
              <a:gd name="adj" fmla="val 11111"/>
            </a:avLst>
          </a:prstGeom>
          <a:solidFill>
            <a:srgbClr val="001020"/>
          </a:solidFill>
          <a:ln w="1905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17"/>
          <p:cNvSpPr/>
          <p:nvPr/>
        </p:nvSpPr>
        <p:spPr>
          <a:xfrm>
            <a:off x="457200" y="5760720"/>
            <a:ext cx="1127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9ca3af"/>
                </a:solidFill>
                <a:latin typeface="Arial"/>
                <a:ea typeface="Arial"/>
              </a:rPr>
              <a:t>Dentro de diez años, TrabFlow será para el instalador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18"/>
          <p:cNvSpPr/>
          <p:nvPr/>
        </p:nvSpPr>
        <p:spPr>
          <a:xfrm>
            <a:off x="457200" y="6126480"/>
            <a:ext cx="11274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c8ff"/>
                </a:solidFill>
                <a:latin typeface="Arial"/>
                <a:ea typeface="Arial"/>
              </a:rPr>
              <a:t>lo que Shopify es para el comercio.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Image 0" descr="preencoded.png"/>
          <p:cNvPicPr/>
          <p:nvPr/>
        </p:nvPicPr>
        <p:blipFill>
          <a:blip r:embed="rId1"/>
          <a:stretch/>
        </p:blipFill>
        <p:spPr>
          <a:xfrm>
            <a:off x="274320" y="164520"/>
            <a:ext cx="1954440" cy="502560"/>
          </a:xfrm>
          <a:prstGeom prst="rect">
            <a:avLst/>
          </a:prstGeom>
          <a:ln w="0">
            <a:noFill/>
          </a:ln>
        </p:spPr>
      </p:pic>
      <p:sp>
        <p:nvSpPr>
          <p:cNvPr id="749" name="Text 0"/>
          <p:cNvSpPr/>
          <p:nvPr/>
        </p:nvSpPr>
        <p:spPr>
          <a:xfrm>
            <a:off x="274320" y="2012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00c8ff"/>
                </a:solidFill>
                <a:latin typeface="Arial"/>
                <a:ea typeface="Arial"/>
              </a:rPr>
              <a:t>EQUIPO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1"/>
          <p:cNvSpPr/>
          <p:nvPr/>
        </p:nvSpPr>
        <p:spPr>
          <a:xfrm>
            <a:off x="11183040" y="65106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Arial"/>
                <a:ea typeface="Arial"/>
              </a:rPr>
              <a:t>18 / 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"/>
          <p:cNvSpPr/>
          <p:nvPr/>
        </p:nvSpPr>
        <p:spPr>
          <a:xfrm>
            <a:off x="274320" y="749880"/>
            <a:ext cx="11639880" cy="1800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3"/>
          <p:cNvSpPr/>
          <p:nvPr/>
        </p:nvSpPr>
        <p:spPr>
          <a:xfrm>
            <a:off x="274320" y="914400"/>
            <a:ext cx="116398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  <a:ea typeface="Arial"/>
              </a:rPr>
              <a:t>El fundador. El producto. Lo que viene.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4"/>
          <p:cNvSpPr/>
          <p:nvPr/>
        </p:nvSpPr>
        <p:spPr>
          <a:xfrm>
            <a:off x="274320" y="1627560"/>
            <a:ext cx="11639880" cy="1965600"/>
          </a:xfrm>
          <a:prstGeom prst="roundRect">
            <a:avLst>
              <a:gd name="adj" fmla="val 6512"/>
            </a:avLst>
          </a:prstGeom>
          <a:solidFill>
            <a:srgbClr val="111827"/>
          </a:solidFill>
          <a:ln w="0">
            <a:noFill/>
          </a:ln>
          <a:effectLst>
            <a:outerShdw algn="bl" blurRad="152280" dir="5400000" dist="633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5"/>
          <p:cNvSpPr/>
          <p:nvPr/>
        </p:nvSpPr>
        <p:spPr>
          <a:xfrm>
            <a:off x="548640" y="1828800"/>
            <a:ext cx="1416960" cy="1416960"/>
          </a:xfrm>
          <a:solidFill>
            <a:srgbClr val="1a3a5c"/>
          </a:solidFill>
          <a:ln w="25400">
            <a:solidFill>
              <a:srgbClr val="2e7d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6"/>
          <p:cNvSpPr/>
          <p:nvPr/>
        </p:nvSpPr>
        <p:spPr>
          <a:xfrm>
            <a:off x="548640" y="2148840"/>
            <a:ext cx="1416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FC</a:t>
            </a: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7"/>
          <p:cNvSpPr/>
          <p:nvPr/>
        </p:nvSpPr>
        <p:spPr>
          <a:xfrm>
            <a:off x="2240280" y="178308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Fernando Carbonell Cabo</a:t>
            </a:r>
            <a:endParaRPr b="0" lang="es-E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8"/>
          <p:cNvSpPr/>
          <p:nvPr/>
        </p:nvSpPr>
        <p:spPr>
          <a:xfrm>
            <a:off x="2240280" y="21488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c8ff"/>
                </a:solidFill>
                <a:latin typeface="Arial"/>
                <a:ea typeface="Arial"/>
              </a:rPr>
              <a:t>Fundador · TrabFlow Technologies, S.L.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9"/>
          <p:cNvSpPr/>
          <p:nvPr/>
        </p:nvSpPr>
        <p:spPr>
          <a:xfrm>
            <a:off x="2240280" y="2468880"/>
            <a:ext cx="9417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ca3af"/>
                </a:solidFill>
                <a:latin typeface="Arial"/>
                <a:ea typeface="Arial"/>
              </a:rPr>
              <a:t>Ha construido íntegramente la primera versión funcional de TrabFlow, definiendo la arquitectura del producto, la Base Maestra y la estrategia de IA vertical, validando el modelo directamente con profesionales del sector.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 10"/>
          <p:cNvSpPr/>
          <p:nvPr/>
        </p:nvSpPr>
        <p:spPr>
          <a:xfrm>
            <a:off x="274320" y="374904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8ff"/>
                </a:solidFill>
                <a:latin typeface="Arial"/>
                <a:ea typeface="Arial"/>
              </a:rPr>
              <a:t>Validado en beta: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0" name="Image 1" descr="preencoded.png"/>
          <p:cNvPicPr/>
          <p:nvPr/>
        </p:nvPicPr>
        <p:blipFill>
          <a:blip r:embed="rId2"/>
          <a:stretch/>
        </p:blipFill>
        <p:spPr>
          <a:xfrm>
            <a:off x="274320" y="41148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61" name="Text 11"/>
          <p:cNvSpPr/>
          <p:nvPr/>
        </p:nvSpPr>
        <p:spPr>
          <a:xfrm>
            <a:off x="621720" y="409644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Beta avanzada en producción con datos reales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2" name="Image 2" descr="preencoded.png"/>
          <p:cNvPicPr/>
          <p:nvPr/>
        </p:nvPicPr>
        <p:blipFill>
          <a:blip r:embed="rId3"/>
          <a:stretch/>
        </p:blipFill>
        <p:spPr>
          <a:xfrm>
            <a:off x="274320" y="45352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63" name="Text 12"/>
          <p:cNvSpPr/>
          <p:nvPr/>
        </p:nvSpPr>
        <p:spPr>
          <a:xfrm>
            <a:off x="621720" y="451728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Base Maestra de 2.200+ actuaciones normalizadas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4" name="Image 3" descr="preencoded.png"/>
          <p:cNvPicPr/>
          <p:nvPr/>
        </p:nvPicPr>
        <p:blipFill>
          <a:blip r:embed="rId4"/>
          <a:stretch/>
        </p:blipFill>
        <p:spPr>
          <a:xfrm>
            <a:off x="274320" y="49561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65" name="Text 13"/>
          <p:cNvSpPr/>
          <p:nvPr/>
        </p:nvSpPr>
        <p:spPr>
          <a:xfrm>
            <a:off x="621720" y="493776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Flujo voz-a-factura en &lt; 3 minutos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6" name="Image 4" descr="preencoded.png"/>
          <p:cNvPicPr/>
          <p:nvPr/>
        </p:nvPicPr>
        <p:blipFill>
          <a:blip r:embed="rId5"/>
          <a:stretch/>
        </p:blipFill>
        <p:spPr>
          <a:xfrm>
            <a:off x="274320" y="53766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67" name="Text 14"/>
          <p:cNvSpPr/>
          <p:nvPr/>
        </p:nvSpPr>
        <p:spPr>
          <a:xfrm>
            <a:off x="621720" y="535824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Modelo financiero reconciliado disponible bajo NDA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15"/>
          <p:cNvSpPr/>
          <p:nvPr/>
        </p:nvSpPr>
        <p:spPr>
          <a:xfrm>
            <a:off x="6583680" y="3749040"/>
            <a:ext cx="5303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0b429"/>
                </a:solidFill>
                <a:latin typeface="Arial"/>
                <a:ea typeface="Arial"/>
              </a:rPr>
              <a:t>Próximas incorporaciones: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6"/>
          <p:cNvSpPr/>
          <p:nvPr/>
        </p:nvSpPr>
        <p:spPr>
          <a:xfrm>
            <a:off x="6583680" y="4114800"/>
            <a:ext cx="5303160" cy="658080"/>
          </a:xfrm>
          <a:prstGeom prst="roundRect">
            <a:avLst>
              <a:gd name="adj" fmla="val 11111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Text 17"/>
          <p:cNvSpPr/>
          <p:nvPr/>
        </p:nvSpPr>
        <p:spPr>
          <a:xfrm>
            <a:off x="6766560" y="41695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CTO / Lead Engineer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18"/>
          <p:cNvSpPr/>
          <p:nvPr/>
        </p:nvSpPr>
        <p:spPr>
          <a:xfrm>
            <a:off x="6766560" y="446220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Arquitectura de producción y escala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19"/>
          <p:cNvSpPr/>
          <p:nvPr/>
        </p:nvSpPr>
        <p:spPr>
          <a:xfrm>
            <a:off x="6583680" y="4919400"/>
            <a:ext cx="5303160" cy="658080"/>
          </a:xfrm>
          <a:prstGeom prst="roundRect">
            <a:avLst>
              <a:gd name="adj" fmla="val 11111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Text 20"/>
          <p:cNvSpPr/>
          <p:nvPr/>
        </p:nvSpPr>
        <p:spPr>
          <a:xfrm>
            <a:off x="6766560" y="49744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Head of Sales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21"/>
          <p:cNvSpPr/>
          <p:nvPr/>
        </p:nvSpPr>
        <p:spPr>
          <a:xfrm>
            <a:off x="6766560" y="526680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Canal PYME + asociaciones del sector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22"/>
          <p:cNvSpPr/>
          <p:nvPr/>
        </p:nvSpPr>
        <p:spPr>
          <a:xfrm>
            <a:off x="6583680" y="5724000"/>
            <a:ext cx="5303160" cy="658080"/>
          </a:xfrm>
          <a:prstGeom prst="roundRect">
            <a:avLst>
              <a:gd name="adj" fmla="val 11111"/>
            </a:avLst>
          </a:prstGeom>
          <a:solidFill>
            <a:srgbClr val="1a22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23"/>
          <p:cNvSpPr/>
          <p:nvPr/>
        </p:nvSpPr>
        <p:spPr>
          <a:xfrm>
            <a:off x="6766560" y="57790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rial"/>
                <a:ea typeface="Arial"/>
              </a:rPr>
              <a:t>Advisor sectorial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Text 24"/>
          <p:cNvSpPr/>
          <p:nvPr/>
        </p:nvSpPr>
        <p:spPr>
          <a:xfrm>
            <a:off x="6766560" y="607176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ca3af"/>
                </a:solidFill>
                <a:latin typeface="Arial"/>
                <a:ea typeface="Arial"/>
              </a:rPr>
              <a:t>Con red en FENIE, CONAIF o distribuidores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Shape 0"/>
          <p:cNvSpPr/>
          <p:nvPr/>
        </p:nvSpPr>
        <p:spPr>
          <a:xfrm>
            <a:off x="0" y="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Shape 1"/>
          <p:cNvSpPr/>
          <p:nvPr/>
        </p:nvSpPr>
        <p:spPr>
          <a:xfrm>
            <a:off x="0" y="4114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2"/>
          <p:cNvSpPr/>
          <p:nvPr/>
        </p:nvSpPr>
        <p:spPr>
          <a:xfrm>
            <a:off x="0" y="8229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3"/>
          <p:cNvSpPr/>
          <p:nvPr/>
        </p:nvSpPr>
        <p:spPr>
          <a:xfrm>
            <a:off x="0" y="12344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4"/>
          <p:cNvSpPr/>
          <p:nvPr/>
        </p:nvSpPr>
        <p:spPr>
          <a:xfrm>
            <a:off x="0" y="16459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5"/>
          <p:cNvSpPr/>
          <p:nvPr/>
        </p:nvSpPr>
        <p:spPr>
          <a:xfrm>
            <a:off x="0" y="20574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6"/>
          <p:cNvSpPr/>
          <p:nvPr/>
        </p:nvSpPr>
        <p:spPr>
          <a:xfrm>
            <a:off x="0" y="24688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0" y="28803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8"/>
          <p:cNvSpPr/>
          <p:nvPr/>
        </p:nvSpPr>
        <p:spPr>
          <a:xfrm>
            <a:off x="0" y="32918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9"/>
          <p:cNvSpPr/>
          <p:nvPr/>
        </p:nvSpPr>
        <p:spPr>
          <a:xfrm>
            <a:off x="0" y="37033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Shape 10"/>
          <p:cNvSpPr/>
          <p:nvPr/>
        </p:nvSpPr>
        <p:spPr>
          <a:xfrm>
            <a:off x="0" y="41148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11"/>
          <p:cNvSpPr/>
          <p:nvPr/>
        </p:nvSpPr>
        <p:spPr>
          <a:xfrm>
            <a:off x="0" y="45262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2"/>
          <p:cNvSpPr/>
          <p:nvPr/>
        </p:nvSpPr>
        <p:spPr>
          <a:xfrm>
            <a:off x="0" y="493776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3"/>
          <p:cNvSpPr/>
          <p:nvPr/>
        </p:nvSpPr>
        <p:spPr>
          <a:xfrm>
            <a:off x="0" y="534924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14"/>
          <p:cNvSpPr/>
          <p:nvPr/>
        </p:nvSpPr>
        <p:spPr>
          <a:xfrm>
            <a:off x="0" y="576072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15"/>
          <p:cNvSpPr/>
          <p:nvPr/>
        </p:nvSpPr>
        <p:spPr>
          <a:xfrm>
            <a:off x="0" y="617220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6"/>
          <p:cNvSpPr/>
          <p:nvPr/>
        </p:nvSpPr>
        <p:spPr>
          <a:xfrm>
            <a:off x="0" y="6583680"/>
            <a:ext cx="12188520" cy="8640"/>
          </a:xfrm>
          <a:prstGeom prst="rect">
            <a:avLst/>
          </a:prstGeom>
          <a:solidFill>
            <a:srgbClr val="1c2540"/>
          </a:solidFill>
          <a:ln w="12700">
            <a:solidFill>
              <a:srgbClr val="1c25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Shape 17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6" name="Image 0" descr="preencoded.png"/>
          <p:cNvPicPr/>
          <p:nvPr/>
        </p:nvPicPr>
        <p:blipFill>
          <a:blip r:embed="rId1"/>
          <a:stretch/>
        </p:blipFill>
        <p:spPr>
          <a:xfrm>
            <a:off x="4317120" y="567000"/>
            <a:ext cx="3553920" cy="914040"/>
          </a:xfrm>
          <a:prstGeom prst="rect">
            <a:avLst/>
          </a:prstGeom>
          <a:ln w="0">
            <a:noFill/>
          </a:ln>
        </p:spPr>
      </p:pic>
      <p:sp>
        <p:nvSpPr>
          <p:cNvPr id="797" name="Text 18"/>
          <p:cNvSpPr/>
          <p:nvPr/>
        </p:nvSpPr>
        <p:spPr>
          <a:xfrm>
            <a:off x="457200" y="1755720"/>
            <a:ext cx="1127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Arial"/>
                <a:ea typeface="Arial"/>
              </a:rPr>
              <a:t>¿Qué harían tus instaladores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19"/>
          <p:cNvSpPr/>
          <p:nvPr/>
        </p:nvSpPr>
        <p:spPr>
          <a:xfrm>
            <a:off x="457200" y="2377440"/>
            <a:ext cx="11274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00c8ff"/>
                </a:solidFill>
                <a:latin typeface="Arial"/>
                <a:ea typeface="Arial"/>
              </a:rPr>
              <a:t>con 40 horas más al mes?</a:t>
            </a:r>
            <a:endParaRPr b="0" lang="es-E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20"/>
          <p:cNvSpPr/>
          <p:nvPr/>
        </p:nvSpPr>
        <p:spPr>
          <a:xfrm>
            <a:off x="914400" y="3200400"/>
            <a:ext cx="1035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9ca3af"/>
                </a:solidFill>
                <a:latin typeface="Arial"/>
                <a:ea typeface="Arial"/>
              </a:rPr>
              <a:t>Mientras ellos instalan, TrabFlow gestiona el resto.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21"/>
          <p:cNvSpPr/>
          <p:nvPr/>
        </p:nvSpPr>
        <p:spPr>
          <a:xfrm>
            <a:off x="2286000" y="3840480"/>
            <a:ext cx="7616520" cy="1691280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19050">
            <a:solidFill>
              <a:srgbClr val="00c8ff"/>
            </a:solidFill>
            <a:round/>
          </a:ln>
          <a:effectLst>
            <a:outerShdw algn="bl" blurRad="190440" dir="5400000" dist="76320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22"/>
          <p:cNvSpPr/>
          <p:nvPr/>
        </p:nvSpPr>
        <p:spPr>
          <a:xfrm>
            <a:off x="2286000" y="4005000"/>
            <a:ext cx="7616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Solicitar demostración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23"/>
          <p:cNvSpPr/>
          <p:nvPr/>
        </p:nvSpPr>
        <p:spPr>
          <a:xfrm>
            <a:off x="2286000" y="4498920"/>
            <a:ext cx="7616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c8ff"/>
                </a:solidFill>
                <a:latin typeface="Arial"/>
                <a:ea typeface="Arial"/>
              </a:rPr>
              <a:t>trabflow.com  ·  fercarboc@gmail.com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24"/>
          <p:cNvSpPr/>
          <p:nvPr/>
        </p:nvSpPr>
        <p:spPr>
          <a:xfrm>
            <a:off x="2286000" y="4919400"/>
            <a:ext cx="761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b5563"/>
                </a:solidFill>
                <a:latin typeface="Arial"/>
                <a:ea typeface="Arial"/>
              </a:rPr>
              <a:t>TrabFlow Technologies, S.L.  ·  Majadahonda, Madrid  ·  2026</a:t>
            </a:r>
            <a:endParaRPr b="0" lang="es-E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25"/>
          <p:cNvSpPr/>
          <p:nvPr/>
        </p:nvSpPr>
        <p:spPr>
          <a:xfrm>
            <a:off x="0" y="6446520"/>
            <a:ext cx="1218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Arial"/>
                <a:ea typeface="Arial"/>
              </a:rPr>
              <a:t>Seed Round · €1M · Confidencial · NDA bajo solicitud</a:t>
            </a:r>
            <a:endParaRPr b="0" lang="es-E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LibreOffice/7.4.3.2$Windows_X86_64 LibreOffice_project/1048a8393ae2eeec98dff31b5c133c5f1d08b890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2026-06-25T10:39:29Z</dcterms:created>
  <dc:creator>Fernando Carbonell · TrabFlow Technologies</dc:creator>
  <dc:description/>
  <dc:language>es-ES</dc:language>
  <cp:lastModifiedBy/>
  <dcterms:modified xsi:type="dcterms:W3CDTF">2026-06-25T13:36:30Z</dcterms:modified>
  <cp:revision>3</cp:revision>
  <dc:subject>PptxGenJS Presentation</dc:subject>
  <dc:title>TrabFlow · Seed Round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