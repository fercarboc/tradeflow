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notesMasters/notesMaster1.xml" ContentType="application/vnd.openxmlformats-officedocument.presentationml.notesMaster+xml"/>
  <Override PartName="/ppt/notesMasters/_rels/notesMaster1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_rels/notesSlide1.xml.rels" ContentType="application/vnd.openxmlformats-package.relationships+xml"/>
  <Override PartName="/ppt/notesSlides/_rels/notesSlide2.xml.rels" ContentType="application/vnd.openxmlformats-package.relationships+xml"/>
  <Override PartName="/ppt/notesSlides/_rels/notesSlide3.xml.rels" ContentType="application/vnd.openxmlformats-package.relationships+xml"/>
  <Override PartName="/ppt/notesSlides/_rels/notesSlide4.xml.rels" ContentType="application/vnd.openxmlformats-package.relationships+xml"/>
  <Override PartName="/ppt/notesSlides/_rels/notesSlide5.xml.rels" ContentType="application/vnd.openxmlformats-package.relationships+xml"/>
  <Override PartName="/ppt/notesSlides/_rels/notesSlide6.xml.rels" ContentType="application/vnd.openxmlformats-package.relationships+xml"/>
  <Override PartName="/ppt/notesSlides/_rels/notesSlide7.xml.rels" ContentType="application/vnd.openxmlformats-package.relationships+xml"/>
  <Override PartName="/ppt/notesSlides/_rels/notesSlide8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13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media/image8.png" ContentType="image/png"/>
  <Override PartName="/ppt/media/image9.png" ContentType="image/png"/>
  <Override PartName="/ppt/media/image10.png" ContentType="image/png"/>
  <Override PartName="/ppt/media/image11.png" ContentType="image/png"/>
  <Override PartName="/ppt/media/image12.png" ContentType="image/png"/>
  <Override PartName="/ppt/media/image13.png" ContentType="image/png"/>
  <Override PartName="/ppt/media/image14.png" ContentType="image/png"/>
  <Override PartName="/ppt/media/image15.png" ContentType="image/png"/>
  <Override PartName="/ppt/media/image16.png" ContentType="image/png"/>
  <Override PartName="/ppt/media/image17.png" ContentType="image/png"/>
  <Override PartName="/ppt/media/image18.png" ContentType="image/png"/>
  <Override PartName="/ppt/media/image19.png" ContentType="image/png"/>
  <Override PartName="/ppt/media/image20.png" ContentType="image/png"/>
  <Override PartName="/ppt/media/image21.png" ContentType="image/png"/>
  <Override PartName="/ppt/media/image22.png" ContentType="image/png"/>
  <Override PartName="/ppt/presProps.xml" ContentType="application/vnd.openxmlformats-officedocument.presentationml.presProps+xml"/>
  <Override PartName="/ppt/_rels/presentation.xml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s-ES" sz="1800" spc="-1" strike="noStrike">
                <a:solidFill>
                  <a:srgbClr val="000000"/>
                </a:solidFill>
                <a:latin typeface="Calibri"/>
              </a:rPr>
              <a:t>Pulse para desplazar la diapositiva</a:t>
            </a:r>
            <a:endParaRPr b="0" lang="es-E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r>
              <a:rPr b="0" lang="es-ES" sz="2000" spc="-1" strike="noStrike">
                <a:solidFill>
                  <a:srgbClr val="000000"/>
                </a:solidFill>
                <a:latin typeface="Arial"/>
              </a:rPr>
              <a:t>Pulse para editar el formato de las notas</a:t>
            </a:r>
            <a:endParaRPr b="0" lang="es-E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s-ES" sz="1400" spc="-1" strike="noStrike">
                <a:solidFill>
                  <a:srgbClr val="000000"/>
                </a:solidFill>
                <a:latin typeface="Times New Roman"/>
              </a:rPr>
              <a:t>&lt;cabecera&gt;</a:t>
            </a:r>
            <a:endParaRPr b="0" lang="es-E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s-E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s-ES" sz="1400" spc="-1" strike="noStrike">
                <a:solidFill>
                  <a:srgbClr val="000000"/>
                </a:solidFill>
                <a:latin typeface="Times New Roman"/>
              </a:rPr>
              <a:t>&lt;fecha/hora&gt;</a:t>
            </a:r>
            <a:endParaRPr b="0" lang="es-E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s-E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s-ES" sz="1400" spc="-1" strike="noStrike">
                <a:solidFill>
                  <a:srgbClr val="000000"/>
                </a:solidFill>
                <a:latin typeface="Times New Roman"/>
              </a:rPr>
              <a:t>&lt;pie de página&gt;</a:t>
            </a:r>
            <a:endParaRPr b="0" lang="es-E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s-E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5C4C387D-84D9-4015-BAF0-0ADF6545FBF7}" type="slidenum">
              <a:rPr b="0" lang="es-ES" sz="1400" spc="-1" strike="noStrike">
                <a:solidFill>
                  <a:srgbClr val="000000"/>
                </a:solidFill>
                <a:latin typeface="Times New Roman"/>
              </a:rPr>
              <a:t>&lt;número&gt;</a:t>
            </a:fld>
            <a:endParaRPr b="0" lang="es-E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6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0">
              <a:buNone/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3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BB675F41-1C40-494D-B314-65971FC498E6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&lt;número&gt;</a:t>
            </a:fld>
            <a:endParaRPr b="0" lang="es-E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0">
              <a:buNone/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82A83955-7F11-4CB9-8E3C-F51689DE00C2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&lt;número&gt;</a:t>
            </a:fld>
            <a:endParaRPr b="0" lang="es-E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6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0">
              <a:buNone/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9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0AFBF6A2-55C7-4163-8446-B09723BE6256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&lt;número&gt;</a:t>
            </a:fld>
            <a:endParaRPr b="0" lang="es-E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7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0">
              <a:buNone/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2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7AD539DD-A19F-49EE-B941-2356CCA6EBBD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&lt;número&gt;</a:t>
            </a:fld>
            <a:endParaRPr b="0" lang="es-E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7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0">
              <a:buNone/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79BD9EED-E234-47F9-AA7A-37D6EBCC6E92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&lt;número&gt;</a:t>
            </a:fld>
            <a:endParaRPr b="0" lang="es-E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7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0">
              <a:buNone/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8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30110D92-3678-4AED-BD2F-BDB9006BA56C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&lt;número&gt;</a:t>
            </a:fld>
            <a:endParaRPr b="0" lang="es-E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8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0">
              <a:buNone/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1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8D3B10CA-B1C5-42AF-B1EE-BFBC9ADA229F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&lt;número&gt;</a:t>
            </a:fld>
            <a:endParaRPr b="0" lang="es-E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8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0">
              <a:buNone/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4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5AF3583F-3DF6-4406-A4E9-130B9081BDF3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&lt;número&gt;</a:t>
            </a:fld>
            <a:endParaRPr b="0" lang="es-E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8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0">
              <a:buNone/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7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A1FEF75F-26D1-45DB-8C05-DCFC4E4A1112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&lt;número&gt;</a:t>
            </a:fld>
            <a:endParaRPr b="0" lang="es-E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8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0">
              <a:buNone/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0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F338D60B-A6B3-4454-8A0A-0E437CC9B5A6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&lt;número&gt;</a:t>
            </a:fld>
            <a:endParaRPr b="0" lang="es-E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9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0">
              <a:buNone/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3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CC5D58DA-4EAC-41F2-A2A8-00DFF65DD98B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&lt;número&gt;</a:t>
            </a:fld>
            <a:endParaRPr b="0" lang="es-E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9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0">
              <a:buNone/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6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038C32CA-2BEE-4F4C-9234-E6784CBA9FBB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&lt;número&gt;</a:t>
            </a:fld>
            <a:endParaRPr b="0" lang="es-E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9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0">
              <a:buNone/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9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1156AB65-B8F1-4359-9F5F-A8A91550D716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&lt;número&gt;</a:t>
            </a:fld>
            <a:endParaRPr b="0" lang="es-E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s-E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s-E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s-E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E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s-E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E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E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s-ES" sz="18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s-E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s-E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E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E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E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s-E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E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E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E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s-E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E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E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E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s-E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E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E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s-E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E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E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E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E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s-E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E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E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E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E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E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E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s-ES" sz="1800" spc="-1" strike="noStrike">
                <a:solidFill>
                  <a:srgbClr val="000000"/>
                </a:solidFill>
                <a:latin typeface="Calibri"/>
              </a:rPr>
              <a:t>Pulse para editar el formato del texto de título</a:t>
            </a:r>
            <a:endParaRPr b="0" lang="es-E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3200" spc="-1" strike="noStrike">
                <a:solidFill>
                  <a:srgbClr val="000000"/>
                </a:solidFill>
                <a:latin typeface="Calibri"/>
              </a:rPr>
              <a:t>Pulse para editar el formato de texto del esquema</a:t>
            </a:r>
            <a:endParaRPr b="0" lang="es-ES" sz="3200" spc="-1" strike="noStrike">
              <a:solidFill>
                <a:srgbClr val="000000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ES" sz="2400" spc="-1" strike="noStrike">
                <a:solidFill>
                  <a:srgbClr val="000000"/>
                </a:solidFill>
                <a:latin typeface="Calibri"/>
              </a:rPr>
              <a:t>Segundo nivel del esquema</a:t>
            </a:r>
            <a:endParaRPr b="0" lang="es-ES" sz="2400" spc="-1" strike="noStrike">
              <a:solidFill>
                <a:srgbClr val="000000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2000" spc="-1" strike="noStrike">
                <a:solidFill>
                  <a:srgbClr val="000000"/>
                </a:solidFill>
                <a:latin typeface="Calibri"/>
              </a:rPr>
              <a:t>Tercer nivel del esquema</a:t>
            </a:r>
            <a:endParaRPr b="0" lang="es-ES" sz="2000" spc="-1" strike="noStrike">
              <a:solidFill>
                <a:srgbClr val="000000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ES" sz="2000" spc="-1" strike="noStrike">
                <a:solidFill>
                  <a:srgbClr val="000000"/>
                </a:solidFill>
                <a:latin typeface="Calibri"/>
              </a:rPr>
              <a:t>Cuarto nivel del esquema</a:t>
            </a:r>
            <a:endParaRPr b="0" lang="es-ES" sz="2000" spc="-1" strike="noStrike">
              <a:solidFill>
                <a:srgbClr val="000000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2000" spc="-1" strike="noStrike">
                <a:solidFill>
                  <a:srgbClr val="000000"/>
                </a:solidFill>
                <a:latin typeface="Calibri"/>
              </a:rPr>
              <a:t>Quinto nivel del esquema</a:t>
            </a:r>
            <a:endParaRPr b="0" lang="es-ES" sz="2000" spc="-1" strike="noStrike">
              <a:solidFill>
                <a:srgbClr val="000000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2000" spc="-1" strike="noStrike">
                <a:solidFill>
                  <a:srgbClr val="000000"/>
                </a:solidFill>
                <a:latin typeface="Calibri"/>
              </a:rPr>
              <a:t>Sexto nivel del esquema</a:t>
            </a:r>
            <a:endParaRPr b="0" lang="es-ES" sz="2000" spc="-1" strike="noStrike">
              <a:solidFill>
                <a:srgbClr val="000000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2000" spc="-1" strike="noStrike">
                <a:solidFill>
                  <a:srgbClr val="000000"/>
                </a:solidFill>
                <a:latin typeface="Calibri"/>
              </a:rPr>
              <a:t>Séptimo nivel del esquema</a:t>
            </a:r>
            <a:endParaRPr b="0" lang="es-ES" sz="20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3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.png"/><Relationship Id="rId5" Type="http://schemas.openxmlformats.org/officeDocument/2006/relationships/image" Target="../media/image2.png"/><Relationship Id="rId6" Type="http://schemas.openxmlformats.org/officeDocument/2006/relationships/image" Target="../media/image3.png"/><Relationship Id="rId7" Type="http://schemas.openxmlformats.org/officeDocument/2006/relationships/image" Target="../media/image5.png"/><Relationship Id="rId8" Type="http://schemas.openxmlformats.org/officeDocument/2006/relationships/image" Target="../media/image10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2.png"/><Relationship Id="rId3" Type="http://schemas.openxmlformats.org/officeDocument/2006/relationships/image" Target="../media/image12.png"/><Relationship Id="rId4" Type="http://schemas.openxmlformats.org/officeDocument/2006/relationships/image" Target="../media/image12.png"/><Relationship Id="rId5" Type="http://schemas.openxmlformats.org/officeDocument/2006/relationships/image" Target="../media/image12.png"/><Relationship Id="rId6" Type="http://schemas.openxmlformats.org/officeDocument/2006/relationships/image" Target="../media/image12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3.png"/><Relationship Id="rId3" Type="http://schemas.openxmlformats.org/officeDocument/2006/relationships/image" Target="../media/image13.png"/><Relationship Id="rId4" Type="http://schemas.openxmlformats.org/officeDocument/2006/relationships/image" Target="../media/image13.png"/><Relationship Id="rId5" Type="http://schemas.openxmlformats.org/officeDocument/2006/relationships/image" Target="../media/image13.png"/><Relationship Id="rId6" Type="http://schemas.openxmlformats.org/officeDocument/2006/relationships/image" Target="../media/image13.png"/><Relationship Id="rId7" Type="http://schemas.openxmlformats.org/officeDocument/2006/relationships/image" Target="../media/image13.png"/><Relationship Id="rId8" Type="http://schemas.openxmlformats.org/officeDocument/2006/relationships/image" Target="../media/image13.png"/><Relationship Id="rId9" Type="http://schemas.openxmlformats.org/officeDocument/2006/relationships/image" Target="../media/image13.png"/><Relationship Id="rId10" Type="http://schemas.openxmlformats.org/officeDocument/2006/relationships/image" Target="../media/image13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3.png"/><Relationship Id="rId3" Type="http://schemas.openxmlformats.org/officeDocument/2006/relationships/image" Target="../media/image13.png"/><Relationship Id="rId4" Type="http://schemas.openxmlformats.org/officeDocument/2006/relationships/image" Target="../media/image13.png"/><Relationship Id="rId5" Type="http://schemas.openxmlformats.org/officeDocument/2006/relationships/image" Target="../media/image13.png"/><Relationship Id="rId6" Type="http://schemas.openxmlformats.org/officeDocument/2006/relationships/image" Target="../media/image13.png"/><Relationship Id="rId7" Type="http://schemas.openxmlformats.org/officeDocument/2006/relationships/image" Target="../media/image13.png"/><Relationship Id="rId8" Type="http://schemas.openxmlformats.org/officeDocument/2006/relationships/image" Target="../media/image13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image" Target="../media/image21.png"/><Relationship Id="rId3" Type="http://schemas.openxmlformats.org/officeDocument/2006/relationships/image" Target="../media/image3.png"/><Relationship Id="rId4" Type="http://schemas.openxmlformats.org/officeDocument/2006/relationships/image" Target="../media/image17.png"/><Relationship Id="rId5" Type="http://schemas.openxmlformats.org/officeDocument/2006/relationships/image" Target="../media/image1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c25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Text 0"/>
          <p:cNvSpPr/>
          <p:nvPr/>
        </p:nvSpPr>
        <p:spPr>
          <a:xfrm>
            <a:off x="502920" y="45720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000" spc="398" strike="noStrike">
                <a:solidFill>
                  <a:srgbClr val="c8922a"/>
                </a:solidFill>
                <a:latin typeface="Calibri"/>
              </a:rPr>
              <a:t>DOSSIER COMERCIAL · 2026 · CONFIDENCIAL</a:t>
            </a:r>
            <a:endParaRPr b="0" lang="es-E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" name="Text 1"/>
          <p:cNvSpPr/>
          <p:nvPr/>
        </p:nvSpPr>
        <p:spPr>
          <a:xfrm>
            <a:off x="502920" y="1097280"/>
            <a:ext cx="548604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5600" spc="-1" strike="noStrike">
                <a:solidFill>
                  <a:srgbClr val="ffffff"/>
                </a:solidFill>
                <a:latin typeface="Cambria"/>
                <a:ea typeface="Cambria"/>
              </a:rPr>
              <a:t>TrabFlow AI</a:t>
            </a:r>
            <a:endParaRPr b="0" lang="es-ES" sz="5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" name="Text 2"/>
          <p:cNvSpPr/>
          <p:nvPr/>
        </p:nvSpPr>
        <p:spPr>
          <a:xfrm>
            <a:off x="502920" y="2423160"/>
            <a:ext cx="50288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30000"/>
              </a:lnSpc>
              <a:tabLst>
                <a:tab algn="l" pos="0"/>
              </a:tabLst>
            </a:pPr>
            <a:r>
              <a:rPr b="0" i="1" lang="en-US" sz="1700" spc="-1" strike="noStrike">
                <a:solidFill>
                  <a:srgbClr val="b0bec5"/>
                </a:solidFill>
                <a:latin typeface="Calibri"/>
              </a:rPr>
              <a:t>La inteligencia artificial que conecta al instalador</a:t>
            </a:r>
            <a:endParaRPr b="0" lang="es-ES" sz="17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30000"/>
              </a:lnSpc>
              <a:tabLst>
                <a:tab algn="l" pos="0"/>
              </a:tabLst>
            </a:pPr>
            <a:r>
              <a:rPr b="0" i="1" lang="en-US" sz="1700" spc="-1" strike="noStrike">
                <a:solidFill>
                  <a:srgbClr val="b0bec5"/>
                </a:solidFill>
                <a:latin typeface="Calibri"/>
              </a:rPr>
              <a:t>profesional con el proveedor de materiales.</a:t>
            </a:r>
            <a:endParaRPr b="0" lang="es-E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" name="Shape 3"/>
          <p:cNvSpPr/>
          <p:nvPr/>
        </p:nvSpPr>
        <p:spPr>
          <a:xfrm>
            <a:off x="5943600" y="1280160"/>
            <a:ext cx="2742840" cy="804240"/>
          </a:xfrm>
          <a:prstGeom prst="roundRect">
            <a:avLst>
              <a:gd name="adj" fmla="val 13636"/>
            </a:avLst>
          </a:prstGeom>
          <a:solidFill>
            <a:srgbClr val="263545"/>
          </a:solidFill>
          <a:ln w="12700">
            <a:solidFill>
              <a:srgbClr val="26354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" name="Text 4"/>
          <p:cNvSpPr/>
          <p:nvPr/>
        </p:nvSpPr>
        <p:spPr>
          <a:xfrm>
            <a:off x="6035040" y="1334880"/>
            <a:ext cx="25599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c8922a"/>
                </a:solidFill>
                <a:latin typeface="Cambria"/>
                <a:ea typeface="Cambria"/>
              </a:rPr>
              <a:t>650K</a:t>
            </a:r>
            <a:endParaRPr b="0" lang="es-E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" name="Text 5"/>
          <p:cNvSpPr/>
          <p:nvPr/>
        </p:nvSpPr>
        <p:spPr>
          <a:xfrm>
            <a:off x="6035040" y="1719000"/>
            <a:ext cx="25599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8fa4b5"/>
                </a:solidFill>
                <a:latin typeface="Calibri"/>
              </a:rPr>
              <a:t>instaladores en España</a:t>
            </a:r>
            <a:endParaRPr b="0" lang="es-E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" name="Shape 6"/>
          <p:cNvSpPr/>
          <p:nvPr/>
        </p:nvSpPr>
        <p:spPr>
          <a:xfrm>
            <a:off x="5943600" y="2267640"/>
            <a:ext cx="2742840" cy="804240"/>
          </a:xfrm>
          <a:prstGeom prst="roundRect">
            <a:avLst>
              <a:gd name="adj" fmla="val 13636"/>
            </a:avLst>
          </a:prstGeom>
          <a:solidFill>
            <a:srgbClr val="263545"/>
          </a:solidFill>
          <a:ln w="12700">
            <a:solidFill>
              <a:srgbClr val="26354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" name="Text 7"/>
          <p:cNvSpPr/>
          <p:nvPr/>
        </p:nvSpPr>
        <p:spPr>
          <a:xfrm>
            <a:off x="6035040" y="2322720"/>
            <a:ext cx="25599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c8922a"/>
                </a:solidFill>
                <a:latin typeface="Cambria"/>
                <a:ea typeface="Cambria"/>
              </a:rPr>
              <a:t>&lt; 3 min</a:t>
            </a:r>
            <a:endParaRPr b="0" lang="es-E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" name="Text 8"/>
          <p:cNvSpPr/>
          <p:nvPr/>
        </p:nvSpPr>
        <p:spPr>
          <a:xfrm>
            <a:off x="6035040" y="2706480"/>
            <a:ext cx="25599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8fa4b5"/>
                </a:solidFill>
                <a:latin typeface="Calibri"/>
              </a:rPr>
              <a:t>de voz a presupuesto</a:t>
            </a:r>
            <a:endParaRPr b="0" lang="es-E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" name="Shape 9"/>
          <p:cNvSpPr/>
          <p:nvPr/>
        </p:nvSpPr>
        <p:spPr>
          <a:xfrm>
            <a:off x="5943600" y="3255120"/>
            <a:ext cx="2742840" cy="804240"/>
          </a:xfrm>
          <a:prstGeom prst="roundRect">
            <a:avLst>
              <a:gd name="adj" fmla="val 13636"/>
            </a:avLst>
          </a:prstGeom>
          <a:solidFill>
            <a:srgbClr val="263545"/>
          </a:solidFill>
          <a:ln w="12700">
            <a:solidFill>
              <a:srgbClr val="26354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" name="Text 10"/>
          <p:cNvSpPr/>
          <p:nvPr/>
        </p:nvSpPr>
        <p:spPr>
          <a:xfrm>
            <a:off x="6035040" y="3310200"/>
            <a:ext cx="25599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c8922a"/>
                </a:solidFill>
                <a:latin typeface="Cambria"/>
                <a:ea typeface="Cambria"/>
              </a:rPr>
              <a:t>€</a:t>
            </a:r>
            <a:r>
              <a:rPr b="1" lang="en-US" sz="2200" spc="-1" strike="noStrike">
                <a:solidFill>
                  <a:srgbClr val="c8922a"/>
                </a:solidFill>
                <a:latin typeface="Cambria"/>
                <a:ea typeface="Cambria"/>
              </a:rPr>
              <a:t>11.5B</a:t>
            </a:r>
            <a:endParaRPr b="0" lang="es-E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" name="Text 11"/>
          <p:cNvSpPr/>
          <p:nvPr/>
        </p:nvSpPr>
        <p:spPr>
          <a:xfrm>
            <a:off x="6035040" y="3694320"/>
            <a:ext cx="25599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8fa4b5"/>
                </a:solidFill>
                <a:latin typeface="Calibri"/>
              </a:rPr>
              <a:t>mercado instalaciones</a:t>
            </a:r>
            <a:endParaRPr b="0" lang="es-E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" name="Shape 12"/>
          <p:cNvSpPr/>
          <p:nvPr/>
        </p:nvSpPr>
        <p:spPr>
          <a:xfrm>
            <a:off x="502920" y="3977640"/>
            <a:ext cx="2011320" cy="456840"/>
          </a:xfrm>
          <a:prstGeom prst="roundRect">
            <a:avLst>
              <a:gd name="adj" fmla="val 16000"/>
            </a:avLst>
          </a:prstGeom>
          <a:solidFill>
            <a:srgbClr val="1a5a96"/>
          </a:solidFill>
          <a:ln w="12700">
            <a:solidFill>
              <a:srgbClr val="1a5a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Text 13"/>
          <p:cNvSpPr/>
          <p:nvPr/>
        </p:nvSpPr>
        <p:spPr>
          <a:xfrm>
            <a:off x="502920" y="3977640"/>
            <a:ext cx="20113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</a:rPr>
              <a:t>× OBRAMAT</a:t>
            </a:r>
            <a:endParaRPr b="0" lang="es-E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Text 14"/>
          <p:cNvSpPr/>
          <p:nvPr/>
        </p:nvSpPr>
        <p:spPr>
          <a:xfrm>
            <a:off x="2697480" y="4114800"/>
            <a:ext cx="2285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5c7080"/>
                </a:solidFill>
                <a:latin typeface="Calibri"/>
              </a:rPr>
              <a:t>trabflow.com</a:t>
            </a:r>
            <a:endParaRPr b="0" lang="es-E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" name="Text 15"/>
          <p:cNvSpPr/>
          <p:nvPr/>
        </p:nvSpPr>
        <p:spPr>
          <a:xfrm>
            <a:off x="8046720" y="4846320"/>
            <a:ext cx="8226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6b7b8d"/>
                </a:solidFill>
                <a:latin typeface="Calibri"/>
              </a:rPr>
              <a:t>1 / 13</a:t>
            </a:r>
            <a:endParaRPr b="0" lang="es-E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" name="Text 16"/>
          <p:cNvSpPr/>
          <p:nvPr/>
        </p:nvSpPr>
        <p:spPr>
          <a:xfrm>
            <a:off x="457200" y="4846320"/>
            <a:ext cx="36572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6b7b8d"/>
                </a:solidFill>
                <a:latin typeface="Calibri"/>
              </a:rPr>
              <a:t>TrabFlow × OBRAMAT · Confidencial</a:t>
            </a:r>
            <a:endParaRPr b="0" lang="es-E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 0"/>
          <p:cNvSpPr/>
          <p:nvPr/>
        </p:nvSpPr>
        <p:spPr>
          <a:xfrm>
            <a:off x="502920" y="292680"/>
            <a:ext cx="8229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100" spc="398" strike="noStrike">
                <a:solidFill>
                  <a:srgbClr val="1a5a96"/>
                </a:solidFill>
                <a:latin typeface="Calibri"/>
              </a:rPr>
              <a:t>EL PROBLEMA</a:t>
            </a:r>
            <a:endParaRPr b="0" lang="es-E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Text 1"/>
          <p:cNvSpPr/>
          <p:nvPr/>
        </p:nvSpPr>
        <p:spPr>
          <a:xfrm>
            <a:off x="502920" y="594360"/>
            <a:ext cx="77720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1c2535"/>
                </a:solidFill>
                <a:latin typeface="Cambria"/>
                <a:ea typeface="Cambria"/>
              </a:rPr>
              <a:t>El instalador pierde 2–3 horas al día en burocracia.</a:t>
            </a:r>
            <a:endParaRPr b="0" lang="es-E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Shape 2"/>
          <p:cNvSpPr/>
          <p:nvPr/>
        </p:nvSpPr>
        <p:spPr>
          <a:xfrm>
            <a:off x="502920" y="1417320"/>
            <a:ext cx="2194200" cy="3245760"/>
          </a:xfrm>
          <a:prstGeom prst="roundRect">
            <a:avLst>
              <a:gd name="adj" fmla="val 6250"/>
            </a:avLst>
          </a:prstGeom>
          <a:solidFill>
            <a:srgbClr val="1c2535"/>
          </a:solidFill>
          <a:ln w="12700">
            <a:solidFill>
              <a:srgbClr val="1c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Text 3"/>
          <p:cNvSpPr/>
          <p:nvPr/>
        </p:nvSpPr>
        <p:spPr>
          <a:xfrm>
            <a:off x="502920" y="1600200"/>
            <a:ext cx="219420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US" sz="5400" spc="-1" strike="noStrike">
                <a:solidFill>
                  <a:srgbClr val="c8922a"/>
                </a:solidFill>
                <a:latin typeface="Cambria"/>
                <a:ea typeface="Cambria"/>
              </a:rPr>
              <a:t>2–3</a:t>
            </a:r>
            <a:endParaRPr b="0" lang="es-ES" sz="5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Text 4"/>
          <p:cNvSpPr/>
          <p:nvPr/>
        </p:nvSpPr>
        <p:spPr>
          <a:xfrm>
            <a:off x="548640" y="2606040"/>
            <a:ext cx="21027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25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8fa4b5"/>
                </a:solidFill>
                <a:latin typeface="Calibri"/>
              </a:rPr>
              <a:t>horas al día</a:t>
            </a:r>
            <a:endParaRPr b="0" lang="es-ES" sz="13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25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8fa4b5"/>
                </a:solidFill>
                <a:latin typeface="Calibri"/>
              </a:rPr>
              <a:t>en burocracia</a:t>
            </a:r>
            <a:endParaRPr b="0" lang="es-E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Text 5"/>
          <p:cNvSpPr/>
          <p:nvPr/>
        </p:nvSpPr>
        <p:spPr>
          <a:xfrm>
            <a:off x="548640" y="3429000"/>
            <a:ext cx="210276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20000"/>
              </a:lnSpc>
              <a:tabLst>
                <a:tab algn="l" pos="0"/>
              </a:tabLst>
            </a:pPr>
            <a:r>
              <a:rPr b="0" i="1" lang="en-US" sz="1050" spc="-1" strike="noStrike">
                <a:solidFill>
                  <a:srgbClr val="5c7080"/>
                </a:solidFill>
                <a:latin typeface="Calibri"/>
              </a:rPr>
              <a:t>Solo el 35% del tiempo</a:t>
            </a:r>
            <a:endParaRPr b="0" lang="es-ES" sz="105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20000"/>
              </a:lnSpc>
              <a:tabLst>
                <a:tab algn="l" pos="0"/>
              </a:tabLst>
            </a:pPr>
            <a:r>
              <a:rPr b="0" i="1" lang="en-US" sz="1050" spc="-1" strike="noStrike">
                <a:solidFill>
                  <a:srgbClr val="5c7080"/>
                </a:solidFill>
                <a:latin typeface="Calibri"/>
              </a:rPr>
              <a:t>del instalador es trabajo</a:t>
            </a:r>
            <a:endParaRPr b="0" lang="es-ES" sz="105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20000"/>
              </a:lnSpc>
              <a:tabLst>
                <a:tab algn="l" pos="0"/>
              </a:tabLst>
            </a:pPr>
            <a:r>
              <a:rPr b="0" i="1" lang="en-US" sz="1050" spc="-1" strike="noStrike">
                <a:solidFill>
                  <a:srgbClr val="5c7080"/>
                </a:solidFill>
                <a:latin typeface="Calibri"/>
              </a:rPr>
              <a:t>real. El 65% es gestión.</a:t>
            </a:r>
            <a:endParaRPr b="0" lang="es-E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Shape 6"/>
          <p:cNvSpPr/>
          <p:nvPr/>
        </p:nvSpPr>
        <p:spPr>
          <a:xfrm>
            <a:off x="3063240" y="1417320"/>
            <a:ext cx="1462680" cy="1234080"/>
          </a:xfrm>
          <a:prstGeom prst="roundRect">
            <a:avLst>
              <a:gd name="adj" fmla="val 7407"/>
            </a:avLst>
          </a:prstGeom>
          <a:solidFill>
            <a:srgbClr val="f4f5f7"/>
          </a:solidFill>
          <a:ln w="12700">
            <a:solidFill>
              <a:srgbClr val="f4f5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8" name="Image 0" descr="preencoded.png"/>
          <p:cNvPicPr/>
          <p:nvPr/>
        </p:nvPicPr>
        <p:blipFill>
          <a:blip r:embed="rId1"/>
          <a:stretch/>
        </p:blipFill>
        <p:spPr>
          <a:xfrm>
            <a:off x="3566160" y="1581840"/>
            <a:ext cx="411120" cy="411120"/>
          </a:xfrm>
          <a:prstGeom prst="rect">
            <a:avLst/>
          </a:prstGeom>
          <a:ln w="0">
            <a:noFill/>
          </a:ln>
        </p:spPr>
      </p:pic>
      <p:sp>
        <p:nvSpPr>
          <p:cNvPr id="69" name="Text 7"/>
          <p:cNvSpPr/>
          <p:nvPr/>
        </p:nvSpPr>
        <p:spPr>
          <a:xfrm>
            <a:off x="3108960" y="2075760"/>
            <a:ext cx="13712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1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1c2535"/>
                </a:solidFill>
                <a:latin typeface="Calibri"/>
              </a:rPr>
              <a:t>Buscar</a:t>
            </a:r>
            <a:endParaRPr b="0" lang="es-ES" sz="115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1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1c2535"/>
                </a:solidFill>
                <a:latin typeface="Calibri"/>
              </a:rPr>
              <a:t>referencias</a:t>
            </a:r>
            <a:endParaRPr b="0" lang="es-E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Shape 8"/>
          <p:cNvSpPr/>
          <p:nvPr/>
        </p:nvSpPr>
        <p:spPr>
          <a:xfrm>
            <a:off x="4754880" y="1417320"/>
            <a:ext cx="1462680" cy="1234080"/>
          </a:xfrm>
          <a:prstGeom prst="roundRect">
            <a:avLst>
              <a:gd name="adj" fmla="val 7407"/>
            </a:avLst>
          </a:prstGeom>
          <a:solidFill>
            <a:srgbClr val="f4f5f7"/>
          </a:solidFill>
          <a:ln w="12700">
            <a:solidFill>
              <a:srgbClr val="f4f5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1" name="Image 1" descr="preencoded.png"/>
          <p:cNvPicPr/>
          <p:nvPr/>
        </p:nvPicPr>
        <p:blipFill>
          <a:blip r:embed="rId2"/>
          <a:stretch/>
        </p:blipFill>
        <p:spPr>
          <a:xfrm>
            <a:off x="5257800" y="1581840"/>
            <a:ext cx="411120" cy="411120"/>
          </a:xfrm>
          <a:prstGeom prst="rect">
            <a:avLst/>
          </a:prstGeom>
          <a:ln w="0">
            <a:noFill/>
          </a:ln>
        </p:spPr>
      </p:pic>
      <p:sp>
        <p:nvSpPr>
          <p:cNvPr id="72" name="Text 9"/>
          <p:cNvSpPr/>
          <p:nvPr/>
        </p:nvSpPr>
        <p:spPr>
          <a:xfrm>
            <a:off x="4800600" y="2075760"/>
            <a:ext cx="13712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1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1c2535"/>
                </a:solidFill>
                <a:latin typeface="Calibri"/>
              </a:rPr>
              <a:t>Calcular</a:t>
            </a:r>
            <a:endParaRPr b="0" lang="es-ES" sz="115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1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1c2535"/>
                </a:solidFill>
                <a:latin typeface="Calibri"/>
              </a:rPr>
              <a:t>materiales</a:t>
            </a:r>
            <a:endParaRPr b="0" lang="es-E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Shape 10"/>
          <p:cNvSpPr/>
          <p:nvPr/>
        </p:nvSpPr>
        <p:spPr>
          <a:xfrm>
            <a:off x="6446520" y="1417320"/>
            <a:ext cx="1462680" cy="1234080"/>
          </a:xfrm>
          <a:prstGeom prst="roundRect">
            <a:avLst>
              <a:gd name="adj" fmla="val 7407"/>
            </a:avLst>
          </a:prstGeom>
          <a:solidFill>
            <a:srgbClr val="f4f5f7"/>
          </a:solidFill>
          <a:ln w="12700">
            <a:solidFill>
              <a:srgbClr val="f4f5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4" name="Image 2" descr="preencoded.png"/>
          <p:cNvPicPr/>
          <p:nvPr/>
        </p:nvPicPr>
        <p:blipFill>
          <a:blip r:embed="rId3"/>
          <a:stretch/>
        </p:blipFill>
        <p:spPr>
          <a:xfrm>
            <a:off x="6949440" y="1581840"/>
            <a:ext cx="411120" cy="411120"/>
          </a:xfrm>
          <a:prstGeom prst="rect">
            <a:avLst/>
          </a:prstGeom>
          <a:ln w="0">
            <a:noFill/>
          </a:ln>
        </p:spPr>
      </p:pic>
      <p:sp>
        <p:nvSpPr>
          <p:cNvPr id="75" name="Text 11"/>
          <p:cNvSpPr/>
          <p:nvPr/>
        </p:nvSpPr>
        <p:spPr>
          <a:xfrm>
            <a:off x="6492240" y="2075760"/>
            <a:ext cx="13712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1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1c2535"/>
                </a:solidFill>
                <a:latin typeface="Calibri"/>
              </a:rPr>
              <a:t>Hacer</a:t>
            </a:r>
            <a:endParaRPr b="0" lang="es-ES" sz="115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1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1c2535"/>
                </a:solidFill>
                <a:latin typeface="Calibri"/>
              </a:rPr>
              <a:t>presupuestos</a:t>
            </a:r>
            <a:endParaRPr b="0" lang="es-E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Shape 12"/>
          <p:cNvSpPr/>
          <p:nvPr/>
        </p:nvSpPr>
        <p:spPr>
          <a:xfrm>
            <a:off x="2468880" y="2788920"/>
            <a:ext cx="1462680" cy="1234080"/>
          </a:xfrm>
          <a:prstGeom prst="roundRect">
            <a:avLst>
              <a:gd name="adj" fmla="val 7407"/>
            </a:avLst>
          </a:prstGeom>
          <a:solidFill>
            <a:srgbClr val="f4f5f7"/>
          </a:solidFill>
          <a:ln w="12700">
            <a:solidFill>
              <a:srgbClr val="f4f5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7" name="Image 3" descr="preencoded.png"/>
          <p:cNvPicPr/>
          <p:nvPr/>
        </p:nvPicPr>
        <p:blipFill>
          <a:blip r:embed="rId4"/>
          <a:stretch/>
        </p:blipFill>
        <p:spPr>
          <a:xfrm>
            <a:off x="2971800" y="2953440"/>
            <a:ext cx="411120" cy="411120"/>
          </a:xfrm>
          <a:prstGeom prst="rect">
            <a:avLst/>
          </a:prstGeom>
          <a:ln w="0">
            <a:noFill/>
          </a:ln>
        </p:spPr>
      </p:pic>
      <p:sp>
        <p:nvSpPr>
          <p:cNvPr id="78" name="Text 13"/>
          <p:cNvSpPr/>
          <p:nvPr/>
        </p:nvSpPr>
        <p:spPr>
          <a:xfrm>
            <a:off x="2514600" y="3447360"/>
            <a:ext cx="13712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1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1c2535"/>
                </a:solidFill>
                <a:latin typeface="Calibri"/>
              </a:rPr>
              <a:t>Llamar al</a:t>
            </a:r>
            <a:endParaRPr b="0" lang="es-ES" sz="115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1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1c2535"/>
                </a:solidFill>
                <a:latin typeface="Calibri"/>
              </a:rPr>
              <a:t>almacén</a:t>
            </a:r>
            <a:endParaRPr b="0" lang="es-E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Shape 14"/>
          <p:cNvSpPr/>
          <p:nvPr/>
        </p:nvSpPr>
        <p:spPr>
          <a:xfrm>
            <a:off x="4069080" y="2788920"/>
            <a:ext cx="1462680" cy="1234080"/>
          </a:xfrm>
          <a:prstGeom prst="roundRect">
            <a:avLst>
              <a:gd name="adj" fmla="val 7407"/>
            </a:avLst>
          </a:prstGeom>
          <a:solidFill>
            <a:srgbClr val="f4f5f7"/>
          </a:solidFill>
          <a:ln w="12700">
            <a:solidFill>
              <a:srgbClr val="f4f5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0" name="Image 4" descr="preencoded.png"/>
          <p:cNvPicPr/>
          <p:nvPr/>
        </p:nvPicPr>
        <p:blipFill>
          <a:blip r:embed="rId5"/>
          <a:stretch/>
        </p:blipFill>
        <p:spPr>
          <a:xfrm>
            <a:off x="4572000" y="2953440"/>
            <a:ext cx="411120" cy="411120"/>
          </a:xfrm>
          <a:prstGeom prst="rect">
            <a:avLst/>
          </a:prstGeom>
          <a:ln w="0">
            <a:noFill/>
          </a:ln>
        </p:spPr>
      </p:pic>
      <p:sp>
        <p:nvSpPr>
          <p:cNvPr id="81" name="Text 15"/>
          <p:cNvSpPr/>
          <p:nvPr/>
        </p:nvSpPr>
        <p:spPr>
          <a:xfrm>
            <a:off x="4114800" y="3447360"/>
            <a:ext cx="13712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1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1c2535"/>
                </a:solidFill>
                <a:latin typeface="Calibri"/>
              </a:rPr>
              <a:t>Enviar PDFs</a:t>
            </a:r>
            <a:endParaRPr b="0" lang="es-ES" sz="115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1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1c2535"/>
                </a:solidFill>
                <a:latin typeface="Calibri"/>
              </a:rPr>
              <a:t>por WhatsApp</a:t>
            </a:r>
            <a:endParaRPr b="0" lang="es-E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Shape 16"/>
          <p:cNvSpPr/>
          <p:nvPr/>
        </p:nvSpPr>
        <p:spPr>
          <a:xfrm>
            <a:off x="5669280" y="2788920"/>
            <a:ext cx="1462680" cy="1234080"/>
          </a:xfrm>
          <a:prstGeom prst="roundRect">
            <a:avLst>
              <a:gd name="adj" fmla="val 7407"/>
            </a:avLst>
          </a:prstGeom>
          <a:solidFill>
            <a:srgbClr val="f4f5f7"/>
          </a:solidFill>
          <a:ln w="12700">
            <a:solidFill>
              <a:srgbClr val="f4f5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3" name="Image 5" descr="preencoded.png"/>
          <p:cNvPicPr/>
          <p:nvPr/>
        </p:nvPicPr>
        <p:blipFill>
          <a:blip r:embed="rId6"/>
          <a:stretch/>
        </p:blipFill>
        <p:spPr>
          <a:xfrm>
            <a:off x="6172200" y="2953440"/>
            <a:ext cx="411120" cy="411120"/>
          </a:xfrm>
          <a:prstGeom prst="rect">
            <a:avLst/>
          </a:prstGeom>
          <a:ln w="0">
            <a:noFill/>
          </a:ln>
        </p:spPr>
      </p:pic>
      <p:sp>
        <p:nvSpPr>
          <p:cNvPr id="84" name="Text 17"/>
          <p:cNvSpPr/>
          <p:nvPr/>
        </p:nvSpPr>
        <p:spPr>
          <a:xfrm>
            <a:off x="5715000" y="3447360"/>
            <a:ext cx="13712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1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1c2535"/>
                </a:solidFill>
                <a:latin typeface="Calibri"/>
              </a:rPr>
              <a:t>Gestionar</a:t>
            </a:r>
            <a:endParaRPr b="0" lang="es-ES" sz="115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1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1c2535"/>
                </a:solidFill>
                <a:latin typeface="Calibri"/>
              </a:rPr>
              <a:t>pedidos</a:t>
            </a:r>
            <a:endParaRPr b="0" lang="es-E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Shape 18"/>
          <p:cNvSpPr/>
          <p:nvPr/>
        </p:nvSpPr>
        <p:spPr>
          <a:xfrm>
            <a:off x="7269480" y="2788920"/>
            <a:ext cx="1462680" cy="1234080"/>
          </a:xfrm>
          <a:prstGeom prst="roundRect">
            <a:avLst>
              <a:gd name="adj" fmla="val 7407"/>
            </a:avLst>
          </a:prstGeom>
          <a:solidFill>
            <a:srgbClr val="f4f5f7"/>
          </a:solidFill>
          <a:ln w="12700">
            <a:solidFill>
              <a:srgbClr val="f4f5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6" name="Image 6" descr="preencoded.png"/>
          <p:cNvPicPr/>
          <p:nvPr/>
        </p:nvPicPr>
        <p:blipFill>
          <a:blip r:embed="rId7"/>
          <a:stretch/>
        </p:blipFill>
        <p:spPr>
          <a:xfrm>
            <a:off x="7772400" y="2953440"/>
            <a:ext cx="411120" cy="411120"/>
          </a:xfrm>
          <a:prstGeom prst="rect">
            <a:avLst/>
          </a:prstGeom>
          <a:ln w="0">
            <a:noFill/>
          </a:ln>
        </p:spPr>
      </p:pic>
      <p:sp>
        <p:nvSpPr>
          <p:cNvPr id="87" name="Text 19"/>
          <p:cNvSpPr/>
          <p:nvPr/>
        </p:nvSpPr>
        <p:spPr>
          <a:xfrm>
            <a:off x="7315200" y="3447360"/>
            <a:ext cx="13712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1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1c2535"/>
                </a:solidFill>
                <a:latin typeface="Calibri"/>
              </a:rPr>
              <a:t>Cobrar y</a:t>
            </a:r>
            <a:endParaRPr b="0" lang="es-ES" sz="115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1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1c2535"/>
                </a:solidFill>
                <a:latin typeface="Calibri"/>
              </a:rPr>
              <a:t>facturar</a:t>
            </a:r>
            <a:endParaRPr b="0" lang="es-E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Text 20"/>
          <p:cNvSpPr/>
          <p:nvPr/>
        </p:nvSpPr>
        <p:spPr>
          <a:xfrm>
            <a:off x="8046720" y="4846320"/>
            <a:ext cx="8226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9ba8b5"/>
                </a:solidFill>
                <a:latin typeface="Calibri"/>
              </a:rPr>
              <a:t>2 / 13</a:t>
            </a:r>
            <a:endParaRPr b="0" lang="es-E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Text 21"/>
          <p:cNvSpPr/>
          <p:nvPr/>
        </p:nvSpPr>
        <p:spPr>
          <a:xfrm>
            <a:off x="457200" y="4846320"/>
            <a:ext cx="36572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9ba8b5"/>
                </a:solidFill>
                <a:latin typeface="Calibri"/>
              </a:rPr>
              <a:t>TrabFlow × OBRAMAT · Confidencial</a:t>
            </a:r>
            <a:endParaRPr b="0" lang="es-E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c25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Text 0"/>
          <p:cNvSpPr/>
          <p:nvPr/>
        </p:nvSpPr>
        <p:spPr>
          <a:xfrm>
            <a:off x="502920" y="292680"/>
            <a:ext cx="8229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100" spc="398" strike="noStrike">
                <a:solidFill>
                  <a:srgbClr val="c8922a"/>
                </a:solidFill>
                <a:latin typeface="Calibri"/>
              </a:rPr>
              <a:t>LA OPORTUNIDAD</a:t>
            </a:r>
            <a:endParaRPr b="0" lang="es-E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" name="Text 1"/>
          <p:cNvSpPr/>
          <p:nvPr/>
        </p:nvSpPr>
        <p:spPr>
          <a:xfrm>
            <a:off x="502920" y="594360"/>
            <a:ext cx="82292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15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ffff"/>
                </a:solidFill>
                <a:latin typeface="Cambria"/>
                <a:ea typeface="Cambria"/>
              </a:rPr>
              <a:t>Un mercado enorme, invisible para los</a:t>
            </a:r>
            <a:endParaRPr b="0" lang="es-ES" sz="2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ffff"/>
                </a:solidFill>
                <a:latin typeface="Cambria"/>
                <a:ea typeface="Cambria"/>
              </a:rPr>
              <a:t>proveedores hasta hoy.</a:t>
            </a:r>
            <a:endParaRPr b="0" lang="es-E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Shape 2"/>
          <p:cNvSpPr/>
          <p:nvPr/>
        </p:nvSpPr>
        <p:spPr>
          <a:xfrm>
            <a:off x="502920" y="1691640"/>
            <a:ext cx="2011320" cy="1371240"/>
          </a:xfrm>
          <a:prstGeom prst="roundRect">
            <a:avLst>
              <a:gd name="adj" fmla="val 8000"/>
            </a:avLst>
          </a:prstGeom>
          <a:solidFill>
            <a:srgbClr val="263545"/>
          </a:solidFill>
          <a:ln w="12700">
            <a:solidFill>
              <a:srgbClr val="26354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" name="Text 3"/>
          <p:cNvSpPr/>
          <p:nvPr/>
        </p:nvSpPr>
        <p:spPr>
          <a:xfrm>
            <a:off x="594360" y="1783080"/>
            <a:ext cx="18284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c8922a"/>
                </a:solidFill>
                <a:latin typeface="Cambria"/>
                <a:ea typeface="Cambria"/>
              </a:rPr>
              <a:t>650.000</a:t>
            </a:r>
            <a:endParaRPr b="0" lang="es-E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" name="Text 4"/>
          <p:cNvSpPr/>
          <p:nvPr/>
        </p:nvSpPr>
        <p:spPr>
          <a:xfrm>
            <a:off x="594360" y="2423160"/>
            <a:ext cx="1828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2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8fa4b5"/>
                </a:solidFill>
                <a:latin typeface="Calibri"/>
              </a:rPr>
              <a:t>instaladores en España</a:t>
            </a:r>
            <a:endParaRPr b="0" lang="es-E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" name="Shape 5"/>
          <p:cNvSpPr/>
          <p:nvPr/>
        </p:nvSpPr>
        <p:spPr>
          <a:xfrm>
            <a:off x="2697480" y="1691640"/>
            <a:ext cx="2011320" cy="1371240"/>
          </a:xfrm>
          <a:prstGeom prst="roundRect">
            <a:avLst>
              <a:gd name="adj" fmla="val 8000"/>
            </a:avLst>
          </a:prstGeom>
          <a:solidFill>
            <a:srgbClr val="263545"/>
          </a:solidFill>
          <a:ln w="12700">
            <a:solidFill>
              <a:srgbClr val="26354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" name="Text 6"/>
          <p:cNvSpPr/>
          <p:nvPr/>
        </p:nvSpPr>
        <p:spPr>
          <a:xfrm>
            <a:off x="2788920" y="1783080"/>
            <a:ext cx="18284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c8922a"/>
                </a:solidFill>
                <a:latin typeface="Cambria"/>
                <a:ea typeface="Cambria"/>
              </a:rPr>
              <a:t>+8 millones</a:t>
            </a:r>
            <a:endParaRPr b="0" lang="es-E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" name="Text 7"/>
          <p:cNvSpPr/>
          <p:nvPr/>
        </p:nvSpPr>
        <p:spPr>
          <a:xfrm>
            <a:off x="2788920" y="2423160"/>
            <a:ext cx="1828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2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8fa4b5"/>
                </a:solidFill>
                <a:latin typeface="Calibri"/>
              </a:rPr>
              <a:t>instaladores en LATAM</a:t>
            </a:r>
            <a:endParaRPr b="0" lang="es-E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" name="Shape 8"/>
          <p:cNvSpPr/>
          <p:nvPr/>
        </p:nvSpPr>
        <p:spPr>
          <a:xfrm>
            <a:off x="4892040" y="1691640"/>
            <a:ext cx="2011320" cy="1371240"/>
          </a:xfrm>
          <a:prstGeom prst="roundRect">
            <a:avLst>
              <a:gd name="adj" fmla="val 8000"/>
            </a:avLst>
          </a:prstGeom>
          <a:solidFill>
            <a:srgbClr val="263545"/>
          </a:solidFill>
          <a:ln w="12700">
            <a:solidFill>
              <a:srgbClr val="26354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" name="Text 9"/>
          <p:cNvSpPr/>
          <p:nvPr/>
        </p:nvSpPr>
        <p:spPr>
          <a:xfrm>
            <a:off x="4983480" y="1783080"/>
            <a:ext cx="18284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c8922a"/>
                </a:solidFill>
                <a:latin typeface="Cambria"/>
                <a:ea typeface="Cambria"/>
              </a:rPr>
              <a:t>1M+ / día</a:t>
            </a:r>
            <a:endParaRPr b="0" lang="es-E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" name="Text 10"/>
          <p:cNvSpPr/>
          <p:nvPr/>
        </p:nvSpPr>
        <p:spPr>
          <a:xfrm>
            <a:off x="4983480" y="2423160"/>
            <a:ext cx="1828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2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8fa4b5"/>
                </a:solidFill>
                <a:latin typeface="Calibri"/>
              </a:rPr>
              <a:t>presupuestos generados</a:t>
            </a:r>
            <a:endParaRPr b="0" lang="es-E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" name="Shape 11"/>
          <p:cNvSpPr/>
          <p:nvPr/>
        </p:nvSpPr>
        <p:spPr>
          <a:xfrm>
            <a:off x="6748200" y="1691640"/>
            <a:ext cx="2029680" cy="1371240"/>
          </a:xfrm>
          <a:prstGeom prst="roundRect">
            <a:avLst>
              <a:gd name="adj" fmla="val 8000"/>
            </a:avLst>
          </a:prstGeom>
          <a:solidFill>
            <a:srgbClr val="263545"/>
          </a:solidFill>
          <a:ln w="12700">
            <a:solidFill>
              <a:srgbClr val="26354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" name="Text 12"/>
          <p:cNvSpPr/>
          <p:nvPr/>
        </p:nvSpPr>
        <p:spPr>
          <a:xfrm>
            <a:off x="6839640" y="1783080"/>
            <a:ext cx="184680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c8922a"/>
                </a:solidFill>
                <a:latin typeface="Cambria"/>
                <a:ea typeface="Cambria"/>
              </a:rPr>
              <a:t>€</a:t>
            </a:r>
            <a:r>
              <a:rPr b="1" lang="en-US" sz="2000" spc="-1" strike="noStrike">
                <a:solidFill>
                  <a:srgbClr val="c8922a"/>
                </a:solidFill>
                <a:latin typeface="Cambria"/>
                <a:ea typeface="Cambria"/>
              </a:rPr>
              <a:t>11.500M</a:t>
            </a:r>
            <a:endParaRPr b="0" lang="es-E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" name="Text 13"/>
          <p:cNvSpPr/>
          <p:nvPr/>
        </p:nvSpPr>
        <p:spPr>
          <a:xfrm>
            <a:off x="6839640" y="2423160"/>
            <a:ext cx="18468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2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8fa4b5"/>
                </a:solidFill>
                <a:latin typeface="Calibri"/>
              </a:rPr>
              <a:t>mercado anual instalaciones ES</a:t>
            </a:r>
            <a:endParaRPr b="0" lang="es-E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" name="Shape 14"/>
          <p:cNvSpPr/>
          <p:nvPr/>
        </p:nvSpPr>
        <p:spPr>
          <a:xfrm>
            <a:off x="502920" y="3246120"/>
            <a:ext cx="8137800" cy="1508400"/>
          </a:xfrm>
          <a:prstGeom prst="roundRect">
            <a:avLst>
              <a:gd name="adj" fmla="val 8485"/>
            </a:avLst>
          </a:prstGeom>
          <a:solidFill>
            <a:srgbClr val="1a5a96"/>
          </a:solidFill>
          <a:ln w="12700">
            <a:solidFill>
              <a:srgbClr val="1a5a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Text 15"/>
          <p:cNvSpPr/>
          <p:nvPr/>
        </p:nvSpPr>
        <p:spPr>
          <a:xfrm>
            <a:off x="685800" y="3383280"/>
            <a:ext cx="777204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3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Cambria"/>
                <a:ea typeface="Cambria"/>
              </a:rPr>
              <a:t>OBRAMAT puede estar presente en el momento exacto</a:t>
            </a:r>
            <a:endParaRPr b="0" lang="es-ES" sz="17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3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Cambria"/>
                <a:ea typeface="Cambria"/>
              </a:rPr>
              <a:t>en que el instalador decide qué materiales va a comprar —</a:t>
            </a:r>
            <a:endParaRPr b="0" lang="es-ES" sz="17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3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Cambria"/>
                <a:ea typeface="Cambria"/>
              </a:rPr>
              <a:t>antes de ir al almacén.</a:t>
            </a:r>
            <a:endParaRPr b="0" lang="es-E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" name="Text 16"/>
          <p:cNvSpPr/>
          <p:nvPr/>
        </p:nvSpPr>
        <p:spPr>
          <a:xfrm>
            <a:off x="8046720" y="4846320"/>
            <a:ext cx="8226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6b7b8d"/>
                </a:solidFill>
                <a:latin typeface="Calibri"/>
              </a:rPr>
              <a:t>3 / 13</a:t>
            </a:r>
            <a:endParaRPr b="0" lang="es-E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" name="Text 17"/>
          <p:cNvSpPr/>
          <p:nvPr/>
        </p:nvSpPr>
        <p:spPr>
          <a:xfrm>
            <a:off x="457200" y="4846320"/>
            <a:ext cx="36572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6b7b8d"/>
                </a:solidFill>
                <a:latin typeface="Calibri"/>
              </a:rPr>
              <a:t>TrabFlow × OBRAMAT · Confidencial</a:t>
            </a:r>
            <a:endParaRPr b="0" lang="es-E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 0"/>
          <p:cNvSpPr/>
          <p:nvPr/>
        </p:nvSpPr>
        <p:spPr>
          <a:xfrm>
            <a:off x="502920" y="292680"/>
            <a:ext cx="8229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100" spc="398" strike="noStrike">
                <a:solidFill>
                  <a:srgbClr val="1a5a96"/>
                </a:solidFill>
                <a:latin typeface="Calibri"/>
              </a:rPr>
              <a:t>LA SOLUCIÓN</a:t>
            </a:r>
            <a:endParaRPr b="0" lang="es-E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Text 1"/>
          <p:cNvSpPr/>
          <p:nvPr/>
        </p:nvSpPr>
        <p:spPr>
          <a:xfrm>
            <a:off x="502920" y="594360"/>
            <a:ext cx="73148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1c2535"/>
                </a:solidFill>
                <a:latin typeface="Cambria"/>
                <a:ea typeface="Cambria"/>
              </a:rPr>
              <a:t>De una frase hablada a un pedido en OBRAMAT.</a:t>
            </a:r>
            <a:endParaRPr b="0" lang="es-E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Shape 2"/>
          <p:cNvSpPr/>
          <p:nvPr/>
        </p:nvSpPr>
        <p:spPr>
          <a:xfrm>
            <a:off x="457200" y="1371600"/>
            <a:ext cx="1535760" cy="1535760"/>
          </a:xfrm>
          <a:prstGeom prst="roundRect">
            <a:avLst>
              <a:gd name="adj" fmla="val 7738"/>
            </a:avLst>
          </a:prstGeom>
          <a:solidFill>
            <a:srgbClr val="1c2535"/>
          </a:solidFill>
          <a:ln w="12700">
            <a:solidFill>
              <a:srgbClr val="1c2535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11" name="Image 0" descr="preencoded.png"/>
          <p:cNvPicPr/>
          <p:nvPr/>
        </p:nvPicPr>
        <p:blipFill>
          <a:blip r:embed="rId1"/>
          <a:stretch/>
        </p:blipFill>
        <p:spPr>
          <a:xfrm>
            <a:off x="1005840" y="1572840"/>
            <a:ext cx="411120" cy="411120"/>
          </a:xfrm>
          <a:prstGeom prst="rect">
            <a:avLst/>
          </a:prstGeom>
          <a:ln w="0">
            <a:noFill/>
          </a:ln>
        </p:spPr>
      </p:pic>
      <p:sp>
        <p:nvSpPr>
          <p:cNvPr id="112" name="Text 3"/>
          <p:cNvSpPr/>
          <p:nvPr/>
        </p:nvSpPr>
        <p:spPr>
          <a:xfrm>
            <a:off x="567000" y="1481400"/>
            <a:ext cx="3654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</a:rPr>
              <a:t>1</a:t>
            </a:r>
            <a:endParaRPr b="0" lang="es-E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Text 4"/>
          <p:cNvSpPr/>
          <p:nvPr/>
        </p:nvSpPr>
        <p:spPr>
          <a:xfrm>
            <a:off x="530280" y="2084760"/>
            <a:ext cx="138960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1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ffffff"/>
                </a:solidFill>
                <a:latin typeface="Calibri"/>
              </a:rPr>
              <a:t>Instalador</a:t>
            </a:r>
            <a:endParaRPr b="0" lang="es-ES" sz="115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1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ffffff"/>
                </a:solidFill>
                <a:latin typeface="Calibri"/>
              </a:rPr>
              <a:t>dicta el trabajo</a:t>
            </a:r>
            <a:endParaRPr b="0" lang="es-E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Shape 5"/>
          <p:cNvSpPr/>
          <p:nvPr/>
        </p:nvSpPr>
        <p:spPr>
          <a:xfrm>
            <a:off x="2011680" y="2139480"/>
            <a:ext cx="200880" cy="360"/>
          </a:xfrm>
          <a:prstGeom prst="line">
            <a:avLst/>
          </a:prstGeom>
          <a:ln w="25400">
            <a:solidFill>
              <a:srgbClr val="c5d0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Shape 6"/>
          <p:cNvSpPr/>
          <p:nvPr/>
        </p:nvSpPr>
        <p:spPr>
          <a:xfrm>
            <a:off x="2313360" y="1371600"/>
            <a:ext cx="1535760" cy="1535760"/>
          </a:xfrm>
          <a:prstGeom prst="roundRect">
            <a:avLst>
              <a:gd name="adj" fmla="val 7738"/>
            </a:avLst>
          </a:prstGeom>
          <a:solidFill>
            <a:srgbClr val="f4f5f7"/>
          </a:solidFill>
          <a:ln w="12700">
            <a:solidFill>
              <a:srgbClr val="f4f5f7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6" name="Image 1" descr="preencoded.png"/>
          <p:cNvPicPr/>
          <p:nvPr/>
        </p:nvPicPr>
        <p:blipFill>
          <a:blip r:embed="rId2"/>
          <a:stretch/>
        </p:blipFill>
        <p:spPr>
          <a:xfrm>
            <a:off x="2862000" y="1572840"/>
            <a:ext cx="411120" cy="411120"/>
          </a:xfrm>
          <a:prstGeom prst="rect">
            <a:avLst/>
          </a:prstGeom>
          <a:ln w="0">
            <a:noFill/>
          </a:ln>
        </p:spPr>
      </p:pic>
      <p:sp>
        <p:nvSpPr>
          <p:cNvPr id="117" name="Text 7"/>
          <p:cNvSpPr/>
          <p:nvPr/>
        </p:nvSpPr>
        <p:spPr>
          <a:xfrm>
            <a:off x="2423160" y="1481400"/>
            <a:ext cx="3654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263545"/>
                </a:solidFill>
                <a:latin typeface="Calibri"/>
              </a:rPr>
              <a:t>2</a:t>
            </a:r>
            <a:endParaRPr b="0" lang="es-E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Text 8"/>
          <p:cNvSpPr/>
          <p:nvPr/>
        </p:nvSpPr>
        <p:spPr>
          <a:xfrm>
            <a:off x="2386440" y="2084760"/>
            <a:ext cx="138960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1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1c2535"/>
                </a:solidFill>
                <a:latin typeface="Calibri"/>
              </a:rPr>
              <a:t>IA detecta el</a:t>
            </a:r>
            <a:endParaRPr b="0" lang="es-ES" sz="115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1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1c2535"/>
                </a:solidFill>
                <a:latin typeface="Calibri"/>
              </a:rPr>
              <a:t>tipo de trabajo</a:t>
            </a:r>
            <a:endParaRPr b="0" lang="es-E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Shape 9"/>
          <p:cNvSpPr/>
          <p:nvPr/>
        </p:nvSpPr>
        <p:spPr>
          <a:xfrm>
            <a:off x="3867840" y="2139480"/>
            <a:ext cx="201240" cy="360"/>
          </a:xfrm>
          <a:prstGeom prst="line">
            <a:avLst/>
          </a:prstGeom>
          <a:ln w="25400">
            <a:solidFill>
              <a:srgbClr val="c5d0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Shape 10"/>
          <p:cNvSpPr/>
          <p:nvPr/>
        </p:nvSpPr>
        <p:spPr>
          <a:xfrm>
            <a:off x="4178880" y="1371600"/>
            <a:ext cx="1535760" cy="1535760"/>
          </a:xfrm>
          <a:prstGeom prst="roundRect">
            <a:avLst>
              <a:gd name="adj" fmla="val 7738"/>
            </a:avLst>
          </a:prstGeom>
          <a:solidFill>
            <a:srgbClr val="f4f5f7"/>
          </a:solidFill>
          <a:ln w="12700">
            <a:solidFill>
              <a:srgbClr val="f4f5f7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1" name="Image 2" descr="preencoded.png"/>
          <p:cNvPicPr/>
          <p:nvPr/>
        </p:nvPicPr>
        <p:blipFill>
          <a:blip r:embed="rId3"/>
          <a:stretch/>
        </p:blipFill>
        <p:spPr>
          <a:xfrm>
            <a:off x="4727520" y="1572840"/>
            <a:ext cx="411120" cy="411120"/>
          </a:xfrm>
          <a:prstGeom prst="rect">
            <a:avLst/>
          </a:prstGeom>
          <a:ln w="0">
            <a:noFill/>
          </a:ln>
        </p:spPr>
      </p:pic>
      <p:sp>
        <p:nvSpPr>
          <p:cNvPr id="122" name="Text 11"/>
          <p:cNvSpPr/>
          <p:nvPr/>
        </p:nvSpPr>
        <p:spPr>
          <a:xfrm>
            <a:off x="4288680" y="1481400"/>
            <a:ext cx="3654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263545"/>
                </a:solidFill>
                <a:latin typeface="Calibri"/>
              </a:rPr>
              <a:t>3</a:t>
            </a:r>
            <a:endParaRPr b="0" lang="es-E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Text 12"/>
          <p:cNvSpPr/>
          <p:nvPr/>
        </p:nvSpPr>
        <p:spPr>
          <a:xfrm>
            <a:off x="4251960" y="2084760"/>
            <a:ext cx="138960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1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1c2535"/>
                </a:solidFill>
                <a:latin typeface="Calibri"/>
              </a:rPr>
              <a:t>Detecta todos</a:t>
            </a:r>
            <a:endParaRPr b="0" lang="es-ES" sz="115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1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1c2535"/>
                </a:solidFill>
                <a:latin typeface="Calibri"/>
              </a:rPr>
              <a:t>los materiales</a:t>
            </a:r>
            <a:endParaRPr b="0" lang="es-E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Shape 13"/>
          <p:cNvSpPr/>
          <p:nvPr/>
        </p:nvSpPr>
        <p:spPr>
          <a:xfrm>
            <a:off x="5733000" y="2139480"/>
            <a:ext cx="201240" cy="360"/>
          </a:xfrm>
          <a:prstGeom prst="line">
            <a:avLst/>
          </a:prstGeom>
          <a:ln w="25400">
            <a:solidFill>
              <a:srgbClr val="c5d0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Shape 14"/>
          <p:cNvSpPr/>
          <p:nvPr/>
        </p:nvSpPr>
        <p:spPr>
          <a:xfrm>
            <a:off x="6035040" y="1371600"/>
            <a:ext cx="1535760" cy="1535760"/>
          </a:xfrm>
          <a:prstGeom prst="roundRect">
            <a:avLst>
              <a:gd name="adj" fmla="val 7738"/>
            </a:avLst>
          </a:prstGeom>
          <a:solidFill>
            <a:srgbClr val="1a5a96"/>
          </a:solidFill>
          <a:ln w="12700">
            <a:solidFill>
              <a:srgbClr val="1a5a96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6" name="Image 3" descr="preencoded.png"/>
          <p:cNvPicPr/>
          <p:nvPr/>
        </p:nvPicPr>
        <p:blipFill>
          <a:blip r:embed="rId4"/>
          <a:stretch/>
        </p:blipFill>
        <p:spPr>
          <a:xfrm>
            <a:off x="6583680" y="1572840"/>
            <a:ext cx="411120" cy="411120"/>
          </a:xfrm>
          <a:prstGeom prst="rect">
            <a:avLst/>
          </a:prstGeom>
          <a:ln w="0">
            <a:noFill/>
          </a:ln>
        </p:spPr>
      </p:pic>
      <p:sp>
        <p:nvSpPr>
          <p:cNvPr id="127" name="Text 15"/>
          <p:cNvSpPr/>
          <p:nvPr/>
        </p:nvSpPr>
        <p:spPr>
          <a:xfrm>
            <a:off x="6144840" y="1481400"/>
            <a:ext cx="3654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</a:rPr>
              <a:t>4</a:t>
            </a:r>
            <a:endParaRPr b="0" lang="es-E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Text 16"/>
          <p:cNvSpPr/>
          <p:nvPr/>
        </p:nvSpPr>
        <p:spPr>
          <a:xfrm>
            <a:off x="6108120" y="2084760"/>
            <a:ext cx="138960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1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ffffff"/>
                </a:solidFill>
                <a:latin typeface="Calibri"/>
              </a:rPr>
              <a:t>Consulta catálogo</a:t>
            </a:r>
            <a:endParaRPr b="0" lang="es-ES" sz="115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1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ffffff"/>
                </a:solidFill>
                <a:latin typeface="Calibri"/>
              </a:rPr>
              <a:t>OBRAMAT</a:t>
            </a:r>
            <a:endParaRPr b="0" lang="es-E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Shape 17"/>
          <p:cNvSpPr/>
          <p:nvPr/>
        </p:nvSpPr>
        <p:spPr>
          <a:xfrm>
            <a:off x="457200" y="3200400"/>
            <a:ext cx="1535760" cy="1535760"/>
          </a:xfrm>
          <a:prstGeom prst="roundRect">
            <a:avLst>
              <a:gd name="adj" fmla="val 7738"/>
            </a:avLst>
          </a:prstGeom>
          <a:solidFill>
            <a:srgbClr val="f4f5f7"/>
          </a:solidFill>
          <a:ln w="12700">
            <a:solidFill>
              <a:srgbClr val="f4f5f7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0" name="Image 4" descr="preencoded.png"/>
          <p:cNvPicPr/>
          <p:nvPr/>
        </p:nvPicPr>
        <p:blipFill>
          <a:blip r:embed="rId5"/>
          <a:stretch/>
        </p:blipFill>
        <p:spPr>
          <a:xfrm>
            <a:off x="1005840" y="3401640"/>
            <a:ext cx="411120" cy="411120"/>
          </a:xfrm>
          <a:prstGeom prst="rect">
            <a:avLst/>
          </a:prstGeom>
          <a:ln w="0">
            <a:noFill/>
          </a:ln>
        </p:spPr>
      </p:pic>
      <p:sp>
        <p:nvSpPr>
          <p:cNvPr id="131" name="Text 18"/>
          <p:cNvSpPr/>
          <p:nvPr/>
        </p:nvSpPr>
        <p:spPr>
          <a:xfrm>
            <a:off x="567000" y="3310200"/>
            <a:ext cx="3654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263545"/>
                </a:solidFill>
                <a:latin typeface="Calibri"/>
              </a:rPr>
              <a:t>5</a:t>
            </a:r>
            <a:endParaRPr b="0" lang="es-E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Text 19"/>
          <p:cNvSpPr/>
          <p:nvPr/>
        </p:nvSpPr>
        <p:spPr>
          <a:xfrm>
            <a:off x="530280" y="3913560"/>
            <a:ext cx="138960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1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1c2535"/>
                </a:solidFill>
                <a:latin typeface="Calibri"/>
              </a:rPr>
              <a:t>Calcula cantidades</a:t>
            </a:r>
            <a:endParaRPr b="0" lang="es-ES" sz="115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1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1c2535"/>
                </a:solidFill>
                <a:latin typeface="Calibri"/>
              </a:rPr>
              <a:t>exactas</a:t>
            </a:r>
            <a:endParaRPr b="0" lang="es-E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Shape 20"/>
          <p:cNvSpPr/>
          <p:nvPr/>
        </p:nvSpPr>
        <p:spPr>
          <a:xfrm>
            <a:off x="2011680" y="3968280"/>
            <a:ext cx="200880" cy="360"/>
          </a:xfrm>
          <a:prstGeom prst="line">
            <a:avLst/>
          </a:prstGeom>
          <a:ln w="25400">
            <a:solidFill>
              <a:srgbClr val="c5d0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Shape 21"/>
          <p:cNvSpPr/>
          <p:nvPr/>
        </p:nvSpPr>
        <p:spPr>
          <a:xfrm>
            <a:off x="2313360" y="3200400"/>
            <a:ext cx="1535760" cy="1535760"/>
          </a:xfrm>
          <a:prstGeom prst="roundRect">
            <a:avLst>
              <a:gd name="adj" fmla="val 7738"/>
            </a:avLst>
          </a:prstGeom>
          <a:solidFill>
            <a:srgbClr val="f4f5f7"/>
          </a:solidFill>
          <a:ln w="12700">
            <a:solidFill>
              <a:srgbClr val="f4f5f7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5" name="Image 5" descr="preencoded.png"/>
          <p:cNvPicPr/>
          <p:nvPr/>
        </p:nvPicPr>
        <p:blipFill>
          <a:blip r:embed="rId6"/>
          <a:stretch/>
        </p:blipFill>
        <p:spPr>
          <a:xfrm>
            <a:off x="2862000" y="3401640"/>
            <a:ext cx="411120" cy="411120"/>
          </a:xfrm>
          <a:prstGeom prst="rect">
            <a:avLst/>
          </a:prstGeom>
          <a:ln w="0">
            <a:noFill/>
          </a:ln>
        </p:spPr>
      </p:pic>
      <p:sp>
        <p:nvSpPr>
          <p:cNvPr id="136" name="Text 22"/>
          <p:cNvSpPr/>
          <p:nvPr/>
        </p:nvSpPr>
        <p:spPr>
          <a:xfrm>
            <a:off x="2423160" y="3310200"/>
            <a:ext cx="3654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263545"/>
                </a:solidFill>
                <a:latin typeface="Calibri"/>
              </a:rPr>
              <a:t>6</a:t>
            </a:r>
            <a:endParaRPr b="0" lang="es-E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Text 23"/>
          <p:cNvSpPr/>
          <p:nvPr/>
        </p:nvSpPr>
        <p:spPr>
          <a:xfrm>
            <a:off x="2386440" y="3913560"/>
            <a:ext cx="138960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1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1c2535"/>
                </a:solidFill>
                <a:latin typeface="Calibri"/>
              </a:rPr>
              <a:t>Genera presupuesto</a:t>
            </a:r>
            <a:endParaRPr b="0" lang="es-ES" sz="115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1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1c2535"/>
                </a:solidFill>
                <a:latin typeface="Calibri"/>
              </a:rPr>
              <a:t>profesional</a:t>
            </a:r>
            <a:endParaRPr b="0" lang="es-E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Shape 24"/>
          <p:cNvSpPr/>
          <p:nvPr/>
        </p:nvSpPr>
        <p:spPr>
          <a:xfrm>
            <a:off x="3867840" y="3968280"/>
            <a:ext cx="201240" cy="360"/>
          </a:xfrm>
          <a:prstGeom prst="line">
            <a:avLst/>
          </a:prstGeom>
          <a:ln w="25400">
            <a:solidFill>
              <a:srgbClr val="c5d0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Shape 25"/>
          <p:cNvSpPr/>
          <p:nvPr/>
        </p:nvSpPr>
        <p:spPr>
          <a:xfrm>
            <a:off x="4178880" y="3200400"/>
            <a:ext cx="1535760" cy="1535760"/>
          </a:xfrm>
          <a:prstGeom prst="roundRect">
            <a:avLst>
              <a:gd name="adj" fmla="val 7738"/>
            </a:avLst>
          </a:prstGeom>
          <a:solidFill>
            <a:srgbClr val="f4f5f7"/>
          </a:solidFill>
          <a:ln w="12700">
            <a:solidFill>
              <a:srgbClr val="f4f5f7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40" name="Image 6" descr="preencoded.png"/>
          <p:cNvPicPr/>
          <p:nvPr/>
        </p:nvPicPr>
        <p:blipFill>
          <a:blip r:embed="rId7"/>
          <a:stretch/>
        </p:blipFill>
        <p:spPr>
          <a:xfrm>
            <a:off x="4727520" y="3401640"/>
            <a:ext cx="411120" cy="411120"/>
          </a:xfrm>
          <a:prstGeom prst="rect">
            <a:avLst/>
          </a:prstGeom>
          <a:ln w="0">
            <a:noFill/>
          </a:ln>
        </p:spPr>
      </p:pic>
      <p:sp>
        <p:nvSpPr>
          <p:cNvPr id="141" name="Text 26"/>
          <p:cNvSpPr/>
          <p:nvPr/>
        </p:nvSpPr>
        <p:spPr>
          <a:xfrm>
            <a:off x="4288680" y="3310200"/>
            <a:ext cx="3654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263545"/>
                </a:solidFill>
                <a:latin typeface="Calibri"/>
              </a:rPr>
              <a:t>7</a:t>
            </a:r>
            <a:endParaRPr b="0" lang="es-E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Text 27"/>
          <p:cNvSpPr/>
          <p:nvPr/>
        </p:nvSpPr>
        <p:spPr>
          <a:xfrm>
            <a:off x="4251960" y="3913560"/>
            <a:ext cx="138960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1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1c2535"/>
                </a:solidFill>
                <a:latin typeface="Calibri"/>
              </a:rPr>
              <a:t>Cliente acepta</a:t>
            </a:r>
            <a:endParaRPr b="0" lang="es-ES" sz="115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1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1c2535"/>
                </a:solidFill>
                <a:latin typeface="Calibri"/>
              </a:rPr>
              <a:t>por WhatsApp</a:t>
            </a:r>
            <a:endParaRPr b="0" lang="es-E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Shape 28"/>
          <p:cNvSpPr/>
          <p:nvPr/>
        </p:nvSpPr>
        <p:spPr>
          <a:xfrm>
            <a:off x="5733000" y="3968280"/>
            <a:ext cx="201240" cy="360"/>
          </a:xfrm>
          <a:prstGeom prst="line">
            <a:avLst/>
          </a:prstGeom>
          <a:ln w="25400">
            <a:solidFill>
              <a:srgbClr val="c5d0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Shape 29"/>
          <p:cNvSpPr/>
          <p:nvPr/>
        </p:nvSpPr>
        <p:spPr>
          <a:xfrm>
            <a:off x="6035040" y="3200400"/>
            <a:ext cx="1535760" cy="1535760"/>
          </a:xfrm>
          <a:prstGeom prst="roundRect">
            <a:avLst>
              <a:gd name="adj" fmla="val 7738"/>
            </a:avLst>
          </a:prstGeom>
          <a:solidFill>
            <a:srgbClr val="c8922a"/>
          </a:solidFill>
          <a:ln w="12700">
            <a:solidFill>
              <a:srgbClr val="c8922a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45" name="Image 7" descr="preencoded.png"/>
          <p:cNvPicPr/>
          <p:nvPr/>
        </p:nvPicPr>
        <p:blipFill>
          <a:blip r:embed="rId8"/>
          <a:stretch/>
        </p:blipFill>
        <p:spPr>
          <a:xfrm>
            <a:off x="6583680" y="3401640"/>
            <a:ext cx="411120" cy="411120"/>
          </a:xfrm>
          <a:prstGeom prst="rect">
            <a:avLst/>
          </a:prstGeom>
          <a:ln w="0">
            <a:noFill/>
          </a:ln>
        </p:spPr>
      </p:pic>
      <p:sp>
        <p:nvSpPr>
          <p:cNvPr id="146" name="Text 30"/>
          <p:cNvSpPr/>
          <p:nvPr/>
        </p:nvSpPr>
        <p:spPr>
          <a:xfrm>
            <a:off x="6144840" y="3310200"/>
            <a:ext cx="3654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</a:rPr>
              <a:t>8</a:t>
            </a:r>
            <a:endParaRPr b="0" lang="es-E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Text 31"/>
          <p:cNvSpPr/>
          <p:nvPr/>
        </p:nvSpPr>
        <p:spPr>
          <a:xfrm>
            <a:off x="6108120" y="3913560"/>
            <a:ext cx="138960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1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ffffff"/>
                </a:solidFill>
                <a:latin typeface="Calibri"/>
              </a:rPr>
              <a:t>Pedido a</a:t>
            </a:r>
            <a:endParaRPr b="0" lang="es-ES" sz="115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1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ffffff"/>
                </a:solidFill>
                <a:latin typeface="Calibri"/>
              </a:rPr>
              <a:t>OBRAMAT</a:t>
            </a:r>
            <a:endParaRPr b="0" lang="es-E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Shape 32"/>
          <p:cNvSpPr/>
          <p:nvPr/>
        </p:nvSpPr>
        <p:spPr>
          <a:xfrm>
            <a:off x="7863840" y="2331720"/>
            <a:ext cx="1096920" cy="456840"/>
          </a:xfrm>
          <a:prstGeom prst="roundRect">
            <a:avLst>
              <a:gd name="adj" fmla="val 20000"/>
            </a:avLst>
          </a:prstGeom>
          <a:solidFill>
            <a:srgbClr val="c8922a"/>
          </a:solidFill>
          <a:ln w="12700">
            <a:solidFill>
              <a:srgbClr val="c89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Text 33"/>
          <p:cNvSpPr/>
          <p:nvPr/>
        </p:nvSpPr>
        <p:spPr>
          <a:xfrm>
            <a:off x="7863840" y="2331720"/>
            <a:ext cx="10969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&lt; 3 min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Text 34"/>
          <p:cNvSpPr/>
          <p:nvPr/>
        </p:nvSpPr>
        <p:spPr>
          <a:xfrm>
            <a:off x="8046720" y="4846320"/>
            <a:ext cx="8226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9ba8b5"/>
                </a:solidFill>
                <a:latin typeface="Calibri"/>
              </a:rPr>
              <a:t>4 / 13</a:t>
            </a:r>
            <a:endParaRPr b="0" lang="es-E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Text 35"/>
          <p:cNvSpPr/>
          <p:nvPr/>
        </p:nvSpPr>
        <p:spPr>
          <a:xfrm>
            <a:off x="457200" y="4846320"/>
            <a:ext cx="36572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9ba8b5"/>
                </a:solidFill>
                <a:latin typeface="Calibri"/>
              </a:rPr>
              <a:t>TrabFlow × OBRAMAT · Confidencial</a:t>
            </a:r>
            <a:endParaRPr b="0" lang="es-E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Text 0"/>
          <p:cNvSpPr/>
          <p:nvPr/>
        </p:nvSpPr>
        <p:spPr>
          <a:xfrm>
            <a:off x="502920" y="292680"/>
            <a:ext cx="8229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100" spc="398" strike="noStrike">
                <a:solidFill>
                  <a:srgbClr val="1a5a96"/>
                </a:solidFill>
                <a:latin typeface="Calibri"/>
              </a:rPr>
              <a:t>CASO REAL 1</a:t>
            </a:r>
            <a:endParaRPr b="0" lang="es-E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Text 1"/>
          <p:cNvSpPr/>
          <p:nvPr/>
        </p:nvSpPr>
        <p:spPr>
          <a:xfrm>
            <a:off x="502920" y="594360"/>
            <a:ext cx="73148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1c2535"/>
                </a:solidFill>
                <a:latin typeface="Cambria"/>
                <a:ea typeface="Cambria"/>
              </a:rPr>
              <a:t>Cambio de termo eléctrico de 80 litros</a:t>
            </a:r>
            <a:endParaRPr b="0" lang="es-E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Shape 2"/>
          <p:cNvSpPr/>
          <p:nvPr/>
        </p:nvSpPr>
        <p:spPr>
          <a:xfrm>
            <a:off x="502920" y="1325880"/>
            <a:ext cx="3748680" cy="639720"/>
          </a:xfrm>
          <a:prstGeom prst="roundRect">
            <a:avLst>
              <a:gd name="adj" fmla="val 14286"/>
            </a:avLst>
          </a:prstGeom>
          <a:solidFill>
            <a:srgbClr val="1c2535"/>
          </a:solidFill>
          <a:ln w="12700">
            <a:solidFill>
              <a:srgbClr val="1c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55" name="Image 0" descr="preencoded.png"/>
          <p:cNvPicPr/>
          <p:nvPr/>
        </p:nvPicPr>
        <p:blipFill>
          <a:blip r:embed="rId1"/>
          <a:stretch/>
        </p:blipFill>
        <p:spPr>
          <a:xfrm>
            <a:off x="640080" y="1389960"/>
            <a:ext cx="292320" cy="292320"/>
          </a:xfrm>
          <a:prstGeom prst="rect">
            <a:avLst/>
          </a:prstGeom>
          <a:ln w="0">
            <a:noFill/>
          </a:ln>
        </p:spPr>
      </p:pic>
      <p:sp>
        <p:nvSpPr>
          <p:cNvPr id="156" name="Text 3"/>
          <p:cNvSpPr/>
          <p:nvPr/>
        </p:nvSpPr>
        <p:spPr>
          <a:xfrm>
            <a:off x="1005840" y="1417320"/>
            <a:ext cx="31086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ffffff"/>
                </a:solidFill>
                <a:latin typeface="Calibri"/>
              </a:rPr>
              <a:t>"Cambio termo 80 litros y retiro el antiguo"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Text 4"/>
          <p:cNvSpPr/>
          <p:nvPr/>
        </p:nvSpPr>
        <p:spPr>
          <a:xfrm>
            <a:off x="502920" y="2084760"/>
            <a:ext cx="37486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900" spc="199" strike="noStrike">
                <a:solidFill>
                  <a:srgbClr val="8b95a1"/>
                </a:solidFill>
                <a:latin typeface="Calibri"/>
              </a:rPr>
              <a:t>MATERIALES DETECTADOS AUTOMÁTICAMENTE</a:t>
            </a:r>
            <a:endParaRPr b="0" lang="es-E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Shape 5"/>
          <p:cNvSpPr/>
          <p:nvPr/>
        </p:nvSpPr>
        <p:spPr>
          <a:xfrm>
            <a:off x="502920" y="2359080"/>
            <a:ext cx="3748680" cy="38376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ffffff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9" name="Image 1" descr="preencoded.png"/>
          <p:cNvPicPr/>
          <p:nvPr/>
        </p:nvPicPr>
        <p:blipFill>
          <a:blip r:embed="rId2"/>
          <a:stretch/>
        </p:blipFill>
        <p:spPr>
          <a:xfrm>
            <a:off x="621720" y="2423160"/>
            <a:ext cx="228240" cy="228240"/>
          </a:xfrm>
          <a:prstGeom prst="rect">
            <a:avLst/>
          </a:prstGeom>
          <a:ln w="0">
            <a:noFill/>
          </a:ln>
        </p:spPr>
      </p:pic>
      <p:sp>
        <p:nvSpPr>
          <p:cNvPr id="160" name="Text 6"/>
          <p:cNvSpPr/>
          <p:nvPr/>
        </p:nvSpPr>
        <p:spPr>
          <a:xfrm>
            <a:off x="960120" y="2404800"/>
            <a:ext cx="31086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c2535"/>
                </a:solidFill>
                <a:latin typeface="Calibri"/>
              </a:rPr>
              <a:t>Termo eléctrico 80 L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Shape 7"/>
          <p:cNvSpPr/>
          <p:nvPr/>
        </p:nvSpPr>
        <p:spPr>
          <a:xfrm>
            <a:off x="502920" y="2816280"/>
            <a:ext cx="3748680" cy="38376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ffffff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2" name="Image 2" descr="preencoded.png"/>
          <p:cNvPicPr/>
          <p:nvPr/>
        </p:nvPicPr>
        <p:blipFill>
          <a:blip r:embed="rId3"/>
          <a:stretch/>
        </p:blipFill>
        <p:spPr>
          <a:xfrm>
            <a:off x="621720" y="2880360"/>
            <a:ext cx="228240" cy="228240"/>
          </a:xfrm>
          <a:prstGeom prst="rect">
            <a:avLst/>
          </a:prstGeom>
          <a:ln w="0">
            <a:noFill/>
          </a:ln>
        </p:spPr>
      </p:pic>
      <p:sp>
        <p:nvSpPr>
          <p:cNvPr id="163" name="Text 8"/>
          <p:cNvSpPr/>
          <p:nvPr/>
        </p:nvSpPr>
        <p:spPr>
          <a:xfrm>
            <a:off x="960120" y="2862000"/>
            <a:ext cx="31086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c2535"/>
                </a:solidFill>
                <a:latin typeface="Calibri"/>
              </a:rPr>
              <a:t>Válvula de seguridad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Shape 9"/>
          <p:cNvSpPr/>
          <p:nvPr/>
        </p:nvSpPr>
        <p:spPr>
          <a:xfrm>
            <a:off x="502920" y="3273480"/>
            <a:ext cx="3748680" cy="38376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ffffff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5" name="Image 3" descr="preencoded.png"/>
          <p:cNvPicPr/>
          <p:nvPr/>
        </p:nvPicPr>
        <p:blipFill>
          <a:blip r:embed="rId4"/>
          <a:stretch/>
        </p:blipFill>
        <p:spPr>
          <a:xfrm>
            <a:off x="621720" y="3337560"/>
            <a:ext cx="228240" cy="228240"/>
          </a:xfrm>
          <a:prstGeom prst="rect">
            <a:avLst/>
          </a:prstGeom>
          <a:ln w="0">
            <a:noFill/>
          </a:ln>
        </p:spPr>
      </p:pic>
      <p:sp>
        <p:nvSpPr>
          <p:cNvPr id="166" name="Text 10"/>
          <p:cNvSpPr/>
          <p:nvPr/>
        </p:nvSpPr>
        <p:spPr>
          <a:xfrm>
            <a:off x="960120" y="3319200"/>
            <a:ext cx="31086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c2535"/>
                </a:solidFill>
                <a:latin typeface="Calibri"/>
              </a:rPr>
              <a:t>Latiguillos flex 40 cm (×2)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Shape 11"/>
          <p:cNvSpPr/>
          <p:nvPr/>
        </p:nvSpPr>
        <p:spPr>
          <a:xfrm>
            <a:off x="502920" y="3730680"/>
            <a:ext cx="3748680" cy="38376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ffffff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8" name="Image 4" descr="preencoded.png"/>
          <p:cNvPicPr/>
          <p:nvPr/>
        </p:nvPicPr>
        <p:blipFill>
          <a:blip r:embed="rId5"/>
          <a:stretch/>
        </p:blipFill>
        <p:spPr>
          <a:xfrm>
            <a:off x="621720" y="3794760"/>
            <a:ext cx="228240" cy="228240"/>
          </a:xfrm>
          <a:prstGeom prst="rect">
            <a:avLst/>
          </a:prstGeom>
          <a:ln w="0">
            <a:noFill/>
          </a:ln>
        </p:spPr>
      </p:pic>
      <p:sp>
        <p:nvSpPr>
          <p:cNvPr id="169" name="Text 12"/>
          <p:cNvSpPr/>
          <p:nvPr/>
        </p:nvSpPr>
        <p:spPr>
          <a:xfrm>
            <a:off x="960120" y="3776400"/>
            <a:ext cx="31086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c2535"/>
                </a:solidFill>
                <a:latin typeface="Calibri"/>
              </a:rPr>
              <a:t>Desmontaje equipo antiguo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Shape 13"/>
          <p:cNvSpPr/>
          <p:nvPr/>
        </p:nvSpPr>
        <p:spPr>
          <a:xfrm>
            <a:off x="502920" y="4187880"/>
            <a:ext cx="3748680" cy="38376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ffffff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71" name="Image 5" descr="preencoded.png"/>
          <p:cNvPicPr/>
          <p:nvPr/>
        </p:nvPicPr>
        <p:blipFill>
          <a:blip r:embed="rId6"/>
          <a:stretch/>
        </p:blipFill>
        <p:spPr>
          <a:xfrm>
            <a:off x="621720" y="4251960"/>
            <a:ext cx="228240" cy="228240"/>
          </a:xfrm>
          <a:prstGeom prst="rect">
            <a:avLst/>
          </a:prstGeom>
          <a:ln w="0">
            <a:noFill/>
          </a:ln>
        </p:spPr>
      </p:pic>
      <p:sp>
        <p:nvSpPr>
          <p:cNvPr id="172" name="Text 14"/>
          <p:cNvSpPr/>
          <p:nvPr/>
        </p:nvSpPr>
        <p:spPr>
          <a:xfrm>
            <a:off x="960120" y="4233600"/>
            <a:ext cx="31086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c2535"/>
                </a:solidFill>
                <a:latin typeface="Calibri"/>
              </a:rPr>
              <a:t>Mano de obra instalación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Shape 15"/>
          <p:cNvSpPr/>
          <p:nvPr/>
        </p:nvSpPr>
        <p:spPr>
          <a:xfrm>
            <a:off x="4572000" y="1234440"/>
            <a:ext cx="4114440" cy="370296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ffffff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Shape 16"/>
          <p:cNvSpPr/>
          <p:nvPr/>
        </p:nvSpPr>
        <p:spPr>
          <a:xfrm>
            <a:off x="4572000" y="1234440"/>
            <a:ext cx="4114440" cy="438480"/>
          </a:xfrm>
          <a:prstGeom prst="roundRect">
            <a:avLst>
              <a:gd name="adj" fmla="val 31250"/>
            </a:avLst>
          </a:prstGeom>
          <a:solidFill>
            <a:srgbClr val="1a5a96"/>
          </a:solidFill>
          <a:ln w="12700">
            <a:solidFill>
              <a:srgbClr val="1a5a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Text 17"/>
          <p:cNvSpPr/>
          <p:nvPr/>
        </p:nvSpPr>
        <p:spPr>
          <a:xfrm>
            <a:off x="4663440" y="1261800"/>
            <a:ext cx="39315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OBRAMAT — Productos recomendados</a:t>
            </a:r>
            <a:endParaRPr b="0" lang="es-E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Shape 18"/>
          <p:cNvSpPr/>
          <p:nvPr/>
        </p:nvSpPr>
        <p:spPr>
          <a:xfrm>
            <a:off x="4681800" y="1764720"/>
            <a:ext cx="3885840" cy="566640"/>
          </a:xfrm>
          <a:prstGeom prst="roundRect">
            <a:avLst>
              <a:gd name="adj" fmla="val 11290"/>
            </a:avLst>
          </a:prstGeom>
          <a:solidFill>
            <a:srgbClr val="eef2f8"/>
          </a:solidFill>
          <a:ln w="12700">
            <a:solidFill>
              <a:srgbClr val="eef2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Shape 19"/>
          <p:cNvSpPr/>
          <p:nvPr/>
        </p:nvSpPr>
        <p:spPr>
          <a:xfrm>
            <a:off x="4700160" y="1783080"/>
            <a:ext cx="502560" cy="529920"/>
          </a:xfrm>
          <a:prstGeom prst="roundRect">
            <a:avLst>
              <a:gd name="adj" fmla="val 10909"/>
            </a:avLst>
          </a:prstGeom>
          <a:solidFill>
            <a:srgbClr val="f4f5f7"/>
          </a:solidFill>
          <a:ln w="12700">
            <a:solidFill>
              <a:srgbClr val="f4f5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Text 20"/>
          <p:cNvSpPr/>
          <p:nvPr/>
        </p:nvSpPr>
        <p:spPr>
          <a:xfrm>
            <a:off x="5257800" y="1801440"/>
            <a:ext cx="27428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8b95a1"/>
                </a:solidFill>
                <a:latin typeface="Calibri"/>
              </a:rPr>
              <a:t>OBR-GRI-001</a:t>
            </a:r>
            <a:endParaRPr b="0" lang="es-E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Text 21"/>
          <p:cNvSpPr/>
          <p:nvPr/>
        </p:nvSpPr>
        <p:spPr>
          <a:xfrm>
            <a:off x="5257800" y="1984320"/>
            <a:ext cx="23770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1c2535"/>
                </a:solidFill>
                <a:latin typeface="Calibri"/>
              </a:rPr>
              <a:t>Grifo monomando lavabo caño alto cromado</a:t>
            </a:r>
            <a:endParaRPr b="0" lang="es-E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Shape 22"/>
          <p:cNvSpPr/>
          <p:nvPr/>
        </p:nvSpPr>
        <p:spPr>
          <a:xfrm>
            <a:off x="7543800" y="1901880"/>
            <a:ext cx="868320" cy="301320"/>
          </a:xfrm>
          <a:prstGeom prst="roundRect">
            <a:avLst>
              <a:gd name="adj" fmla="val 18182"/>
            </a:avLst>
          </a:prstGeom>
          <a:solidFill>
            <a:srgbClr val="e8f4e8"/>
          </a:solidFill>
          <a:ln w="12700">
            <a:solidFill>
              <a:srgbClr val="e8f4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Text 23"/>
          <p:cNvSpPr/>
          <p:nvPr/>
        </p:nvSpPr>
        <p:spPr>
          <a:xfrm>
            <a:off x="7543800" y="1901880"/>
            <a:ext cx="86832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2d7a2d"/>
                </a:solidFill>
                <a:latin typeface="Calibri"/>
              </a:rPr>
              <a:t>54,90€</a:t>
            </a:r>
            <a:endParaRPr b="0" lang="es-E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Shape 24"/>
          <p:cNvSpPr/>
          <p:nvPr/>
        </p:nvSpPr>
        <p:spPr>
          <a:xfrm>
            <a:off x="4681800" y="2423160"/>
            <a:ext cx="3885840" cy="566640"/>
          </a:xfrm>
          <a:prstGeom prst="roundRect">
            <a:avLst>
              <a:gd name="adj" fmla="val 11290"/>
            </a:avLst>
          </a:prstGeom>
          <a:solidFill>
            <a:srgbClr val="eef2f8"/>
          </a:solidFill>
          <a:ln w="12700">
            <a:solidFill>
              <a:srgbClr val="eef2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Shape 25"/>
          <p:cNvSpPr/>
          <p:nvPr/>
        </p:nvSpPr>
        <p:spPr>
          <a:xfrm>
            <a:off x="4700160" y="2441520"/>
            <a:ext cx="502560" cy="529920"/>
          </a:xfrm>
          <a:prstGeom prst="roundRect">
            <a:avLst>
              <a:gd name="adj" fmla="val 10909"/>
            </a:avLst>
          </a:prstGeom>
          <a:solidFill>
            <a:srgbClr val="f4f5f7"/>
          </a:solidFill>
          <a:ln w="12700">
            <a:solidFill>
              <a:srgbClr val="f4f5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Text 26"/>
          <p:cNvSpPr/>
          <p:nvPr/>
        </p:nvSpPr>
        <p:spPr>
          <a:xfrm>
            <a:off x="5257800" y="2459880"/>
            <a:ext cx="27428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8b95a1"/>
                </a:solidFill>
                <a:latin typeface="Calibri"/>
              </a:rPr>
              <a:t>OBR-GRI-002</a:t>
            </a:r>
            <a:endParaRPr b="0" lang="es-E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Text 27"/>
          <p:cNvSpPr/>
          <p:nvPr/>
        </p:nvSpPr>
        <p:spPr>
          <a:xfrm>
            <a:off x="5257800" y="2642760"/>
            <a:ext cx="23770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1c2535"/>
                </a:solidFill>
                <a:latin typeface="Calibri"/>
              </a:rPr>
              <a:t>Grifo monomando lavabo caño bajo cromado</a:t>
            </a:r>
            <a:endParaRPr b="0" lang="es-E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Shape 28"/>
          <p:cNvSpPr/>
          <p:nvPr/>
        </p:nvSpPr>
        <p:spPr>
          <a:xfrm>
            <a:off x="7543800" y="2560320"/>
            <a:ext cx="868320" cy="301320"/>
          </a:xfrm>
          <a:prstGeom prst="roundRect">
            <a:avLst>
              <a:gd name="adj" fmla="val 18182"/>
            </a:avLst>
          </a:prstGeom>
          <a:solidFill>
            <a:srgbClr val="e8f4e8"/>
          </a:solidFill>
          <a:ln w="12700">
            <a:solidFill>
              <a:srgbClr val="e8f4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Text 29"/>
          <p:cNvSpPr/>
          <p:nvPr/>
        </p:nvSpPr>
        <p:spPr>
          <a:xfrm>
            <a:off x="7543800" y="2560320"/>
            <a:ext cx="86832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2d7a2d"/>
                </a:solidFill>
                <a:latin typeface="Calibri"/>
              </a:rPr>
              <a:t>46,36€</a:t>
            </a:r>
            <a:endParaRPr b="0" lang="es-E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Shape 30"/>
          <p:cNvSpPr/>
          <p:nvPr/>
        </p:nvSpPr>
        <p:spPr>
          <a:xfrm>
            <a:off x="4681800" y="3081600"/>
            <a:ext cx="3885840" cy="566640"/>
          </a:xfrm>
          <a:prstGeom prst="roundRect">
            <a:avLst>
              <a:gd name="adj" fmla="val 11290"/>
            </a:avLst>
          </a:prstGeom>
          <a:solidFill>
            <a:srgbClr val="eef2f8"/>
          </a:solidFill>
          <a:ln w="12700">
            <a:solidFill>
              <a:srgbClr val="eef2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Shape 31"/>
          <p:cNvSpPr/>
          <p:nvPr/>
        </p:nvSpPr>
        <p:spPr>
          <a:xfrm>
            <a:off x="4700160" y="3099960"/>
            <a:ext cx="502560" cy="529920"/>
          </a:xfrm>
          <a:prstGeom prst="roundRect">
            <a:avLst>
              <a:gd name="adj" fmla="val 10909"/>
            </a:avLst>
          </a:prstGeom>
          <a:solidFill>
            <a:srgbClr val="f4f5f7"/>
          </a:solidFill>
          <a:ln w="12700">
            <a:solidFill>
              <a:srgbClr val="f4f5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Text 32"/>
          <p:cNvSpPr/>
          <p:nvPr/>
        </p:nvSpPr>
        <p:spPr>
          <a:xfrm>
            <a:off x="5257800" y="3117960"/>
            <a:ext cx="27428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8b95a1"/>
                </a:solidFill>
                <a:latin typeface="Calibri"/>
              </a:rPr>
              <a:t>OBR-GRI-003</a:t>
            </a:r>
            <a:endParaRPr b="0" lang="es-E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Text 33"/>
          <p:cNvSpPr/>
          <p:nvPr/>
        </p:nvSpPr>
        <p:spPr>
          <a:xfrm>
            <a:off x="5257800" y="3300840"/>
            <a:ext cx="23770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1c2535"/>
                </a:solidFill>
                <a:latin typeface="Calibri"/>
              </a:rPr>
              <a:t>Grifo monomando fregadero giratorio</a:t>
            </a:r>
            <a:endParaRPr b="0" lang="es-E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Shape 34"/>
          <p:cNvSpPr/>
          <p:nvPr/>
        </p:nvSpPr>
        <p:spPr>
          <a:xfrm>
            <a:off x="7543800" y="3218760"/>
            <a:ext cx="868320" cy="301320"/>
          </a:xfrm>
          <a:prstGeom prst="roundRect">
            <a:avLst>
              <a:gd name="adj" fmla="val 18182"/>
            </a:avLst>
          </a:prstGeom>
          <a:solidFill>
            <a:srgbClr val="e8f4e8"/>
          </a:solidFill>
          <a:ln w="12700">
            <a:solidFill>
              <a:srgbClr val="e8f4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Text 35"/>
          <p:cNvSpPr/>
          <p:nvPr/>
        </p:nvSpPr>
        <p:spPr>
          <a:xfrm>
            <a:off x="7543800" y="3218760"/>
            <a:ext cx="86832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2d7a2d"/>
                </a:solidFill>
                <a:latin typeface="Calibri"/>
              </a:rPr>
              <a:t>87,84€</a:t>
            </a:r>
            <a:endParaRPr b="0" lang="es-E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Shape 36"/>
          <p:cNvSpPr/>
          <p:nvPr/>
        </p:nvSpPr>
        <p:spPr>
          <a:xfrm>
            <a:off x="4681800" y="3740040"/>
            <a:ext cx="3885840" cy="566640"/>
          </a:xfrm>
          <a:prstGeom prst="roundRect">
            <a:avLst>
              <a:gd name="adj" fmla="val 11290"/>
            </a:avLst>
          </a:prstGeom>
          <a:solidFill>
            <a:srgbClr val="eef2f8"/>
          </a:solidFill>
          <a:ln w="12700">
            <a:solidFill>
              <a:srgbClr val="eef2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Shape 37"/>
          <p:cNvSpPr/>
          <p:nvPr/>
        </p:nvSpPr>
        <p:spPr>
          <a:xfrm>
            <a:off x="4700160" y="3758040"/>
            <a:ext cx="502560" cy="529920"/>
          </a:xfrm>
          <a:prstGeom prst="roundRect">
            <a:avLst>
              <a:gd name="adj" fmla="val 10909"/>
            </a:avLst>
          </a:prstGeom>
          <a:solidFill>
            <a:srgbClr val="f4f5f7"/>
          </a:solidFill>
          <a:ln w="12700">
            <a:solidFill>
              <a:srgbClr val="f4f5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Text 38"/>
          <p:cNvSpPr/>
          <p:nvPr/>
        </p:nvSpPr>
        <p:spPr>
          <a:xfrm>
            <a:off x="5257800" y="3776400"/>
            <a:ext cx="27428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8b95a1"/>
                </a:solidFill>
                <a:latin typeface="Calibri"/>
              </a:rPr>
              <a:t>OBR-GRI-004</a:t>
            </a:r>
            <a:endParaRPr b="0" lang="es-E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Text 39"/>
          <p:cNvSpPr/>
          <p:nvPr/>
        </p:nvSpPr>
        <p:spPr>
          <a:xfrm>
            <a:off x="5257800" y="3959280"/>
            <a:ext cx="23770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1c2535"/>
                </a:solidFill>
                <a:latin typeface="Calibri"/>
              </a:rPr>
              <a:t>Grifo monomando ducha empotrado</a:t>
            </a:r>
            <a:endParaRPr b="0" lang="es-E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Shape 40"/>
          <p:cNvSpPr/>
          <p:nvPr/>
        </p:nvSpPr>
        <p:spPr>
          <a:xfrm>
            <a:off x="7543800" y="3877200"/>
            <a:ext cx="868320" cy="301320"/>
          </a:xfrm>
          <a:prstGeom prst="roundRect">
            <a:avLst>
              <a:gd name="adj" fmla="val 18182"/>
            </a:avLst>
          </a:prstGeom>
          <a:solidFill>
            <a:srgbClr val="e8f4e8"/>
          </a:solidFill>
          <a:ln w="12700">
            <a:solidFill>
              <a:srgbClr val="e8f4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Text 41"/>
          <p:cNvSpPr/>
          <p:nvPr/>
        </p:nvSpPr>
        <p:spPr>
          <a:xfrm>
            <a:off x="7543800" y="3877200"/>
            <a:ext cx="86832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2d7a2d"/>
                </a:solidFill>
                <a:latin typeface="Calibri"/>
              </a:rPr>
              <a:t>108,58€</a:t>
            </a:r>
            <a:endParaRPr b="0" lang="es-E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Text 42"/>
          <p:cNvSpPr/>
          <p:nvPr/>
        </p:nvSpPr>
        <p:spPr>
          <a:xfrm>
            <a:off x="5029200" y="4617720"/>
            <a:ext cx="3200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1a5a96"/>
                </a:solidFill>
                <a:latin typeface="Calibri"/>
              </a:rPr>
              <a:t>+ Añadir al presupuesto</a:t>
            </a:r>
            <a:endParaRPr b="0" lang="es-E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Text 43"/>
          <p:cNvSpPr/>
          <p:nvPr/>
        </p:nvSpPr>
        <p:spPr>
          <a:xfrm>
            <a:off x="8046720" y="4846320"/>
            <a:ext cx="8226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9ba8b5"/>
                </a:solidFill>
                <a:latin typeface="Calibri"/>
              </a:rPr>
              <a:t>5 / 13</a:t>
            </a:r>
            <a:endParaRPr b="0" lang="es-E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Text 44"/>
          <p:cNvSpPr/>
          <p:nvPr/>
        </p:nvSpPr>
        <p:spPr>
          <a:xfrm>
            <a:off x="457200" y="4846320"/>
            <a:ext cx="36572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9ba8b5"/>
                </a:solidFill>
                <a:latin typeface="Calibri"/>
              </a:rPr>
              <a:t>TrabFlow × OBRAMAT · Confidencial</a:t>
            </a:r>
            <a:endParaRPr b="0" lang="es-E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Text 0"/>
          <p:cNvSpPr/>
          <p:nvPr/>
        </p:nvSpPr>
        <p:spPr>
          <a:xfrm>
            <a:off x="502920" y="292680"/>
            <a:ext cx="8229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100" spc="398" strike="noStrike">
                <a:solidFill>
                  <a:srgbClr val="1a5a96"/>
                </a:solidFill>
                <a:latin typeface="Calibri"/>
              </a:rPr>
              <a:t>CASO REAL 2</a:t>
            </a:r>
            <a:endParaRPr b="0" lang="es-E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Text 1"/>
          <p:cNvSpPr/>
          <p:nvPr/>
        </p:nvSpPr>
        <p:spPr>
          <a:xfrm>
            <a:off x="502920" y="594360"/>
            <a:ext cx="73148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1c2535"/>
                </a:solidFill>
                <a:latin typeface="Cambria"/>
                <a:ea typeface="Cambria"/>
              </a:rPr>
              <a:t>Reforma de baño completo</a:t>
            </a:r>
            <a:endParaRPr b="0" lang="es-E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Shape 2"/>
          <p:cNvSpPr/>
          <p:nvPr/>
        </p:nvSpPr>
        <p:spPr>
          <a:xfrm>
            <a:off x="502920" y="1325880"/>
            <a:ext cx="8229240" cy="639720"/>
          </a:xfrm>
          <a:prstGeom prst="roundRect">
            <a:avLst>
              <a:gd name="adj" fmla="val 14286"/>
            </a:avLst>
          </a:prstGeom>
          <a:solidFill>
            <a:srgbClr val="1c2535"/>
          </a:solidFill>
          <a:ln w="12700">
            <a:solidFill>
              <a:srgbClr val="1c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06" name="Image 0" descr="preencoded.png"/>
          <p:cNvPicPr/>
          <p:nvPr/>
        </p:nvPicPr>
        <p:blipFill>
          <a:blip r:embed="rId1"/>
          <a:stretch/>
        </p:blipFill>
        <p:spPr>
          <a:xfrm>
            <a:off x="658440" y="1417320"/>
            <a:ext cx="292320" cy="292320"/>
          </a:xfrm>
          <a:prstGeom prst="rect">
            <a:avLst/>
          </a:prstGeom>
          <a:ln w="0">
            <a:noFill/>
          </a:ln>
        </p:spPr>
      </p:pic>
      <p:sp>
        <p:nvSpPr>
          <p:cNvPr id="207" name="Text 3"/>
          <p:cNvSpPr/>
          <p:nvPr/>
        </p:nvSpPr>
        <p:spPr>
          <a:xfrm>
            <a:off x="1051560" y="1435680"/>
            <a:ext cx="7543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ffffff"/>
                </a:solidFill>
                <a:latin typeface="Calibri"/>
              </a:rPr>
              <a:t>"Reforma baño: bañera por plato ducha, nueva grifería, alicatado nuevo."</a:t>
            </a:r>
            <a:endParaRPr b="0" lang="es-E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Shape 4"/>
          <p:cNvSpPr/>
          <p:nvPr/>
        </p:nvSpPr>
        <p:spPr>
          <a:xfrm>
            <a:off x="502920" y="2103120"/>
            <a:ext cx="2422800" cy="712800"/>
          </a:xfrm>
          <a:prstGeom prst="roundRect">
            <a:avLst>
              <a:gd name="adj" fmla="val 10256"/>
            </a:avLst>
          </a:prstGeom>
          <a:solidFill>
            <a:srgbClr val="f4f5f7"/>
          </a:solidFill>
          <a:ln w="12700">
            <a:solidFill>
              <a:srgbClr val="f4f5f7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09" name="Image 1" descr="preencoded.png"/>
          <p:cNvPicPr/>
          <p:nvPr/>
        </p:nvPicPr>
        <p:blipFill>
          <a:blip r:embed="rId2"/>
          <a:stretch/>
        </p:blipFill>
        <p:spPr>
          <a:xfrm>
            <a:off x="631080" y="2350080"/>
            <a:ext cx="255600" cy="255600"/>
          </a:xfrm>
          <a:prstGeom prst="rect">
            <a:avLst/>
          </a:prstGeom>
          <a:ln w="0">
            <a:noFill/>
          </a:ln>
        </p:spPr>
      </p:pic>
      <p:sp>
        <p:nvSpPr>
          <p:cNvPr id="210" name="Text 5"/>
          <p:cNvSpPr/>
          <p:nvPr/>
        </p:nvSpPr>
        <p:spPr>
          <a:xfrm>
            <a:off x="960120" y="2194560"/>
            <a:ext cx="1874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1c2535"/>
                </a:solidFill>
                <a:latin typeface="Calibri"/>
              </a:rPr>
              <a:t>Plato de ducha 80×80</a:t>
            </a:r>
            <a:endParaRPr b="0" lang="es-E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Text 6"/>
          <p:cNvSpPr/>
          <p:nvPr/>
        </p:nvSpPr>
        <p:spPr>
          <a:xfrm>
            <a:off x="960120" y="2505600"/>
            <a:ext cx="18741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8b95a1"/>
                </a:solidFill>
                <a:latin typeface="Calibri"/>
              </a:rPr>
              <a:t>Antideslizante</a:t>
            </a:r>
            <a:endParaRPr b="0" lang="es-E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Shape 7"/>
          <p:cNvSpPr/>
          <p:nvPr/>
        </p:nvSpPr>
        <p:spPr>
          <a:xfrm>
            <a:off x="3200400" y="2103120"/>
            <a:ext cx="2422800" cy="712800"/>
          </a:xfrm>
          <a:prstGeom prst="roundRect">
            <a:avLst>
              <a:gd name="adj" fmla="val 10256"/>
            </a:avLst>
          </a:prstGeom>
          <a:solidFill>
            <a:srgbClr val="f4f5f7"/>
          </a:solidFill>
          <a:ln w="12700">
            <a:solidFill>
              <a:srgbClr val="f4f5f7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13" name="Image 2" descr="preencoded.png"/>
          <p:cNvPicPr/>
          <p:nvPr/>
        </p:nvPicPr>
        <p:blipFill>
          <a:blip r:embed="rId3"/>
          <a:stretch/>
        </p:blipFill>
        <p:spPr>
          <a:xfrm>
            <a:off x="3328560" y="2350080"/>
            <a:ext cx="255600" cy="255600"/>
          </a:xfrm>
          <a:prstGeom prst="rect">
            <a:avLst/>
          </a:prstGeom>
          <a:ln w="0">
            <a:noFill/>
          </a:ln>
        </p:spPr>
      </p:pic>
      <p:sp>
        <p:nvSpPr>
          <p:cNvPr id="214" name="Text 8"/>
          <p:cNvSpPr/>
          <p:nvPr/>
        </p:nvSpPr>
        <p:spPr>
          <a:xfrm>
            <a:off x="3657600" y="2194560"/>
            <a:ext cx="1874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1c2535"/>
                </a:solidFill>
                <a:latin typeface="Calibri"/>
              </a:rPr>
              <a:t>Grifo monomando ducha</a:t>
            </a:r>
            <a:endParaRPr b="0" lang="es-E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Text 9"/>
          <p:cNvSpPr/>
          <p:nvPr/>
        </p:nvSpPr>
        <p:spPr>
          <a:xfrm>
            <a:off x="3657600" y="2505600"/>
            <a:ext cx="18741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8b95a1"/>
                </a:solidFill>
                <a:latin typeface="Calibri"/>
              </a:rPr>
              <a:t>Empotrado cromado</a:t>
            </a:r>
            <a:endParaRPr b="0" lang="es-E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Shape 10"/>
          <p:cNvSpPr/>
          <p:nvPr/>
        </p:nvSpPr>
        <p:spPr>
          <a:xfrm>
            <a:off x="5897880" y="2103120"/>
            <a:ext cx="2422800" cy="712800"/>
          </a:xfrm>
          <a:prstGeom prst="roundRect">
            <a:avLst>
              <a:gd name="adj" fmla="val 10256"/>
            </a:avLst>
          </a:prstGeom>
          <a:solidFill>
            <a:srgbClr val="f4f5f7"/>
          </a:solidFill>
          <a:ln w="12700">
            <a:solidFill>
              <a:srgbClr val="f4f5f7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17" name="Image 3" descr="preencoded.png"/>
          <p:cNvPicPr/>
          <p:nvPr/>
        </p:nvPicPr>
        <p:blipFill>
          <a:blip r:embed="rId4"/>
          <a:stretch/>
        </p:blipFill>
        <p:spPr>
          <a:xfrm>
            <a:off x="6026040" y="2350080"/>
            <a:ext cx="255600" cy="255600"/>
          </a:xfrm>
          <a:prstGeom prst="rect">
            <a:avLst/>
          </a:prstGeom>
          <a:ln w="0">
            <a:noFill/>
          </a:ln>
        </p:spPr>
      </p:pic>
      <p:sp>
        <p:nvSpPr>
          <p:cNvPr id="218" name="Text 11"/>
          <p:cNvSpPr/>
          <p:nvPr/>
        </p:nvSpPr>
        <p:spPr>
          <a:xfrm>
            <a:off x="6355080" y="2194560"/>
            <a:ext cx="1874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1c2535"/>
                </a:solidFill>
                <a:latin typeface="Calibri"/>
              </a:rPr>
              <a:t>Tubería multicapa ø20</a:t>
            </a:r>
            <a:endParaRPr b="0" lang="es-E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Text 12"/>
          <p:cNvSpPr/>
          <p:nvPr/>
        </p:nvSpPr>
        <p:spPr>
          <a:xfrm>
            <a:off x="6355080" y="2505600"/>
            <a:ext cx="18741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8b95a1"/>
                </a:solidFill>
                <a:latin typeface="Calibri"/>
              </a:rPr>
              <a:t>6 metros lineales</a:t>
            </a:r>
            <a:endParaRPr b="0" lang="es-E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Shape 13"/>
          <p:cNvSpPr/>
          <p:nvPr/>
        </p:nvSpPr>
        <p:spPr>
          <a:xfrm>
            <a:off x="502920" y="2944440"/>
            <a:ext cx="2422800" cy="712800"/>
          </a:xfrm>
          <a:prstGeom prst="roundRect">
            <a:avLst>
              <a:gd name="adj" fmla="val 10256"/>
            </a:avLst>
          </a:prstGeom>
          <a:solidFill>
            <a:srgbClr val="f4f5f7"/>
          </a:solidFill>
          <a:ln w="12700">
            <a:solidFill>
              <a:srgbClr val="f4f5f7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21" name="Image 4" descr="preencoded.png"/>
          <p:cNvPicPr/>
          <p:nvPr/>
        </p:nvPicPr>
        <p:blipFill>
          <a:blip r:embed="rId5"/>
          <a:stretch/>
        </p:blipFill>
        <p:spPr>
          <a:xfrm>
            <a:off x="631080" y="3191400"/>
            <a:ext cx="255600" cy="255600"/>
          </a:xfrm>
          <a:prstGeom prst="rect">
            <a:avLst/>
          </a:prstGeom>
          <a:ln w="0">
            <a:noFill/>
          </a:ln>
        </p:spPr>
      </p:pic>
      <p:sp>
        <p:nvSpPr>
          <p:cNvPr id="222" name="Text 14"/>
          <p:cNvSpPr/>
          <p:nvPr/>
        </p:nvSpPr>
        <p:spPr>
          <a:xfrm>
            <a:off x="960120" y="3035880"/>
            <a:ext cx="1874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1c2535"/>
                </a:solidFill>
                <a:latin typeface="Calibri"/>
              </a:rPr>
              <a:t>Codos 45° ø20</a:t>
            </a:r>
            <a:endParaRPr b="0" lang="es-E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Text 15"/>
          <p:cNvSpPr/>
          <p:nvPr/>
        </p:nvSpPr>
        <p:spPr>
          <a:xfrm>
            <a:off x="960120" y="3346560"/>
            <a:ext cx="18741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8b95a1"/>
                </a:solidFill>
                <a:latin typeface="Calibri"/>
              </a:rPr>
              <a:t>4 unidades</a:t>
            </a:r>
            <a:endParaRPr b="0" lang="es-E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Shape 16"/>
          <p:cNvSpPr/>
          <p:nvPr/>
        </p:nvSpPr>
        <p:spPr>
          <a:xfrm>
            <a:off x="3200400" y="2944440"/>
            <a:ext cx="2422800" cy="712800"/>
          </a:xfrm>
          <a:prstGeom prst="roundRect">
            <a:avLst>
              <a:gd name="adj" fmla="val 10256"/>
            </a:avLst>
          </a:prstGeom>
          <a:solidFill>
            <a:srgbClr val="f4f5f7"/>
          </a:solidFill>
          <a:ln w="12700">
            <a:solidFill>
              <a:srgbClr val="f4f5f7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25" name="Image 5" descr="preencoded.png"/>
          <p:cNvPicPr/>
          <p:nvPr/>
        </p:nvPicPr>
        <p:blipFill>
          <a:blip r:embed="rId6"/>
          <a:stretch/>
        </p:blipFill>
        <p:spPr>
          <a:xfrm>
            <a:off x="3328560" y="3191400"/>
            <a:ext cx="255600" cy="255600"/>
          </a:xfrm>
          <a:prstGeom prst="rect">
            <a:avLst/>
          </a:prstGeom>
          <a:ln w="0">
            <a:noFill/>
          </a:ln>
        </p:spPr>
      </p:pic>
      <p:sp>
        <p:nvSpPr>
          <p:cNvPr id="226" name="Text 17"/>
          <p:cNvSpPr/>
          <p:nvPr/>
        </p:nvSpPr>
        <p:spPr>
          <a:xfrm>
            <a:off x="3657600" y="3035880"/>
            <a:ext cx="1874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1c2535"/>
                </a:solidFill>
                <a:latin typeface="Calibri"/>
              </a:rPr>
              <a:t>Válvulas de corte</a:t>
            </a:r>
            <a:endParaRPr b="0" lang="es-E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Text 18"/>
          <p:cNvSpPr/>
          <p:nvPr/>
        </p:nvSpPr>
        <p:spPr>
          <a:xfrm>
            <a:off x="3657600" y="3346560"/>
            <a:ext cx="18741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8b95a1"/>
                </a:solidFill>
                <a:latin typeface="Calibri"/>
              </a:rPr>
              <a:t>2 unidades</a:t>
            </a:r>
            <a:endParaRPr b="0" lang="es-E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Shape 19"/>
          <p:cNvSpPr/>
          <p:nvPr/>
        </p:nvSpPr>
        <p:spPr>
          <a:xfrm>
            <a:off x="5897880" y="2944440"/>
            <a:ext cx="2422800" cy="712800"/>
          </a:xfrm>
          <a:prstGeom prst="roundRect">
            <a:avLst>
              <a:gd name="adj" fmla="val 10256"/>
            </a:avLst>
          </a:prstGeom>
          <a:solidFill>
            <a:srgbClr val="f4f5f7"/>
          </a:solidFill>
          <a:ln w="12700">
            <a:solidFill>
              <a:srgbClr val="f4f5f7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29" name="Image 6" descr="preencoded.png"/>
          <p:cNvPicPr/>
          <p:nvPr/>
        </p:nvPicPr>
        <p:blipFill>
          <a:blip r:embed="rId7"/>
          <a:stretch/>
        </p:blipFill>
        <p:spPr>
          <a:xfrm>
            <a:off x="6026040" y="3191400"/>
            <a:ext cx="255600" cy="255600"/>
          </a:xfrm>
          <a:prstGeom prst="rect">
            <a:avLst/>
          </a:prstGeom>
          <a:ln w="0">
            <a:noFill/>
          </a:ln>
        </p:spPr>
      </p:pic>
      <p:sp>
        <p:nvSpPr>
          <p:cNvPr id="230" name="Text 20"/>
          <p:cNvSpPr/>
          <p:nvPr/>
        </p:nvSpPr>
        <p:spPr>
          <a:xfrm>
            <a:off x="6355080" y="3035880"/>
            <a:ext cx="1874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1c2535"/>
                </a:solidFill>
                <a:latin typeface="Calibri"/>
              </a:rPr>
              <a:t>Mortero autonivelante 25 kg</a:t>
            </a:r>
            <a:endParaRPr b="0" lang="es-E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Text 21"/>
          <p:cNvSpPr/>
          <p:nvPr/>
        </p:nvSpPr>
        <p:spPr>
          <a:xfrm>
            <a:off x="6355080" y="3346560"/>
            <a:ext cx="18741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8b95a1"/>
                </a:solidFill>
                <a:latin typeface="Calibri"/>
              </a:rPr>
              <a:t>Base nivelación</a:t>
            </a:r>
            <a:endParaRPr b="0" lang="es-E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Shape 22"/>
          <p:cNvSpPr/>
          <p:nvPr/>
        </p:nvSpPr>
        <p:spPr>
          <a:xfrm>
            <a:off x="502920" y="3785760"/>
            <a:ext cx="2422800" cy="712800"/>
          </a:xfrm>
          <a:prstGeom prst="roundRect">
            <a:avLst>
              <a:gd name="adj" fmla="val 10256"/>
            </a:avLst>
          </a:prstGeom>
          <a:solidFill>
            <a:srgbClr val="f4f5f7"/>
          </a:solidFill>
          <a:ln w="12700">
            <a:solidFill>
              <a:srgbClr val="f4f5f7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33" name="Image 7" descr="preencoded.png"/>
          <p:cNvPicPr/>
          <p:nvPr/>
        </p:nvPicPr>
        <p:blipFill>
          <a:blip r:embed="rId8"/>
          <a:stretch/>
        </p:blipFill>
        <p:spPr>
          <a:xfrm>
            <a:off x="631080" y="4032360"/>
            <a:ext cx="255600" cy="255600"/>
          </a:xfrm>
          <a:prstGeom prst="rect">
            <a:avLst/>
          </a:prstGeom>
          <a:ln w="0">
            <a:noFill/>
          </a:ln>
        </p:spPr>
      </p:pic>
      <p:sp>
        <p:nvSpPr>
          <p:cNvPr id="234" name="Text 23"/>
          <p:cNvSpPr/>
          <p:nvPr/>
        </p:nvSpPr>
        <p:spPr>
          <a:xfrm>
            <a:off x="960120" y="3877200"/>
            <a:ext cx="1874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1c2535"/>
                </a:solidFill>
                <a:latin typeface="Calibri"/>
              </a:rPr>
              <a:t>Adhesivo cerámico C2</a:t>
            </a:r>
            <a:endParaRPr b="0" lang="es-E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Text 24"/>
          <p:cNvSpPr/>
          <p:nvPr/>
        </p:nvSpPr>
        <p:spPr>
          <a:xfrm>
            <a:off x="960120" y="4187880"/>
            <a:ext cx="18741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8b95a1"/>
                </a:solidFill>
                <a:latin typeface="Calibri"/>
              </a:rPr>
              <a:t>5 kg</a:t>
            </a:r>
            <a:endParaRPr b="0" lang="es-E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Shape 25"/>
          <p:cNvSpPr/>
          <p:nvPr/>
        </p:nvSpPr>
        <p:spPr>
          <a:xfrm>
            <a:off x="3200400" y="3785760"/>
            <a:ext cx="2422800" cy="712800"/>
          </a:xfrm>
          <a:prstGeom prst="roundRect">
            <a:avLst>
              <a:gd name="adj" fmla="val 10256"/>
            </a:avLst>
          </a:prstGeom>
          <a:solidFill>
            <a:srgbClr val="f4f5f7"/>
          </a:solidFill>
          <a:ln w="12700">
            <a:solidFill>
              <a:srgbClr val="f4f5f7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37" name="Image 8" descr="preencoded.png"/>
          <p:cNvPicPr/>
          <p:nvPr/>
        </p:nvPicPr>
        <p:blipFill>
          <a:blip r:embed="rId9"/>
          <a:stretch/>
        </p:blipFill>
        <p:spPr>
          <a:xfrm>
            <a:off x="3328560" y="4032360"/>
            <a:ext cx="255600" cy="255600"/>
          </a:xfrm>
          <a:prstGeom prst="rect">
            <a:avLst/>
          </a:prstGeom>
          <a:ln w="0">
            <a:noFill/>
          </a:ln>
        </p:spPr>
      </p:pic>
      <p:sp>
        <p:nvSpPr>
          <p:cNvPr id="238" name="Text 26"/>
          <p:cNvSpPr/>
          <p:nvPr/>
        </p:nvSpPr>
        <p:spPr>
          <a:xfrm>
            <a:off x="3657600" y="3877200"/>
            <a:ext cx="1874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1c2535"/>
                </a:solidFill>
                <a:latin typeface="Calibri"/>
              </a:rPr>
              <a:t>Azulejo 30×60 mate</a:t>
            </a:r>
            <a:endParaRPr b="0" lang="es-E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Text 27"/>
          <p:cNvSpPr/>
          <p:nvPr/>
        </p:nvSpPr>
        <p:spPr>
          <a:xfrm>
            <a:off x="3657600" y="4187880"/>
            <a:ext cx="18741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8b95a1"/>
                </a:solidFill>
                <a:latin typeface="Calibri"/>
              </a:rPr>
              <a:t>8 m²</a:t>
            </a:r>
            <a:endParaRPr b="0" lang="es-E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Shape 28"/>
          <p:cNvSpPr/>
          <p:nvPr/>
        </p:nvSpPr>
        <p:spPr>
          <a:xfrm>
            <a:off x="5897880" y="3785760"/>
            <a:ext cx="2422800" cy="712800"/>
          </a:xfrm>
          <a:prstGeom prst="roundRect">
            <a:avLst>
              <a:gd name="adj" fmla="val 10256"/>
            </a:avLst>
          </a:prstGeom>
          <a:solidFill>
            <a:srgbClr val="f4f5f7"/>
          </a:solidFill>
          <a:ln w="12700">
            <a:solidFill>
              <a:srgbClr val="f4f5f7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41" name="Image 9" descr="preencoded.png"/>
          <p:cNvPicPr/>
          <p:nvPr/>
        </p:nvPicPr>
        <p:blipFill>
          <a:blip r:embed="rId10"/>
          <a:stretch/>
        </p:blipFill>
        <p:spPr>
          <a:xfrm>
            <a:off x="6026040" y="4032360"/>
            <a:ext cx="255600" cy="255600"/>
          </a:xfrm>
          <a:prstGeom prst="rect">
            <a:avLst/>
          </a:prstGeom>
          <a:ln w="0">
            <a:noFill/>
          </a:ln>
        </p:spPr>
      </p:pic>
      <p:sp>
        <p:nvSpPr>
          <p:cNvPr id="242" name="Text 29"/>
          <p:cNvSpPr/>
          <p:nvPr/>
        </p:nvSpPr>
        <p:spPr>
          <a:xfrm>
            <a:off x="6355080" y="3877200"/>
            <a:ext cx="1874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1c2535"/>
                </a:solidFill>
                <a:latin typeface="Calibri"/>
              </a:rPr>
              <a:t>Lechada junta 2 kg</a:t>
            </a:r>
            <a:endParaRPr b="0" lang="es-E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Text 30"/>
          <p:cNvSpPr/>
          <p:nvPr/>
        </p:nvSpPr>
        <p:spPr>
          <a:xfrm>
            <a:off x="6355080" y="4187880"/>
            <a:ext cx="18741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8b95a1"/>
                </a:solidFill>
                <a:latin typeface="Calibri"/>
              </a:rPr>
              <a:t>Gris perla</a:t>
            </a:r>
            <a:endParaRPr b="0" lang="es-E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Shape 31"/>
          <p:cNvSpPr/>
          <p:nvPr/>
        </p:nvSpPr>
        <p:spPr>
          <a:xfrm>
            <a:off x="7452360" y="4663440"/>
            <a:ext cx="1279800" cy="365400"/>
          </a:xfrm>
          <a:prstGeom prst="roundRect">
            <a:avLst>
              <a:gd name="adj" fmla="val 20000"/>
            </a:avLst>
          </a:prstGeom>
          <a:solidFill>
            <a:srgbClr val="c8922a"/>
          </a:solidFill>
          <a:ln w="12700">
            <a:solidFill>
              <a:srgbClr val="c89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Text 32"/>
          <p:cNvSpPr/>
          <p:nvPr/>
        </p:nvSpPr>
        <p:spPr>
          <a:xfrm>
            <a:off x="7452360" y="4663440"/>
            <a:ext cx="12798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18 partidas</a:t>
            </a:r>
            <a:endParaRPr b="0" lang="es-E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Text 33"/>
          <p:cNvSpPr/>
          <p:nvPr/>
        </p:nvSpPr>
        <p:spPr>
          <a:xfrm>
            <a:off x="8046720" y="4846320"/>
            <a:ext cx="8226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9ba8b5"/>
                </a:solidFill>
                <a:latin typeface="Calibri"/>
              </a:rPr>
              <a:t>6 / 13</a:t>
            </a:r>
            <a:endParaRPr b="0" lang="es-E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Text 34"/>
          <p:cNvSpPr/>
          <p:nvPr/>
        </p:nvSpPr>
        <p:spPr>
          <a:xfrm>
            <a:off x="457200" y="4846320"/>
            <a:ext cx="36572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9ba8b5"/>
                </a:solidFill>
                <a:latin typeface="Calibri"/>
              </a:rPr>
              <a:t>TrabFlow × OBRAMAT · Confidencial</a:t>
            </a:r>
            <a:endParaRPr b="0" lang="es-E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Text 0"/>
          <p:cNvSpPr/>
          <p:nvPr/>
        </p:nvSpPr>
        <p:spPr>
          <a:xfrm>
            <a:off x="502920" y="292680"/>
            <a:ext cx="8229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100" spc="398" strike="noStrike">
                <a:solidFill>
                  <a:srgbClr val="1a5a96"/>
                </a:solidFill>
                <a:latin typeface="Calibri"/>
              </a:rPr>
              <a:t>CASO REAL 3</a:t>
            </a:r>
            <a:endParaRPr b="0" lang="es-E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Text 1"/>
          <p:cNvSpPr/>
          <p:nvPr/>
        </p:nvSpPr>
        <p:spPr>
          <a:xfrm>
            <a:off x="502920" y="594360"/>
            <a:ext cx="82292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1c2535"/>
                </a:solidFill>
                <a:latin typeface="Cambria"/>
                <a:ea typeface="Cambria"/>
              </a:rPr>
              <a:t>Instalación eléctrica completa — cuadro de 10 circuitos</a:t>
            </a:r>
            <a:endParaRPr b="0" lang="es-E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Shape 2"/>
          <p:cNvSpPr/>
          <p:nvPr/>
        </p:nvSpPr>
        <p:spPr>
          <a:xfrm>
            <a:off x="502920" y="1325880"/>
            <a:ext cx="8229240" cy="639720"/>
          </a:xfrm>
          <a:prstGeom prst="roundRect">
            <a:avLst>
              <a:gd name="adj" fmla="val 14286"/>
            </a:avLst>
          </a:prstGeom>
          <a:solidFill>
            <a:srgbClr val="1c2535"/>
          </a:solidFill>
          <a:ln w="12700">
            <a:solidFill>
              <a:srgbClr val="1c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51" name="Image 0" descr="preencoded.png"/>
          <p:cNvPicPr/>
          <p:nvPr/>
        </p:nvPicPr>
        <p:blipFill>
          <a:blip r:embed="rId1"/>
          <a:stretch/>
        </p:blipFill>
        <p:spPr>
          <a:xfrm>
            <a:off x="658440" y="1417320"/>
            <a:ext cx="292320" cy="292320"/>
          </a:xfrm>
          <a:prstGeom prst="rect">
            <a:avLst/>
          </a:prstGeom>
          <a:ln w="0">
            <a:noFill/>
          </a:ln>
        </p:spPr>
      </p:pic>
      <p:sp>
        <p:nvSpPr>
          <p:cNvPr id="252" name="Text 3"/>
          <p:cNvSpPr/>
          <p:nvPr/>
        </p:nvSpPr>
        <p:spPr>
          <a:xfrm>
            <a:off x="1051560" y="1435680"/>
            <a:ext cx="7543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ffffff"/>
                </a:solidFill>
                <a:latin typeface="Calibri"/>
              </a:rPr>
              <a:t>"Cuadro eléctrico 10 circuitos, vivienda 90m², cableado y mecanismos completos."</a:t>
            </a:r>
            <a:endParaRPr b="0" lang="es-E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Text 4"/>
          <p:cNvSpPr/>
          <p:nvPr/>
        </p:nvSpPr>
        <p:spPr>
          <a:xfrm>
            <a:off x="502920" y="2084760"/>
            <a:ext cx="37486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900" spc="199" strike="noStrike">
                <a:solidFill>
                  <a:srgbClr val="8b95a1"/>
                </a:solidFill>
                <a:latin typeface="Calibri"/>
              </a:rPr>
              <a:t>MATERIALES DETECTADOS</a:t>
            </a:r>
            <a:endParaRPr b="0" lang="es-E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Shape 5"/>
          <p:cNvSpPr/>
          <p:nvPr/>
        </p:nvSpPr>
        <p:spPr>
          <a:xfrm>
            <a:off x="502920" y="2359080"/>
            <a:ext cx="3748680" cy="347040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ffffff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55" name="Image 1" descr="preencoded.png"/>
          <p:cNvPicPr/>
          <p:nvPr/>
        </p:nvPicPr>
        <p:blipFill>
          <a:blip r:embed="rId2"/>
          <a:stretch/>
        </p:blipFill>
        <p:spPr>
          <a:xfrm>
            <a:off x="621720" y="2414160"/>
            <a:ext cx="219240" cy="219240"/>
          </a:xfrm>
          <a:prstGeom prst="rect">
            <a:avLst/>
          </a:prstGeom>
          <a:ln w="0">
            <a:noFill/>
          </a:ln>
        </p:spPr>
      </p:pic>
      <p:sp>
        <p:nvSpPr>
          <p:cNvPr id="256" name="Text 6"/>
          <p:cNvSpPr/>
          <p:nvPr/>
        </p:nvSpPr>
        <p:spPr>
          <a:xfrm>
            <a:off x="960120" y="2395800"/>
            <a:ext cx="31086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c2535"/>
                </a:solidFill>
                <a:latin typeface="Calibri"/>
              </a:rPr>
              <a:t>Cuadro distribución 24 módulos</a:t>
            </a:r>
            <a:endParaRPr b="0" lang="es-E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Shape 7"/>
          <p:cNvSpPr/>
          <p:nvPr/>
        </p:nvSpPr>
        <p:spPr>
          <a:xfrm>
            <a:off x="502920" y="2761560"/>
            <a:ext cx="3748680" cy="347040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ffffff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58" name="Image 2" descr="preencoded.png"/>
          <p:cNvPicPr/>
          <p:nvPr/>
        </p:nvPicPr>
        <p:blipFill>
          <a:blip r:embed="rId3"/>
          <a:stretch/>
        </p:blipFill>
        <p:spPr>
          <a:xfrm>
            <a:off x="621720" y="2816280"/>
            <a:ext cx="219240" cy="219240"/>
          </a:xfrm>
          <a:prstGeom prst="rect">
            <a:avLst/>
          </a:prstGeom>
          <a:ln w="0">
            <a:noFill/>
          </a:ln>
        </p:spPr>
      </p:pic>
      <p:sp>
        <p:nvSpPr>
          <p:cNvPr id="259" name="Text 8"/>
          <p:cNvSpPr/>
          <p:nvPr/>
        </p:nvSpPr>
        <p:spPr>
          <a:xfrm>
            <a:off x="960120" y="2797920"/>
            <a:ext cx="31086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c2535"/>
                </a:solidFill>
                <a:latin typeface="Calibri"/>
              </a:rPr>
              <a:t>Magnetotérmicos 16A — 6 ud</a:t>
            </a:r>
            <a:endParaRPr b="0" lang="es-E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Shape 9"/>
          <p:cNvSpPr/>
          <p:nvPr/>
        </p:nvSpPr>
        <p:spPr>
          <a:xfrm>
            <a:off x="502920" y="3163680"/>
            <a:ext cx="3748680" cy="347040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ffffff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61" name="Image 3" descr="preencoded.png"/>
          <p:cNvPicPr/>
          <p:nvPr/>
        </p:nvPicPr>
        <p:blipFill>
          <a:blip r:embed="rId4"/>
          <a:stretch/>
        </p:blipFill>
        <p:spPr>
          <a:xfrm>
            <a:off x="621720" y="3218760"/>
            <a:ext cx="219240" cy="219240"/>
          </a:xfrm>
          <a:prstGeom prst="rect">
            <a:avLst/>
          </a:prstGeom>
          <a:ln w="0">
            <a:noFill/>
          </a:ln>
        </p:spPr>
      </p:pic>
      <p:sp>
        <p:nvSpPr>
          <p:cNvPr id="262" name="Text 10"/>
          <p:cNvSpPr/>
          <p:nvPr/>
        </p:nvSpPr>
        <p:spPr>
          <a:xfrm>
            <a:off x="960120" y="3200400"/>
            <a:ext cx="31086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c2535"/>
                </a:solidFill>
                <a:latin typeface="Calibri"/>
              </a:rPr>
              <a:t>Diferencial 40A 30mA — 2 ud</a:t>
            </a:r>
            <a:endParaRPr b="0" lang="es-E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Shape 11"/>
          <p:cNvSpPr/>
          <p:nvPr/>
        </p:nvSpPr>
        <p:spPr>
          <a:xfrm>
            <a:off x="502920" y="3566160"/>
            <a:ext cx="3748680" cy="347040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ffffff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64" name="Image 4" descr="preencoded.png"/>
          <p:cNvPicPr/>
          <p:nvPr/>
        </p:nvPicPr>
        <p:blipFill>
          <a:blip r:embed="rId5"/>
          <a:stretch/>
        </p:blipFill>
        <p:spPr>
          <a:xfrm>
            <a:off x="621720" y="3620880"/>
            <a:ext cx="219240" cy="219240"/>
          </a:xfrm>
          <a:prstGeom prst="rect">
            <a:avLst/>
          </a:prstGeom>
          <a:ln w="0">
            <a:noFill/>
          </a:ln>
        </p:spPr>
      </p:pic>
      <p:sp>
        <p:nvSpPr>
          <p:cNvPr id="265" name="Text 12"/>
          <p:cNvSpPr/>
          <p:nvPr/>
        </p:nvSpPr>
        <p:spPr>
          <a:xfrm>
            <a:off x="960120" y="3602880"/>
            <a:ext cx="31086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c2535"/>
                </a:solidFill>
                <a:latin typeface="Calibri"/>
              </a:rPr>
              <a:t>Cable 2.5mm² rollo 100m — 2 ud</a:t>
            </a:r>
            <a:endParaRPr b="0" lang="es-E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Shape 13"/>
          <p:cNvSpPr/>
          <p:nvPr/>
        </p:nvSpPr>
        <p:spPr>
          <a:xfrm>
            <a:off x="502920" y="3968640"/>
            <a:ext cx="3748680" cy="347040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ffffff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67" name="Image 5" descr="preencoded.png"/>
          <p:cNvPicPr/>
          <p:nvPr/>
        </p:nvPicPr>
        <p:blipFill>
          <a:blip r:embed="rId6"/>
          <a:stretch/>
        </p:blipFill>
        <p:spPr>
          <a:xfrm>
            <a:off x="621720" y="4023360"/>
            <a:ext cx="219240" cy="219240"/>
          </a:xfrm>
          <a:prstGeom prst="rect">
            <a:avLst/>
          </a:prstGeom>
          <a:ln w="0">
            <a:noFill/>
          </a:ln>
        </p:spPr>
      </p:pic>
      <p:sp>
        <p:nvSpPr>
          <p:cNvPr id="268" name="Text 14"/>
          <p:cNvSpPr/>
          <p:nvPr/>
        </p:nvSpPr>
        <p:spPr>
          <a:xfrm>
            <a:off x="960120" y="4005000"/>
            <a:ext cx="31086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c2535"/>
                </a:solidFill>
                <a:latin typeface="Calibri"/>
              </a:rPr>
              <a:t>Cable 1.5mm² rollo 100m — 1 ud</a:t>
            </a:r>
            <a:endParaRPr b="0" lang="es-E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Shape 15"/>
          <p:cNvSpPr/>
          <p:nvPr/>
        </p:nvSpPr>
        <p:spPr>
          <a:xfrm>
            <a:off x="502920" y="4370760"/>
            <a:ext cx="3748680" cy="347040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ffffff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70" name="Image 6" descr="preencoded.png"/>
          <p:cNvPicPr/>
          <p:nvPr/>
        </p:nvPicPr>
        <p:blipFill>
          <a:blip r:embed="rId7"/>
          <a:stretch/>
        </p:blipFill>
        <p:spPr>
          <a:xfrm>
            <a:off x="621720" y="4425840"/>
            <a:ext cx="219240" cy="219240"/>
          </a:xfrm>
          <a:prstGeom prst="rect">
            <a:avLst/>
          </a:prstGeom>
          <a:ln w="0">
            <a:noFill/>
          </a:ln>
        </p:spPr>
      </p:pic>
      <p:sp>
        <p:nvSpPr>
          <p:cNvPr id="271" name="Text 16"/>
          <p:cNvSpPr/>
          <p:nvPr/>
        </p:nvSpPr>
        <p:spPr>
          <a:xfrm>
            <a:off x="960120" y="4407480"/>
            <a:ext cx="31086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c2535"/>
                </a:solidFill>
                <a:latin typeface="Calibri"/>
              </a:rPr>
              <a:t>Tubo corrugado ø20 — 50 ml</a:t>
            </a:r>
            <a:endParaRPr b="0" lang="es-E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Shape 17"/>
          <p:cNvSpPr/>
          <p:nvPr/>
        </p:nvSpPr>
        <p:spPr>
          <a:xfrm>
            <a:off x="502920" y="4773240"/>
            <a:ext cx="3748680" cy="347040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ffffff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73" name="Image 7" descr="preencoded.png"/>
          <p:cNvPicPr/>
          <p:nvPr/>
        </p:nvPicPr>
        <p:blipFill>
          <a:blip r:embed="rId8"/>
          <a:stretch/>
        </p:blipFill>
        <p:spPr>
          <a:xfrm>
            <a:off x="621720" y="4827960"/>
            <a:ext cx="219240" cy="219240"/>
          </a:xfrm>
          <a:prstGeom prst="rect">
            <a:avLst/>
          </a:prstGeom>
          <a:ln w="0">
            <a:noFill/>
          </a:ln>
        </p:spPr>
      </p:pic>
      <p:sp>
        <p:nvSpPr>
          <p:cNvPr id="274" name="Text 18"/>
          <p:cNvSpPr/>
          <p:nvPr/>
        </p:nvSpPr>
        <p:spPr>
          <a:xfrm>
            <a:off x="960120" y="4809600"/>
            <a:ext cx="31086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c2535"/>
                </a:solidFill>
                <a:latin typeface="Calibri"/>
              </a:rPr>
              <a:t>Mecanismos completos — 10 conjuntos</a:t>
            </a:r>
            <a:endParaRPr b="0" lang="es-E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Shape 19"/>
          <p:cNvSpPr/>
          <p:nvPr/>
        </p:nvSpPr>
        <p:spPr>
          <a:xfrm>
            <a:off x="4572000" y="1234440"/>
            <a:ext cx="4114440" cy="370296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ffffff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Shape 20"/>
          <p:cNvSpPr/>
          <p:nvPr/>
        </p:nvSpPr>
        <p:spPr>
          <a:xfrm>
            <a:off x="4572000" y="1234440"/>
            <a:ext cx="4114440" cy="438480"/>
          </a:xfrm>
          <a:prstGeom prst="roundRect">
            <a:avLst>
              <a:gd name="adj" fmla="val 31250"/>
            </a:avLst>
          </a:prstGeom>
          <a:solidFill>
            <a:srgbClr val="1c2535"/>
          </a:solidFill>
          <a:ln w="12700">
            <a:solidFill>
              <a:srgbClr val="1c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7" name="Text 21"/>
          <p:cNvSpPr/>
          <p:nvPr/>
        </p:nvSpPr>
        <p:spPr>
          <a:xfrm>
            <a:off x="4663440" y="1261800"/>
            <a:ext cx="39315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Pedidos de Material  — OBRAMAT</a:t>
            </a:r>
            <a:endParaRPr b="0" lang="es-E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Shape 22"/>
          <p:cNvSpPr/>
          <p:nvPr/>
        </p:nvSpPr>
        <p:spPr>
          <a:xfrm>
            <a:off x="4681800" y="1764720"/>
            <a:ext cx="3885840" cy="383760"/>
          </a:xfrm>
          <a:prstGeom prst="roundRect">
            <a:avLst>
              <a:gd name="adj" fmla="val 14286"/>
            </a:avLst>
          </a:prstGeom>
          <a:solidFill>
            <a:srgbClr val="e8f0f8"/>
          </a:solidFill>
          <a:ln w="12700">
            <a:solidFill>
              <a:srgbClr val="e8f0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Text 23"/>
          <p:cNvSpPr/>
          <p:nvPr/>
        </p:nvSpPr>
        <p:spPr>
          <a:xfrm>
            <a:off x="4773240" y="1801440"/>
            <a:ext cx="34743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1a5a96"/>
                </a:solidFill>
                <a:latin typeface="Calibri"/>
              </a:rPr>
              <a:t>Desde presupuesto PRE-2026-061</a:t>
            </a:r>
            <a:endParaRPr b="0" lang="es-E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Shape 24"/>
          <p:cNvSpPr/>
          <p:nvPr/>
        </p:nvSpPr>
        <p:spPr>
          <a:xfrm>
            <a:off x="4681440" y="2624040"/>
            <a:ext cx="3886200" cy="360"/>
          </a:xfrm>
          <a:prstGeom prst="line">
            <a:avLst/>
          </a:prstGeom>
          <a:ln w="12700">
            <a:solidFill>
              <a:srgbClr val="f4f5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Text 25"/>
          <p:cNvSpPr/>
          <p:nvPr/>
        </p:nvSpPr>
        <p:spPr>
          <a:xfrm>
            <a:off x="4736520" y="2313360"/>
            <a:ext cx="29257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1c2535"/>
                </a:solidFill>
                <a:latin typeface="Calibri"/>
              </a:rPr>
              <a:t>Cuadro distribución 24 módulos · 1 ud</a:t>
            </a:r>
            <a:endParaRPr b="0" lang="es-E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Text 26"/>
          <p:cNvSpPr/>
          <p:nvPr/>
        </p:nvSpPr>
        <p:spPr>
          <a:xfrm>
            <a:off x="7635240" y="2313360"/>
            <a:ext cx="914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2d7a2d"/>
                </a:solidFill>
                <a:latin typeface="Calibri"/>
              </a:rPr>
              <a:t>89,90€</a:t>
            </a:r>
            <a:endParaRPr b="0" lang="es-E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Shape 27"/>
          <p:cNvSpPr/>
          <p:nvPr/>
        </p:nvSpPr>
        <p:spPr>
          <a:xfrm>
            <a:off x="4681440" y="3035520"/>
            <a:ext cx="3886200" cy="360"/>
          </a:xfrm>
          <a:prstGeom prst="line">
            <a:avLst/>
          </a:prstGeom>
          <a:ln w="12700">
            <a:solidFill>
              <a:srgbClr val="f4f5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Text 28"/>
          <p:cNvSpPr/>
          <p:nvPr/>
        </p:nvSpPr>
        <p:spPr>
          <a:xfrm>
            <a:off x="4736520" y="2724840"/>
            <a:ext cx="29257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1c2535"/>
                </a:solidFill>
                <a:latin typeface="Calibri"/>
              </a:rPr>
              <a:t>Magnetotérmico 16A · 6 ud</a:t>
            </a:r>
            <a:endParaRPr b="0" lang="es-E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Text 29"/>
          <p:cNvSpPr/>
          <p:nvPr/>
        </p:nvSpPr>
        <p:spPr>
          <a:xfrm>
            <a:off x="7635240" y="2724840"/>
            <a:ext cx="914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2d7a2d"/>
                </a:solidFill>
                <a:latin typeface="Calibri"/>
              </a:rPr>
              <a:t>47,40€</a:t>
            </a:r>
            <a:endParaRPr b="0" lang="es-E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Shape 30"/>
          <p:cNvSpPr/>
          <p:nvPr/>
        </p:nvSpPr>
        <p:spPr>
          <a:xfrm>
            <a:off x="4681440" y="3447000"/>
            <a:ext cx="3886200" cy="360"/>
          </a:xfrm>
          <a:prstGeom prst="line">
            <a:avLst/>
          </a:prstGeom>
          <a:ln w="12700">
            <a:solidFill>
              <a:srgbClr val="f4f5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" name="Text 31"/>
          <p:cNvSpPr/>
          <p:nvPr/>
        </p:nvSpPr>
        <p:spPr>
          <a:xfrm>
            <a:off x="4736520" y="3136320"/>
            <a:ext cx="29257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1c2535"/>
                </a:solidFill>
                <a:latin typeface="Calibri"/>
              </a:rPr>
              <a:t>Diferencial 40A · 2 ud</a:t>
            </a:r>
            <a:endParaRPr b="0" lang="es-E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Text 32"/>
          <p:cNvSpPr/>
          <p:nvPr/>
        </p:nvSpPr>
        <p:spPr>
          <a:xfrm>
            <a:off x="7635240" y="3136320"/>
            <a:ext cx="914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2d7a2d"/>
                </a:solidFill>
                <a:latin typeface="Calibri"/>
              </a:rPr>
              <a:t>63,80€</a:t>
            </a:r>
            <a:endParaRPr b="0" lang="es-E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" name="Shape 33"/>
          <p:cNvSpPr/>
          <p:nvPr/>
        </p:nvSpPr>
        <p:spPr>
          <a:xfrm>
            <a:off x="4681440" y="3858480"/>
            <a:ext cx="3886200" cy="360"/>
          </a:xfrm>
          <a:prstGeom prst="line">
            <a:avLst/>
          </a:prstGeom>
          <a:ln w="12700">
            <a:solidFill>
              <a:srgbClr val="f4f5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Text 34"/>
          <p:cNvSpPr/>
          <p:nvPr/>
        </p:nvSpPr>
        <p:spPr>
          <a:xfrm>
            <a:off x="4736520" y="3547800"/>
            <a:ext cx="29257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1c2535"/>
                </a:solidFill>
                <a:latin typeface="Calibri"/>
              </a:rPr>
              <a:t>Cable 2.5mm² rollo · 2 ud</a:t>
            </a:r>
            <a:endParaRPr b="0" lang="es-E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Text 35"/>
          <p:cNvSpPr/>
          <p:nvPr/>
        </p:nvSpPr>
        <p:spPr>
          <a:xfrm>
            <a:off x="7635240" y="3547800"/>
            <a:ext cx="914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2d7a2d"/>
                </a:solidFill>
                <a:latin typeface="Calibri"/>
              </a:rPr>
              <a:t>54,60€</a:t>
            </a:r>
            <a:endParaRPr b="0" lang="es-E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Shape 36"/>
          <p:cNvSpPr/>
          <p:nvPr/>
        </p:nvSpPr>
        <p:spPr>
          <a:xfrm>
            <a:off x="4681440" y="4269960"/>
            <a:ext cx="3886200" cy="360"/>
          </a:xfrm>
          <a:prstGeom prst="line">
            <a:avLst/>
          </a:prstGeom>
          <a:ln w="12700">
            <a:solidFill>
              <a:srgbClr val="f4f5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Text 37"/>
          <p:cNvSpPr/>
          <p:nvPr/>
        </p:nvSpPr>
        <p:spPr>
          <a:xfrm>
            <a:off x="4736520" y="3959280"/>
            <a:ext cx="29257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1c2535"/>
                </a:solidFill>
                <a:latin typeface="Calibri"/>
              </a:rPr>
              <a:t>Mecanismos · 10 conjuntos</a:t>
            </a:r>
            <a:endParaRPr b="0" lang="es-E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Text 38"/>
          <p:cNvSpPr/>
          <p:nvPr/>
        </p:nvSpPr>
        <p:spPr>
          <a:xfrm>
            <a:off x="7635240" y="3959280"/>
            <a:ext cx="914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2d7a2d"/>
                </a:solidFill>
                <a:latin typeface="Calibri"/>
              </a:rPr>
              <a:t>156,90€</a:t>
            </a:r>
            <a:endParaRPr b="0" lang="es-E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Shape 39"/>
          <p:cNvSpPr/>
          <p:nvPr/>
        </p:nvSpPr>
        <p:spPr>
          <a:xfrm>
            <a:off x="4572000" y="4316040"/>
            <a:ext cx="4114440" cy="502560"/>
          </a:xfrm>
          <a:prstGeom prst="roundRect">
            <a:avLst>
              <a:gd name="adj" fmla="val 18182"/>
            </a:avLst>
          </a:prstGeom>
          <a:solidFill>
            <a:srgbClr val="1a5a96"/>
          </a:solidFill>
          <a:ln w="12700">
            <a:solidFill>
              <a:srgbClr val="1a5a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" name="Text 40"/>
          <p:cNvSpPr/>
          <p:nvPr/>
        </p:nvSpPr>
        <p:spPr>
          <a:xfrm>
            <a:off x="4681800" y="4370760"/>
            <a:ext cx="22856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TOTAL PEDIDO OBRAMAT</a:t>
            </a:r>
            <a:endParaRPr b="0" lang="es-E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Text 41"/>
          <p:cNvSpPr/>
          <p:nvPr/>
        </p:nvSpPr>
        <p:spPr>
          <a:xfrm>
            <a:off x="7132320" y="4370760"/>
            <a:ext cx="13712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c8922a"/>
                </a:solidFill>
                <a:latin typeface="Calibri"/>
              </a:rPr>
              <a:t>412,60€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Text 42"/>
          <p:cNvSpPr/>
          <p:nvPr/>
        </p:nvSpPr>
        <p:spPr>
          <a:xfrm>
            <a:off x="8046720" y="4846320"/>
            <a:ext cx="8226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9ba8b5"/>
                </a:solidFill>
                <a:latin typeface="Calibri"/>
              </a:rPr>
              <a:t>7 / 13</a:t>
            </a:r>
            <a:endParaRPr b="0" lang="es-E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Text 43"/>
          <p:cNvSpPr/>
          <p:nvPr/>
        </p:nvSpPr>
        <p:spPr>
          <a:xfrm>
            <a:off x="457200" y="4846320"/>
            <a:ext cx="36572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9ba8b5"/>
                </a:solidFill>
                <a:latin typeface="Calibri"/>
              </a:rPr>
              <a:t>TrabFlow × OBRAMAT · Confidencial</a:t>
            </a:r>
            <a:endParaRPr b="0" lang="es-E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c25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Text 0"/>
          <p:cNvSpPr/>
          <p:nvPr/>
        </p:nvSpPr>
        <p:spPr>
          <a:xfrm>
            <a:off x="502920" y="292680"/>
            <a:ext cx="8229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100" spc="398" strike="noStrike">
                <a:solidFill>
                  <a:srgbClr val="c8922a"/>
                </a:solidFill>
                <a:latin typeface="Calibri"/>
              </a:rPr>
              <a:t>INTEGRACIÓN CON OBRAMAT</a:t>
            </a:r>
            <a:endParaRPr b="0" lang="es-E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1" name="Text 1"/>
          <p:cNvSpPr/>
          <p:nvPr/>
        </p:nvSpPr>
        <p:spPr>
          <a:xfrm>
            <a:off x="502920" y="594360"/>
            <a:ext cx="77720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15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El catálogo OBRAMAT, en el momento en que el instalador decide qué comprar.</a:t>
            </a:r>
            <a:endParaRPr b="0" lang="es-E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2" name="Shape 2"/>
          <p:cNvSpPr/>
          <p:nvPr/>
        </p:nvSpPr>
        <p:spPr>
          <a:xfrm>
            <a:off x="502920" y="1508760"/>
            <a:ext cx="4205880" cy="342864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ffffff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Shape 3"/>
          <p:cNvSpPr/>
          <p:nvPr/>
        </p:nvSpPr>
        <p:spPr>
          <a:xfrm>
            <a:off x="502920" y="1508760"/>
            <a:ext cx="4205880" cy="511560"/>
          </a:xfrm>
          <a:prstGeom prst="roundRect">
            <a:avLst>
              <a:gd name="adj" fmla="val 35714"/>
            </a:avLst>
          </a:prstGeom>
          <a:solidFill>
            <a:srgbClr val="1a5a96"/>
          </a:solidFill>
          <a:ln w="12700">
            <a:solidFill>
              <a:srgbClr val="1a5a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Text 4"/>
          <p:cNvSpPr/>
          <p:nvPr/>
        </p:nvSpPr>
        <p:spPr>
          <a:xfrm>
            <a:off x="640080" y="1554480"/>
            <a:ext cx="39315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Catálogo OBRAMAT</a:t>
            </a:r>
            <a:endParaRPr b="0" lang="es-E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5" name="Shape 5"/>
          <p:cNvSpPr/>
          <p:nvPr/>
        </p:nvSpPr>
        <p:spPr>
          <a:xfrm>
            <a:off x="640080" y="2121480"/>
            <a:ext cx="3885840" cy="402120"/>
          </a:xfrm>
          <a:prstGeom prst="roundRect">
            <a:avLst>
              <a:gd name="adj" fmla="val 18182"/>
            </a:avLst>
          </a:prstGeom>
          <a:solidFill>
            <a:srgbClr val="f4f5f7"/>
          </a:solidFill>
          <a:ln w="12700">
            <a:solidFill>
              <a:srgbClr val="f4f5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06" name="Image 0" descr="preencoded.png"/>
          <p:cNvPicPr/>
          <p:nvPr/>
        </p:nvPicPr>
        <p:blipFill>
          <a:blip r:embed="rId1"/>
          <a:stretch/>
        </p:blipFill>
        <p:spPr>
          <a:xfrm>
            <a:off x="758880" y="2176200"/>
            <a:ext cx="255600" cy="255600"/>
          </a:xfrm>
          <a:prstGeom prst="rect">
            <a:avLst/>
          </a:prstGeom>
          <a:ln w="0">
            <a:noFill/>
          </a:ln>
        </p:spPr>
      </p:pic>
      <p:sp>
        <p:nvSpPr>
          <p:cNvPr id="307" name="Text 6"/>
          <p:cNvSpPr/>
          <p:nvPr/>
        </p:nvSpPr>
        <p:spPr>
          <a:xfrm>
            <a:off x="1078920" y="2157840"/>
            <a:ext cx="3200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8b95a1"/>
                </a:solidFill>
                <a:latin typeface="Calibri"/>
              </a:rPr>
              <a:t>Tubo multicapa 20</a:t>
            </a:r>
            <a:endParaRPr b="0" lang="es-E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8" name="Shape 7"/>
          <p:cNvSpPr/>
          <p:nvPr/>
        </p:nvSpPr>
        <p:spPr>
          <a:xfrm>
            <a:off x="640080" y="2651760"/>
            <a:ext cx="3885840" cy="658080"/>
          </a:xfrm>
          <a:prstGeom prst="roundRect">
            <a:avLst>
              <a:gd name="adj" fmla="val 11111"/>
            </a:avLst>
          </a:prstGeom>
          <a:solidFill>
            <a:srgbClr val="eef3f9"/>
          </a:solidFill>
          <a:ln w="12700">
            <a:solidFill>
              <a:srgbClr val="eef3f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Shape 8"/>
          <p:cNvSpPr/>
          <p:nvPr/>
        </p:nvSpPr>
        <p:spPr>
          <a:xfrm>
            <a:off x="667440" y="2688480"/>
            <a:ext cx="502560" cy="585000"/>
          </a:xfrm>
          <a:prstGeom prst="roundRect">
            <a:avLst>
              <a:gd name="adj" fmla="val 10909"/>
            </a:avLst>
          </a:prstGeom>
          <a:solidFill>
            <a:srgbClr val="f4f5f7"/>
          </a:solidFill>
          <a:ln w="12700">
            <a:solidFill>
              <a:srgbClr val="f4f5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Text 9"/>
          <p:cNvSpPr/>
          <p:nvPr/>
        </p:nvSpPr>
        <p:spPr>
          <a:xfrm>
            <a:off x="1234440" y="2724840"/>
            <a:ext cx="21942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1c2535"/>
                </a:solidFill>
                <a:latin typeface="Calibri"/>
              </a:rPr>
              <a:t>Tubo PEX-AL-PEX ø20 (rollo 50m)</a:t>
            </a:r>
            <a:endParaRPr b="0" lang="es-E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1" name="Text 10"/>
          <p:cNvSpPr/>
          <p:nvPr/>
        </p:nvSpPr>
        <p:spPr>
          <a:xfrm>
            <a:off x="1234440" y="2980800"/>
            <a:ext cx="2194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8b95a1"/>
                </a:solidFill>
                <a:latin typeface="Calibri"/>
              </a:rPr>
              <a:t>OBR-TUB-20-50 · En stock</a:t>
            </a:r>
            <a:endParaRPr b="0" lang="es-E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2" name="Shape 11"/>
          <p:cNvSpPr/>
          <p:nvPr/>
        </p:nvSpPr>
        <p:spPr>
          <a:xfrm>
            <a:off x="3364920" y="2816280"/>
            <a:ext cx="1005480" cy="328680"/>
          </a:xfrm>
          <a:prstGeom prst="roundRect">
            <a:avLst>
              <a:gd name="adj" fmla="val 16667"/>
            </a:avLst>
          </a:prstGeom>
          <a:solidFill>
            <a:srgbClr val="d4edda"/>
          </a:solidFill>
          <a:ln w="12700">
            <a:solidFill>
              <a:srgbClr val="d4ed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" name="Text 12"/>
          <p:cNvSpPr/>
          <p:nvPr/>
        </p:nvSpPr>
        <p:spPr>
          <a:xfrm>
            <a:off x="3364920" y="2816280"/>
            <a:ext cx="10054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2d7a2d"/>
                </a:solidFill>
                <a:latin typeface="Calibri"/>
              </a:rPr>
              <a:t>28,90€</a:t>
            </a:r>
            <a:endParaRPr b="0" lang="es-E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4" name="Shape 13"/>
          <p:cNvSpPr/>
          <p:nvPr/>
        </p:nvSpPr>
        <p:spPr>
          <a:xfrm>
            <a:off x="640080" y="3401640"/>
            <a:ext cx="3885840" cy="658080"/>
          </a:xfrm>
          <a:prstGeom prst="roundRect">
            <a:avLst>
              <a:gd name="adj" fmla="val 11111"/>
            </a:avLst>
          </a:prstGeom>
          <a:solidFill>
            <a:srgbClr val="eef3f9"/>
          </a:solidFill>
          <a:ln w="12700">
            <a:solidFill>
              <a:srgbClr val="eef3f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Shape 14"/>
          <p:cNvSpPr/>
          <p:nvPr/>
        </p:nvSpPr>
        <p:spPr>
          <a:xfrm>
            <a:off x="667440" y="3438000"/>
            <a:ext cx="502560" cy="585000"/>
          </a:xfrm>
          <a:prstGeom prst="roundRect">
            <a:avLst>
              <a:gd name="adj" fmla="val 10909"/>
            </a:avLst>
          </a:prstGeom>
          <a:solidFill>
            <a:srgbClr val="f4f5f7"/>
          </a:solidFill>
          <a:ln w="12700">
            <a:solidFill>
              <a:srgbClr val="f4f5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Text 15"/>
          <p:cNvSpPr/>
          <p:nvPr/>
        </p:nvSpPr>
        <p:spPr>
          <a:xfrm>
            <a:off x="1234440" y="3474720"/>
            <a:ext cx="21942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1c2535"/>
                </a:solidFill>
                <a:latin typeface="Calibri"/>
              </a:rPr>
              <a:t>Tubo PEX-AL-PEX ø20 (barra 5m)</a:t>
            </a:r>
            <a:endParaRPr b="0" lang="es-E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7" name="Text 16"/>
          <p:cNvSpPr/>
          <p:nvPr/>
        </p:nvSpPr>
        <p:spPr>
          <a:xfrm>
            <a:off x="1234440" y="3730680"/>
            <a:ext cx="2194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8b95a1"/>
                </a:solidFill>
                <a:latin typeface="Calibri"/>
              </a:rPr>
              <a:t>OBR-TUB-20-B5 · En stock</a:t>
            </a:r>
            <a:endParaRPr b="0" lang="es-E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8" name="Shape 17"/>
          <p:cNvSpPr/>
          <p:nvPr/>
        </p:nvSpPr>
        <p:spPr>
          <a:xfrm>
            <a:off x="3364920" y="3566160"/>
            <a:ext cx="1005480" cy="328680"/>
          </a:xfrm>
          <a:prstGeom prst="roundRect">
            <a:avLst>
              <a:gd name="adj" fmla="val 16667"/>
            </a:avLst>
          </a:prstGeom>
          <a:solidFill>
            <a:srgbClr val="d4edda"/>
          </a:solidFill>
          <a:ln w="12700">
            <a:solidFill>
              <a:srgbClr val="d4ed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Text 18"/>
          <p:cNvSpPr/>
          <p:nvPr/>
        </p:nvSpPr>
        <p:spPr>
          <a:xfrm>
            <a:off x="3364920" y="3566160"/>
            <a:ext cx="10054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2d7a2d"/>
                </a:solidFill>
                <a:latin typeface="Calibri"/>
              </a:rPr>
              <a:t>4,20€</a:t>
            </a:r>
            <a:endParaRPr b="0" lang="es-E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0" name="Shape 19"/>
          <p:cNvSpPr/>
          <p:nvPr/>
        </p:nvSpPr>
        <p:spPr>
          <a:xfrm>
            <a:off x="640080" y="4151520"/>
            <a:ext cx="3885840" cy="658080"/>
          </a:xfrm>
          <a:prstGeom prst="roundRect">
            <a:avLst>
              <a:gd name="adj" fmla="val 11111"/>
            </a:avLst>
          </a:prstGeom>
          <a:solidFill>
            <a:srgbClr val="eef3f9"/>
          </a:solidFill>
          <a:ln w="12700">
            <a:solidFill>
              <a:srgbClr val="eef3f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" name="Shape 20"/>
          <p:cNvSpPr/>
          <p:nvPr/>
        </p:nvSpPr>
        <p:spPr>
          <a:xfrm>
            <a:off x="667440" y="4187880"/>
            <a:ext cx="502560" cy="585000"/>
          </a:xfrm>
          <a:prstGeom prst="roundRect">
            <a:avLst>
              <a:gd name="adj" fmla="val 10909"/>
            </a:avLst>
          </a:prstGeom>
          <a:solidFill>
            <a:srgbClr val="f4f5f7"/>
          </a:solidFill>
          <a:ln w="12700">
            <a:solidFill>
              <a:srgbClr val="f4f5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Text 21"/>
          <p:cNvSpPr/>
          <p:nvPr/>
        </p:nvSpPr>
        <p:spPr>
          <a:xfrm>
            <a:off x="1234440" y="4224600"/>
            <a:ext cx="21942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1c2535"/>
                </a:solidFill>
                <a:latin typeface="Calibri"/>
              </a:rPr>
              <a:t>Codo multicapa 90° ø20</a:t>
            </a:r>
            <a:endParaRPr b="0" lang="es-E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3" name="Text 22"/>
          <p:cNvSpPr/>
          <p:nvPr/>
        </p:nvSpPr>
        <p:spPr>
          <a:xfrm>
            <a:off x="1234440" y="4480560"/>
            <a:ext cx="2194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8b95a1"/>
                </a:solidFill>
                <a:latin typeface="Calibri"/>
              </a:rPr>
              <a:t>OBR-COD-90-20 · En stock</a:t>
            </a:r>
            <a:endParaRPr b="0" lang="es-E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4" name="Shape 23"/>
          <p:cNvSpPr/>
          <p:nvPr/>
        </p:nvSpPr>
        <p:spPr>
          <a:xfrm>
            <a:off x="3364920" y="4316040"/>
            <a:ext cx="1005480" cy="328680"/>
          </a:xfrm>
          <a:prstGeom prst="roundRect">
            <a:avLst>
              <a:gd name="adj" fmla="val 16667"/>
            </a:avLst>
          </a:prstGeom>
          <a:solidFill>
            <a:srgbClr val="d4edda"/>
          </a:solidFill>
          <a:ln w="12700">
            <a:solidFill>
              <a:srgbClr val="d4ed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Text 24"/>
          <p:cNvSpPr/>
          <p:nvPr/>
        </p:nvSpPr>
        <p:spPr>
          <a:xfrm>
            <a:off x="3364920" y="4316040"/>
            <a:ext cx="10054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2d7a2d"/>
                </a:solidFill>
                <a:latin typeface="Calibri"/>
              </a:rPr>
              <a:t>1,85€</a:t>
            </a:r>
            <a:endParaRPr b="0" lang="es-E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6" name="Text 25"/>
          <p:cNvSpPr/>
          <p:nvPr/>
        </p:nvSpPr>
        <p:spPr>
          <a:xfrm>
            <a:off x="5029200" y="1554480"/>
            <a:ext cx="37486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900" spc="199" strike="noStrike">
                <a:solidFill>
                  <a:srgbClr val="c8922a"/>
                </a:solidFill>
                <a:latin typeface="Calibri"/>
              </a:rPr>
              <a:t>CÓMO FUNCIONA LA INTEGRACIÓN</a:t>
            </a:r>
            <a:endParaRPr b="0" lang="es-E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7" name="Shape 26"/>
          <p:cNvSpPr/>
          <p:nvPr/>
        </p:nvSpPr>
        <p:spPr>
          <a:xfrm>
            <a:off x="5029200" y="1874520"/>
            <a:ext cx="347040" cy="347040"/>
          </a:xfrm>
          <a:prstGeom prst="ellipse">
            <a:avLst/>
          </a:prstGeom>
          <a:solidFill>
            <a:srgbClr val="c8922a"/>
          </a:solidFill>
          <a:ln w="12700">
            <a:solidFill>
              <a:srgbClr val="c89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" name="Text 27"/>
          <p:cNvSpPr/>
          <p:nvPr/>
        </p:nvSpPr>
        <p:spPr>
          <a:xfrm>
            <a:off x="5029200" y="1874520"/>
            <a:ext cx="3470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c2535"/>
                </a:solidFill>
                <a:latin typeface="Calibri"/>
              </a:rPr>
              <a:t>1</a:t>
            </a:r>
            <a:endParaRPr b="0" lang="es-E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9" name="Text 28"/>
          <p:cNvSpPr/>
          <p:nvPr/>
        </p:nvSpPr>
        <p:spPr>
          <a:xfrm>
            <a:off x="5532120" y="1856160"/>
            <a:ext cx="3200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ffffff"/>
                </a:solidFill>
                <a:latin typeface="Calibri"/>
              </a:rPr>
              <a:t>API / feed CSV / Excel</a:t>
            </a:r>
            <a:endParaRPr b="0" lang="es-E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0" name="Text 29"/>
          <p:cNvSpPr/>
          <p:nvPr/>
        </p:nvSpPr>
        <p:spPr>
          <a:xfrm>
            <a:off x="5532120" y="2148840"/>
            <a:ext cx="32000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15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8fa4b5"/>
                </a:solidFill>
                <a:latin typeface="Calibri"/>
              </a:rPr>
              <a:t>OBRAMAT comparte el catálogo en el formato que ya usa</a:t>
            </a:r>
            <a:endParaRPr b="0" lang="es-E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1" name="Shape 30"/>
          <p:cNvSpPr/>
          <p:nvPr/>
        </p:nvSpPr>
        <p:spPr>
          <a:xfrm>
            <a:off x="5193720" y="2258280"/>
            <a:ext cx="360" cy="384120"/>
          </a:xfrm>
          <a:prstGeom prst="line">
            <a:avLst/>
          </a:prstGeom>
          <a:ln w="12700">
            <a:solidFill>
              <a:srgbClr val="c8922a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0000" bIns="90000" anchor="t" anchorCtr="1">
            <a:noAutofit/>
          </a:bodyPr>
          <a:p>
            <a:endParaRPr b="0" lang="es-E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2" name="Shape 31"/>
          <p:cNvSpPr/>
          <p:nvPr/>
        </p:nvSpPr>
        <p:spPr>
          <a:xfrm>
            <a:off x="5029200" y="2679120"/>
            <a:ext cx="347040" cy="347040"/>
          </a:xfrm>
          <a:prstGeom prst="ellipse">
            <a:avLst/>
          </a:prstGeom>
          <a:solidFill>
            <a:srgbClr val="c8922a"/>
          </a:solidFill>
          <a:ln w="12700">
            <a:solidFill>
              <a:srgbClr val="c89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" name="Text 32"/>
          <p:cNvSpPr/>
          <p:nvPr/>
        </p:nvSpPr>
        <p:spPr>
          <a:xfrm>
            <a:off x="5029200" y="2679120"/>
            <a:ext cx="3470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c2535"/>
                </a:solidFill>
                <a:latin typeface="Calibri"/>
              </a:rPr>
              <a:t>2</a:t>
            </a:r>
            <a:endParaRPr b="0" lang="es-E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4" name="Text 33"/>
          <p:cNvSpPr/>
          <p:nvPr/>
        </p:nvSpPr>
        <p:spPr>
          <a:xfrm>
            <a:off x="5532120" y="2660760"/>
            <a:ext cx="3200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ffffff"/>
                </a:solidFill>
                <a:latin typeface="Calibri"/>
              </a:rPr>
              <a:t>Matching automático</a:t>
            </a:r>
            <a:endParaRPr b="0" lang="es-E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5" name="Text 34"/>
          <p:cNvSpPr/>
          <p:nvPr/>
        </p:nvSpPr>
        <p:spPr>
          <a:xfrm>
            <a:off x="5532120" y="2953440"/>
            <a:ext cx="32000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15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8fa4b5"/>
                </a:solidFill>
                <a:latin typeface="Calibri"/>
              </a:rPr>
              <a:t>TrabFlow vincula cada partida a una referencia OBRAMAT</a:t>
            </a:r>
            <a:endParaRPr b="0" lang="es-E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6" name="Shape 35"/>
          <p:cNvSpPr/>
          <p:nvPr/>
        </p:nvSpPr>
        <p:spPr>
          <a:xfrm>
            <a:off x="5193720" y="3063240"/>
            <a:ext cx="360" cy="383760"/>
          </a:xfrm>
          <a:prstGeom prst="line">
            <a:avLst/>
          </a:prstGeom>
          <a:ln w="12700">
            <a:solidFill>
              <a:srgbClr val="c8922a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0000" bIns="90000" anchor="t" anchorCtr="1">
            <a:noAutofit/>
          </a:bodyPr>
          <a:p>
            <a:endParaRPr b="0" lang="es-E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7" name="Shape 36"/>
          <p:cNvSpPr/>
          <p:nvPr/>
        </p:nvSpPr>
        <p:spPr>
          <a:xfrm>
            <a:off x="5029200" y="3483720"/>
            <a:ext cx="347040" cy="347040"/>
          </a:xfrm>
          <a:prstGeom prst="ellipse">
            <a:avLst/>
          </a:prstGeom>
          <a:solidFill>
            <a:srgbClr val="c8922a"/>
          </a:solidFill>
          <a:ln w="12700">
            <a:solidFill>
              <a:srgbClr val="c89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" name="Text 37"/>
          <p:cNvSpPr/>
          <p:nvPr/>
        </p:nvSpPr>
        <p:spPr>
          <a:xfrm>
            <a:off x="5029200" y="3483720"/>
            <a:ext cx="3470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c2535"/>
                </a:solidFill>
                <a:latin typeface="Calibri"/>
              </a:rPr>
              <a:t>3</a:t>
            </a:r>
            <a:endParaRPr b="0" lang="es-E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9" name="Text 38"/>
          <p:cNvSpPr/>
          <p:nvPr/>
        </p:nvSpPr>
        <p:spPr>
          <a:xfrm>
            <a:off x="5532120" y="3465720"/>
            <a:ext cx="3200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ffffff"/>
                </a:solidFill>
                <a:latin typeface="Calibri"/>
              </a:rPr>
              <a:t>Precio real en el presupuesto</a:t>
            </a:r>
            <a:endParaRPr b="0" lang="es-E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0" name="Text 39"/>
          <p:cNvSpPr/>
          <p:nvPr/>
        </p:nvSpPr>
        <p:spPr>
          <a:xfrm>
            <a:off x="5532120" y="3758040"/>
            <a:ext cx="32000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15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8fa4b5"/>
                </a:solidFill>
                <a:latin typeface="Calibri"/>
              </a:rPr>
              <a:t>El precio del catálogo, nunca estimado</a:t>
            </a:r>
            <a:endParaRPr b="0" lang="es-E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1" name="Shape 40"/>
          <p:cNvSpPr/>
          <p:nvPr/>
        </p:nvSpPr>
        <p:spPr>
          <a:xfrm>
            <a:off x="5193720" y="3867840"/>
            <a:ext cx="360" cy="384120"/>
          </a:xfrm>
          <a:prstGeom prst="line">
            <a:avLst/>
          </a:prstGeom>
          <a:ln w="12700">
            <a:solidFill>
              <a:srgbClr val="c8922a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0000" bIns="90000" anchor="t" anchorCtr="1">
            <a:noAutofit/>
          </a:bodyPr>
          <a:p>
            <a:endParaRPr b="0" lang="es-E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2" name="Shape 41"/>
          <p:cNvSpPr/>
          <p:nvPr/>
        </p:nvSpPr>
        <p:spPr>
          <a:xfrm>
            <a:off x="5029200" y="4288680"/>
            <a:ext cx="347040" cy="347040"/>
          </a:xfrm>
          <a:prstGeom prst="ellipse">
            <a:avLst/>
          </a:prstGeom>
          <a:solidFill>
            <a:srgbClr val="c8922a"/>
          </a:solidFill>
          <a:ln w="12700">
            <a:solidFill>
              <a:srgbClr val="c89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" name="Text 42"/>
          <p:cNvSpPr/>
          <p:nvPr/>
        </p:nvSpPr>
        <p:spPr>
          <a:xfrm>
            <a:off x="5029200" y="4288680"/>
            <a:ext cx="3470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c2535"/>
                </a:solidFill>
                <a:latin typeface="Calibri"/>
              </a:rPr>
              <a:t>4</a:t>
            </a:r>
            <a:endParaRPr b="0" lang="es-E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4" name="Text 43"/>
          <p:cNvSpPr/>
          <p:nvPr/>
        </p:nvSpPr>
        <p:spPr>
          <a:xfrm>
            <a:off x="5532120" y="4270320"/>
            <a:ext cx="3200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ffffff"/>
                </a:solidFill>
                <a:latin typeface="Calibri"/>
              </a:rPr>
              <a:t>Pedido con un clic</a:t>
            </a:r>
            <a:endParaRPr b="0" lang="es-E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5" name="Text 44"/>
          <p:cNvSpPr/>
          <p:nvPr/>
        </p:nvSpPr>
        <p:spPr>
          <a:xfrm>
            <a:off x="5532120" y="4563000"/>
            <a:ext cx="32000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15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8fa4b5"/>
                </a:solidFill>
                <a:latin typeface="Calibri"/>
              </a:rPr>
              <a:t>El instalador envía el pedido directamente a OBRAMAT</a:t>
            </a:r>
            <a:endParaRPr b="0" lang="es-E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6" name="Text 45"/>
          <p:cNvSpPr/>
          <p:nvPr/>
        </p:nvSpPr>
        <p:spPr>
          <a:xfrm>
            <a:off x="5029200" y="4937760"/>
            <a:ext cx="37486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c8922a"/>
                </a:solidFill>
                <a:latin typeface="Calibri"/>
              </a:rPr>
              <a:t>Sin modificar el modelo de negocio de OBRAMAT.</a:t>
            </a:r>
            <a:endParaRPr b="0" lang="es-E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7" name="Text 46"/>
          <p:cNvSpPr/>
          <p:nvPr/>
        </p:nvSpPr>
        <p:spPr>
          <a:xfrm>
            <a:off x="8046720" y="4846320"/>
            <a:ext cx="8226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6b7b8d"/>
                </a:solidFill>
                <a:latin typeface="Calibri"/>
              </a:rPr>
              <a:t>8 / 13</a:t>
            </a:r>
            <a:endParaRPr b="0" lang="es-E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8" name="Text 47"/>
          <p:cNvSpPr/>
          <p:nvPr/>
        </p:nvSpPr>
        <p:spPr>
          <a:xfrm>
            <a:off x="457200" y="4846320"/>
            <a:ext cx="36572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6b7b8d"/>
                </a:solidFill>
                <a:latin typeface="Calibri"/>
              </a:rPr>
              <a:t>TrabFlow × OBRAMAT · Confidencial</a:t>
            </a:r>
            <a:endParaRPr b="0" lang="es-E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Text 0"/>
          <p:cNvSpPr/>
          <p:nvPr/>
        </p:nvSpPr>
        <p:spPr>
          <a:xfrm>
            <a:off x="502920" y="292680"/>
            <a:ext cx="8229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100" spc="398" strike="noStrike">
                <a:solidFill>
                  <a:srgbClr val="1a5a96"/>
                </a:solidFill>
                <a:latin typeface="Calibri"/>
              </a:rPr>
              <a:t>BENEFICIOS PARA OBRAMAT</a:t>
            </a:r>
            <a:endParaRPr b="0" lang="es-E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" name="Text 1"/>
          <p:cNvSpPr/>
          <p:nvPr/>
        </p:nvSpPr>
        <p:spPr>
          <a:xfrm>
            <a:off x="502920" y="594360"/>
            <a:ext cx="73148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1c2535"/>
                </a:solidFill>
                <a:latin typeface="Cambria"/>
                <a:ea typeface="Cambria"/>
              </a:rPr>
              <a:t>No hablamos de IA. Hablamos de negocio.</a:t>
            </a:r>
            <a:endParaRPr b="0" lang="es-E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Shape 2"/>
          <p:cNvSpPr/>
          <p:nvPr/>
        </p:nvSpPr>
        <p:spPr>
          <a:xfrm>
            <a:off x="502920" y="1371600"/>
            <a:ext cx="2468520" cy="1325520"/>
          </a:xfrm>
          <a:prstGeom prst="roundRect">
            <a:avLst>
              <a:gd name="adj" fmla="val 8276"/>
            </a:avLst>
          </a:prstGeom>
          <a:solidFill>
            <a:srgbClr val="f4f5f7"/>
          </a:solidFill>
          <a:ln w="12700">
            <a:solidFill>
              <a:srgbClr val="f4f5f7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52" name="Image 0" descr="preencoded.png"/>
          <p:cNvPicPr/>
          <p:nvPr/>
        </p:nvPicPr>
        <p:blipFill>
          <a:blip r:embed="rId1"/>
          <a:stretch/>
        </p:blipFill>
        <p:spPr>
          <a:xfrm>
            <a:off x="667440" y="1517760"/>
            <a:ext cx="328680" cy="328680"/>
          </a:xfrm>
          <a:prstGeom prst="rect">
            <a:avLst/>
          </a:prstGeom>
          <a:ln w="0">
            <a:noFill/>
          </a:ln>
        </p:spPr>
      </p:pic>
      <p:sp>
        <p:nvSpPr>
          <p:cNvPr id="353" name="Text 3"/>
          <p:cNvSpPr/>
          <p:nvPr/>
        </p:nvSpPr>
        <p:spPr>
          <a:xfrm>
            <a:off x="1097280" y="1517760"/>
            <a:ext cx="17827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1c2535"/>
                </a:solidFill>
                <a:latin typeface="Calibri"/>
              </a:rPr>
              <a:t>Más ventas</a:t>
            </a:r>
            <a:endParaRPr b="0" lang="es-E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" name="Text 4"/>
          <p:cNvSpPr/>
          <p:nvPr/>
        </p:nvSpPr>
        <p:spPr>
          <a:xfrm>
            <a:off x="667440" y="1938600"/>
            <a:ext cx="21394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2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4a5568"/>
                </a:solidFill>
                <a:latin typeface="Calibri"/>
              </a:rPr>
              <a:t>OBRAMAT aparece primero cuando el instalador presupuesta materiales — en el tajo, antes de ir al almacén.</a:t>
            </a:r>
            <a:endParaRPr b="0" lang="es-E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Shape 5"/>
          <p:cNvSpPr/>
          <p:nvPr/>
        </p:nvSpPr>
        <p:spPr>
          <a:xfrm>
            <a:off x="3200400" y="1371600"/>
            <a:ext cx="2468520" cy="1325520"/>
          </a:xfrm>
          <a:prstGeom prst="roundRect">
            <a:avLst>
              <a:gd name="adj" fmla="val 8276"/>
            </a:avLst>
          </a:prstGeom>
          <a:solidFill>
            <a:srgbClr val="f4f5f7"/>
          </a:solidFill>
          <a:ln w="12700">
            <a:solidFill>
              <a:srgbClr val="f4f5f7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56" name="Image 1" descr="preencoded.png"/>
          <p:cNvPicPr/>
          <p:nvPr/>
        </p:nvPicPr>
        <p:blipFill>
          <a:blip r:embed="rId2"/>
          <a:stretch/>
        </p:blipFill>
        <p:spPr>
          <a:xfrm>
            <a:off x="3364920" y="1517760"/>
            <a:ext cx="328680" cy="328680"/>
          </a:xfrm>
          <a:prstGeom prst="rect">
            <a:avLst/>
          </a:prstGeom>
          <a:ln w="0">
            <a:noFill/>
          </a:ln>
        </p:spPr>
      </p:pic>
      <p:sp>
        <p:nvSpPr>
          <p:cNvPr id="357" name="Text 6"/>
          <p:cNvSpPr/>
          <p:nvPr/>
        </p:nvSpPr>
        <p:spPr>
          <a:xfrm>
            <a:off x="3794760" y="1517760"/>
            <a:ext cx="17827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1c2535"/>
                </a:solidFill>
                <a:latin typeface="Calibri"/>
              </a:rPr>
              <a:t>Más recurrencia</a:t>
            </a:r>
            <a:endParaRPr b="0" lang="es-E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Text 7"/>
          <p:cNvSpPr/>
          <p:nvPr/>
        </p:nvSpPr>
        <p:spPr>
          <a:xfrm>
            <a:off x="3364920" y="1938600"/>
            <a:ext cx="21394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2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4a5568"/>
                </a:solidFill>
                <a:latin typeface="Calibri"/>
              </a:rPr>
              <a:t>El instalador que presupuesta con OBRAMAT compra en OBRAMAT. Cada obra, automáticamente.</a:t>
            </a:r>
            <a:endParaRPr b="0" lang="es-E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Shape 8"/>
          <p:cNvSpPr/>
          <p:nvPr/>
        </p:nvSpPr>
        <p:spPr>
          <a:xfrm>
            <a:off x="5897880" y="1371600"/>
            <a:ext cx="2468520" cy="1325520"/>
          </a:xfrm>
          <a:prstGeom prst="roundRect">
            <a:avLst>
              <a:gd name="adj" fmla="val 8276"/>
            </a:avLst>
          </a:prstGeom>
          <a:solidFill>
            <a:srgbClr val="f4f5f7"/>
          </a:solidFill>
          <a:ln w="12700">
            <a:solidFill>
              <a:srgbClr val="f4f5f7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60" name="Image 2" descr="preencoded.png"/>
          <p:cNvPicPr/>
          <p:nvPr/>
        </p:nvPicPr>
        <p:blipFill>
          <a:blip r:embed="rId3"/>
          <a:stretch/>
        </p:blipFill>
        <p:spPr>
          <a:xfrm>
            <a:off x="6062400" y="1517760"/>
            <a:ext cx="328680" cy="328680"/>
          </a:xfrm>
          <a:prstGeom prst="rect">
            <a:avLst/>
          </a:prstGeom>
          <a:ln w="0">
            <a:noFill/>
          </a:ln>
        </p:spPr>
      </p:pic>
      <p:sp>
        <p:nvSpPr>
          <p:cNvPr id="361" name="Text 9"/>
          <p:cNvSpPr/>
          <p:nvPr/>
        </p:nvSpPr>
        <p:spPr>
          <a:xfrm>
            <a:off x="6492240" y="1517760"/>
            <a:ext cx="17827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1c2535"/>
                </a:solidFill>
                <a:latin typeface="Calibri"/>
              </a:rPr>
              <a:t>Más fidelización</a:t>
            </a:r>
            <a:endParaRPr b="0" lang="es-E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Text 10"/>
          <p:cNvSpPr/>
          <p:nvPr/>
        </p:nvSpPr>
        <p:spPr>
          <a:xfrm>
            <a:off x="6062400" y="1938600"/>
            <a:ext cx="21394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2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4a5568"/>
                </a:solidFill>
                <a:latin typeface="Calibri"/>
              </a:rPr>
              <a:t>El coste de cambio de proveedor es alto cuando el catálogo ya está integrado en el flujo de trabajo.</a:t>
            </a:r>
            <a:endParaRPr b="0" lang="es-E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Shape 11"/>
          <p:cNvSpPr/>
          <p:nvPr/>
        </p:nvSpPr>
        <p:spPr>
          <a:xfrm>
            <a:off x="502920" y="2880360"/>
            <a:ext cx="2468520" cy="1325520"/>
          </a:xfrm>
          <a:prstGeom prst="roundRect">
            <a:avLst>
              <a:gd name="adj" fmla="val 8276"/>
            </a:avLst>
          </a:prstGeom>
          <a:solidFill>
            <a:srgbClr val="f4f5f7"/>
          </a:solidFill>
          <a:ln w="12700">
            <a:solidFill>
              <a:srgbClr val="f4f5f7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64" name="Image 3" descr="preencoded.png"/>
          <p:cNvPicPr/>
          <p:nvPr/>
        </p:nvPicPr>
        <p:blipFill>
          <a:blip r:embed="rId4"/>
          <a:stretch/>
        </p:blipFill>
        <p:spPr>
          <a:xfrm>
            <a:off x="667440" y="3026520"/>
            <a:ext cx="328680" cy="328680"/>
          </a:xfrm>
          <a:prstGeom prst="rect">
            <a:avLst/>
          </a:prstGeom>
          <a:ln w="0">
            <a:noFill/>
          </a:ln>
        </p:spPr>
      </p:pic>
      <p:sp>
        <p:nvSpPr>
          <p:cNvPr id="365" name="Text 12"/>
          <p:cNvSpPr/>
          <p:nvPr/>
        </p:nvSpPr>
        <p:spPr>
          <a:xfrm>
            <a:off x="1097280" y="3026520"/>
            <a:ext cx="17827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1c2535"/>
                </a:solidFill>
                <a:latin typeface="Calibri"/>
              </a:rPr>
              <a:t>Mayor ticket medio</a:t>
            </a:r>
            <a:endParaRPr b="0" lang="es-E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6" name="Text 13"/>
          <p:cNvSpPr/>
          <p:nvPr/>
        </p:nvSpPr>
        <p:spPr>
          <a:xfrm>
            <a:off x="667440" y="3447360"/>
            <a:ext cx="21394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2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4a5568"/>
                </a:solidFill>
                <a:latin typeface="Calibri"/>
              </a:rPr>
              <a:t>La IA incluye todos los materiales — no solo los que el instalador recuerda. Más referencias, más importe.</a:t>
            </a:r>
            <a:endParaRPr b="0" lang="es-E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7" name="Shape 14"/>
          <p:cNvSpPr/>
          <p:nvPr/>
        </p:nvSpPr>
        <p:spPr>
          <a:xfrm>
            <a:off x="3200400" y="2880360"/>
            <a:ext cx="2468520" cy="1325520"/>
          </a:xfrm>
          <a:prstGeom prst="roundRect">
            <a:avLst>
              <a:gd name="adj" fmla="val 8276"/>
            </a:avLst>
          </a:prstGeom>
          <a:solidFill>
            <a:srgbClr val="f4f5f7"/>
          </a:solidFill>
          <a:ln w="12700">
            <a:solidFill>
              <a:srgbClr val="f4f5f7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68" name="Image 4" descr="preencoded.png"/>
          <p:cNvPicPr/>
          <p:nvPr/>
        </p:nvPicPr>
        <p:blipFill>
          <a:blip r:embed="rId5"/>
          <a:stretch/>
        </p:blipFill>
        <p:spPr>
          <a:xfrm>
            <a:off x="3364920" y="3026520"/>
            <a:ext cx="328680" cy="328680"/>
          </a:xfrm>
          <a:prstGeom prst="rect">
            <a:avLst/>
          </a:prstGeom>
          <a:ln w="0">
            <a:noFill/>
          </a:ln>
        </p:spPr>
      </p:pic>
      <p:sp>
        <p:nvSpPr>
          <p:cNvPr id="369" name="Text 15"/>
          <p:cNvSpPr/>
          <p:nvPr/>
        </p:nvSpPr>
        <p:spPr>
          <a:xfrm>
            <a:off x="3794760" y="3026520"/>
            <a:ext cx="17827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1c2535"/>
                </a:solidFill>
                <a:latin typeface="Calibri"/>
              </a:rPr>
              <a:t>Pedidos digitales</a:t>
            </a:r>
            <a:endParaRPr b="0" lang="es-E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0" name="Text 16"/>
          <p:cNvSpPr/>
          <p:nvPr/>
        </p:nvSpPr>
        <p:spPr>
          <a:xfrm>
            <a:off x="3364920" y="3447360"/>
            <a:ext cx="21394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2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4a5568"/>
                </a:solidFill>
                <a:latin typeface="Calibri"/>
              </a:rPr>
              <a:t>El pedido llega a OBRAMAT estructurado y completo — sin llamadas, sin errores, sin esfuerzo.</a:t>
            </a:r>
            <a:endParaRPr b="0" lang="es-E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Shape 17"/>
          <p:cNvSpPr/>
          <p:nvPr/>
        </p:nvSpPr>
        <p:spPr>
          <a:xfrm>
            <a:off x="5897880" y="2880360"/>
            <a:ext cx="2468520" cy="1325520"/>
          </a:xfrm>
          <a:prstGeom prst="roundRect">
            <a:avLst>
              <a:gd name="adj" fmla="val 8276"/>
            </a:avLst>
          </a:prstGeom>
          <a:solidFill>
            <a:srgbClr val="f4f5f7"/>
          </a:solidFill>
          <a:ln w="12700">
            <a:solidFill>
              <a:srgbClr val="f4f5f7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72" name="Image 5" descr="preencoded.png"/>
          <p:cNvPicPr/>
          <p:nvPr/>
        </p:nvPicPr>
        <p:blipFill>
          <a:blip r:embed="rId6"/>
          <a:stretch/>
        </p:blipFill>
        <p:spPr>
          <a:xfrm>
            <a:off x="6062400" y="3026520"/>
            <a:ext cx="328680" cy="328680"/>
          </a:xfrm>
          <a:prstGeom prst="rect">
            <a:avLst/>
          </a:prstGeom>
          <a:ln w="0">
            <a:noFill/>
          </a:ln>
        </p:spPr>
      </p:pic>
      <p:sp>
        <p:nvSpPr>
          <p:cNvPr id="373" name="Text 18"/>
          <p:cNvSpPr/>
          <p:nvPr/>
        </p:nvSpPr>
        <p:spPr>
          <a:xfrm>
            <a:off x="6492240" y="3026520"/>
            <a:ext cx="17827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1c2535"/>
                </a:solidFill>
                <a:latin typeface="Calibri"/>
              </a:rPr>
              <a:t>Datos de demanda</a:t>
            </a:r>
            <a:endParaRPr b="0" lang="es-E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4" name="Text 19"/>
          <p:cNvSpPr/>
          <p:nvPr/>
        </p:nvSpPr>
        <p:spPr>
          <a:xfrm>
            <a:off x="6062400" y="3447360"/>
            <a:ext cx="21394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2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4a5568"/>
                </a:solidFill>
                <a:latin typeface="Calibri"/>
              </a:rPr>
              <a:t>OBRAMAT accede a datos reales de qué materiales presupuestan sus instaladores, cuándo y en qué zonas.</a:t>
            </a:r>
            <a:endParaRPr b="0" lang="es-E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5" name="Text 20"/>
          <p:cNvSpPr/>
          <p:nvPr/>
        </p:nvSpPr>
        <p:spPr>
          <a:xfrm>
            <a:off x="8046720" y="4846320"/>
            <a:ext cx="8226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9ba8b5"/>
                </a:solidFill>
                <a:latin typeface="Calibri"/>
              </a:rPr>
              <a:t>9 / 13</a:t>
            </a:r>
            <a:endParaRPr b="0" lang="es-E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6" name="Text 21"/>
          <p:cNvSpPr/>
          <p:nvPr/>
        </p:nvSpPr>
        <p:spPr>
          <a:xfrm>
            <a:off x="457200" y="4846320"/>
            <a:ext cx="36572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9ba8b5"/>
                </a:solidFill>
                <a:latin typeface="Calibri"/>
              </a:rPr>
              <a:t>TrabFlow × OBRAMAT · Confidencial</a:t>
            </a:r>
            <a:endParaRPr b="0" lang="es-E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Text 0"/>
          <p:cNvSpPr/>
          <p:nvPr/>
        </p:nvSpPr>
        <p:spPr>
          <a:xfrm>
            <a:off x="502920" y="292680"/>
            <a:ext cx="8229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100" spc="398" strike="noStrike">
                <a:solidFill>
                  <a:srgbClr val="1a5a96"/>
                </a:solidFill>
                <a:latin typeface="Calibri"/>
              </a:rPr>
              <a:t>BENEFICIOS PARA EL INSTALADOR</a:t>
            </a:r>
            <a:endParaRPr b="0" lang="es-E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8" name="Shape 1"/>
          <p:cNvSpPr/>
          <p:nvPr/>
        </p:nvSpPr>
        <p:spPr>
          <a:xfrm>
            <a:off x="502920" y="640080"/>
            <a:ext cx="4114440" cy="4343040"/>
          </a:xfrm>
          <a:prstGeom prst="roundRect">
            <a:avLst>
              <a:gd name="adj" fmla="val 4000"/>
            </a:avLst>
          </a:prstGeom>
          <a:solidFill>
            <a:srgbClr val="1c2535"/>
          </a:solidFill>
          <a:ln w="12700">
            <a:solidFill>
              <a:srgbClr val="1c25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9" name="Text 2"/>
          <p:cNvSpPr/>
          <p:nvPr/>
        </p:nvSpPr>
        <p:spPr>
          <a:xfrm>
            <a:off x="685800" y="868680"/>
            <a:ext cx="37486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1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8fa4b5"/>
                </a:solidFill>
                <a:latin typeface="Cambria"/>
                <a:ea typeface="Cambria"/>
              </a:rPr>
              <a:t>El instalador que usa TrabFlow presupuesta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" name="Text 3"/>
          <p:cNvSpPr/>
          <p:nvPr/>
        </p:nvSpPr>
        <p:spPr>
          <a:xfrm>
            <a:off x="685800" y="1463040"/>
            <a:ext cx="374868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US" sz="6800" spc="-1" strike="noStrike">
                <a:solidFill>
                  <a:srgbClr val="c8922a"/>
                </a:solidFill>
                <a:latin typeface="Cambria"/>
                <a:ea typeface="Cambria"/>
              </a:rPr>
              <a:t>10×</a:t>
            </a:r>
            <a:endParaRPr b="0" lang="es-ES" sz="6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1" name="Text 4"/>
          <p:cNvSpPr/>
          <p:nvPr/>
        </p:nvSpPr>
        <p:spPr>
          <a:xfrm>
            <a:off x="685800" y="2423160"/>
            <a:ext cx="3748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más rápido</a:t>
            </a:r>
            <a:endParaRPr b="0" lang="es-E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2" name="Shape 5"/>
          <p:cNvSpPr/>
          <p:nvPr/>
        </p:nvSpPr>
        <p:spPr>
          <a:xfrm>
            <a:off x="1188720" y="3017520"/>
            <a:ext cx="2743200" cy="360"/>
          </a:xfrm>
          <a:prstGeom prst="line">
            <a:avLst/>
          </a:prstGeom>
          <a:ln w="12700">
            <a:solidFill>
              <a:srgbClr val="3a506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Text 6"/>
          <p:cNvSpPr/>
          <p:nvPr/>
        </p:nvSpPr>
        <p:spPr>
          <a:xfrm>
            <a:off x="685800" y="3108960"/>
            <a:ext cx="37486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30000"/>
              </a:lnSpc>
              <a:tabLst>
                <a:tab algn="l" pos="0"/>
              </a:tabLst>
            </a:pPr>
            <a:r>
              <a:rPr b="0" i="1" lang="en-US" sz="1150" spc="-1" strike="noStrike">
                <a:solidFill>
                  <a:srgbClr val="7f94a5"/>
                </a:solidFill>
                <a:latin typeface="Calibri"/>
              </a:rPr>
              <a:t>45 minutos → 90 segundos</a:t>
            </a:r>
            <a:endParaRPr b="0" lang="es-ES" sz="115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30000"/>
              </a:lnSpc>
              <a:tabLst>
                <a:tab algn="l" pos="0"/>
              </a:tabLst>
            </a:pPr>
            <a:r>
              <a:rPr b="0" i="1" lang="en-US" sz="1150" spc="-1" strike="noStrike">
                <a:solidFill>
                  <a:srgbClr val="7f94a5"/>
                </a:solidFill>
                <a:latin typeface="Calibri"/>
              </a:rPr>
              <a:t>Antes: Word + calculadora + llamada</a:t>
            </a:r>
            <a:endParaRPr b="0" lang="es-ES" sz="115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30000"/>
              </a:lnSpc>
              <a:tabLst>
                <a:tab algn="l" pos="0"/>
              </a:tabLst>
            </a:pPr>
            <a:r>
              <a:rPr b="0" i="1" lang="en-US" sz="1150" spc="-1" strike="noStrike">
                <a:solidFill>
                  <a:srgbClr val="7f94a5"/>
                </a:solidFill>
                <a:latin typeface="Calibri"/>
              </a:rPr>
              <a:t>Ahora: voz en la obra, presupuesto listo</a:t>
            </a:r>
            <a:endParaRPr b="0" lang="es-E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Shape 7"/>
          <p:cNvSpPr/>
          <p:nvPr/>
        </p:nvSpPr>
        <p:spPr>
          <a:xfrm>
            <a:off x="4846320" y="685800"/>
            <a:ext cx="3840120" cy="712800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ffffff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85" name="Image 0" descr="preencoded.png"/>
          <p:cNvPicPr/>
          <p:nvPr/>
        </p:nvPicPr>
        <p:blipFill>
          <a:blip r:embed="rId1"/>
          <a:stretch/>
        </p:blipFill>
        <p:spPr>
          <a:xfrm>
            <a:off x="4974480" y="868680"/>
            <a:ext cx="310680" cy="310680"/>
          </a:xfrm>
          <a:prstGeom prst="rect">
            <a:avLst/>
          </a:prstGeom>
          <a:ln w="0">
            <a:noFill/>
          </a:ln>
        </p:spPr>
      </p:pic>
      <p:sp>
        <p:nvSpPr>
          <p:cNvPr id="386" name="Text 8"/>
          <p:cNvSpPr/>
          <p:nvPr/>
        </p:nvSpPr>
        <p:spPr>
          <a:xfrm>
            <a:off x="5376600" y="758880"/>
            <a:ext cx="30171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2535"/>
                </a:solidFill>
                <a:latin typeface="Calibri"/>
              </a:rPr>
              <a:t>Ahorra 2 h/día</a:t>
            </a:r>
            <a:endParaRPr b="0" lang="es-E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7" name="Text 9"/>
          <p:cNvSpPr/>
          <p:nvPr/>
        </p:nvSpPr>
        <p:spPr>
          <a:xfrm>
            <a:off x="5376600" y="1051560"/>
            <a:ext cx="3017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8b95a1"/>
                </a:solidFill>
                <a:latin typeface="Calibri"/>
              </a:rPr>
              <a:t>Menos gestión, más trabajo real en obra.</a:t>
            </a:r>
            <a:endParaRPr b="0" lang="es-E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8" name="Shape 10"/>
          <p:cNvSpPr/>
          <p:nvPr/>
        </p:nvSpPr>
        <p:spPr>
          <a:xfrm>
            <a:off x="4846320" y="1508760"/>
            <a:ext cx="3840120" cy="712800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ffffff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89" name="Image 1" descr="preencoded.png"/>
          <p:cNvPicPr/>
          <p:nvPr/>
        </p:nvPicPr>
        <p:blipFill>
          <a:blip r:embed="rId2"/>
          <a:stretch/>
        </p:blipFill>
        <p:spPr>
          <a:xfrm>
            <a:off x="4974480" y="1691640"/>
            <a:ext cx="310680" cy="310680"/>
          </a:xfrm>
          <a:prstGeom prst="rect">
            <a:avLst/>
          </a:prstGeom>
          <a:ln w="0">
            <a:noFill/>
          </a:ln>
        </p:spPr>
      </p:pic>
      <p:sp>
        <p:nvSpPr>
          <p:cNvPr id="390" name="Text 11"/>
          <p:cNvSpPr/>
          <p:nvPr/>
        </p:nvSpPr>
        <p:spPr>
          <a:xfrm>
            <a:off x="5376600" y="1581840"/>
            <a:ext cx="30171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2535"/>
                </a:solidFill>
                <a:latin typeface="Calibri"/>
              </a:rPr>
              <a:t>Más profesionalidad</a:t>
            </a:r>
            <a:endParaRPr b="0" lang="es-E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1" name="Text 12"/>
          <p:cNvSpPr/>
          <p:nvPr/>
        </p:nvSpPr>
        <p:spPr>
          <a:xfrm>
            <a:off x="5376600" y="1874520"/>
            <a:ext cx="3017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8b95a1"/>
                </a:solidFill>
                <a:latin typeface="Calibri"/>
              </a:rPr>
              <a:t>PDF firmado, presentación al cliente en segundos.</a:t>
            </a:r>
            <a:endParaRPr b="0" lang="es-E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2" name="Shape 13"/>
          <p:cNvSpPr/>
          <p:nvPr/>
        </p:nvSpPr>
        <p:spPr>
          <a:xfrm>
            <a:off x="4846320" y="2331720"/>
            <a:ext cx="3840120" cy="712800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ffffff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93" name="Image 2" descr="preencoded.png"/>
          <p:cNvPicPr/>
          <p:nvPr/>
        </p:nvPicPr>
        <p:blipFill>
          <a:blip r:embed="rId3"/>
          <a:stretch/>
        </p:blipFill>
        <p:spPr>
          <a:xfrm>
            <a:off x="4974480" y="2514600"/>
            <a:ext cx="310680" cy="310680"/>
          </a:xfrm>
          <a:prstGeom prst="rect">
            <a:avLst/>
          </a:prstGeom>
          <a:ln w="0">
            <a:noFill/>
          </a:ln>
        </p:spPr>
      </p:pic>
      <p:sp>
        <p:nvSpPr>
          <p:cNvPr id="394" name="Text 14"/>
          <p:cNvSpPr/>
          <p:nvPr/>
        </p:nvSpPr>
        <p:spPr>
          <a:xfrm>
            <a:off x="5376600" y="2404800"/>
            <a:ext cx="30171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2535"/>
                </a:solidFill>
                <a:latin typeface="Calibri"/>
              </a:rPr>
              <a:t>Más trabajos cerrados</a:t>
            </a:r>
            <a:endParaRPr b="0" lang="es-E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5" name="Text 15"/>
          <p:cNvSpPr/>
          <p:nvPr/>
        </p:nvSpPr>
        <p:spPr>
          <a:xfrm>
            <a:off x="5376600" y="2697480"/>
            <a:ext cx="3017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8b95a1"/>
                </a:solidFill>
                <a:latin typeface="Calibri"/>
              </a:rPr>
              <a:t>Respuesta rápida = más conversión de clientes.</a:t>
            </a:r>
            <a:endParaRPr b="0" lang="es-E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" name="Shape 16"/>
          <p:cNvSpPr/>
          <p:nvPr/>
        </p:nvSpPr>
        <p:spPr>
          <a:xfrm>
            <a:off x="4846320" y="3154680"/>
            <a:ext cx="3840120" cy="712800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ffffff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97" name="Image 3" descr="preencoded.png"/>
          <p:cNvPicPr/>
          <p:nvPr/>
        </p:nvPicPr>
        <p:blipFill>
          <a:blip r:embed="rId4"/>
          <a:stretch/>
        </p:blipFill>
        <p:spPr>
          <a:xfrm>
            <a:off x="4974480" y="3337560"/>
            <a:ext cx="310680" cy="310680"/>
          </a:xfrm>
          <a:prstGeom prst="rect">
            <a:avLst/>
          </a:prstGeom>
          <a:ln w="0">
            <a:noFill/>
          </a:ln>
        </p:spPr>
      </p:pic>
      <p:sp>
        <p:nvSpPr>
          <p:cNvPr id="398" name="Text 17"/>
          <p:cNvSpPr/>
          <p:nvPr/>
        </p:nvSpPr>
        <p:spPr>
          <a:xfrm>
            <a:off x="5376600" y="3227760"/>
            <a:ext cx="30171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2535"/>
                </a:solidFill>
                <a:latin typeface="Calibri"/>
              </a:rPr>
              <a:t>Más ingresos</a:t>
            </a:r>
            <a:endParaRPr b="0" lang="es-E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Text 18"/>
          <p:cNvSpPr/>
          <p:nvPr/>
        </p:nvSpPr>
        <p:spPr>
          <a:xfrm>
            <a:off x="5376600" y="3520440"/>
            <a:ext cx="3017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8b95a1"/>
                </a:solidFill>
                <a:latin typeface="Calibri"/>
              </a:rPr>
              <a:t>Más obras, mejor margen, menos errores de materiales.</a:t>
            </a:r>
            <a:endParaRPr b="0" lang="es-E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0" name="Shape 19"/>
          <p:cNvSpPr/>
          <p:nvPr/>
        </p:nvSpPr>
        <p:spPr>
          <a:xfrm>
            <a:off x="4846320" y="3977640"/>
            <a:ext cx="3840120" cy="712800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ffffff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01" name="Image 4" descr="preencoded.png"/>
          <p:cNvPicPr/>
          <p:nvPr/>
        </p:nvPicPr>
        <p:blipFill>
          <a:blip r:embed="rId5"/>
          <a:stretch/>
        </p:blipFill>
        <p:spPr>
          <a:xfrm>
            <a:off x="4974480" y="4160520"/>
            <a:ext cx="310680" cy="310680"/>
          </a:xfrm>
          <a:prstGeom prst="rect">
            <a:avLst/>
          </a:prstGeom>
          <a:ln w="0">
            <a:noFill/>
          </a:ln>
        </p:spPr>
      </p:pic>
      <p:sp>
        <p:nvSpPr>
          <p:cNvPr id="402" name="Text 20"/>
          <p:cNvSpPr/>
          <p:nvPr/>
        </p:nvSpPr>
        <p:spPr>
          <a:xfrm>
            <a:off x="5376600" y="4050720"/>
            <a:ext cx="30171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2535"/>
                </a:solidFill>
                <a:latin typeface="Calibri"/>
              </a:rPr>
              <a:t>Catálogo siempre a mano</a:t>
            </a:r>
            <a:endParaRPr b="0" lang="es-E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3" name="Text 21"/>
          <p:cNvSpPr/>
          <p:nvPr/>
        </p:nvSpPr>
        <p:spPr>
          <a:xfrm>
            <a:off x="5376600" y="4343400"/>
            <a:ext cx="3017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8b95a1"/>
                </a:solidFill>
                <a:latin typeface="Calibri"/>
              </a:rPr>
              <a:t>Referencias y precios OBRAMAT dentro de la app.</a:t>
            </a:r>
            <a:endParaRPr b="0" lang="es-E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Text 22"/>
          <p:cNvSpPr/>
          <p:nvPr/>
        </p:nvSpPr>
        <p:spPr>
          <a:xfrm>
            <a:off x="8046720" y="4846320"/>
            <a:ext cx="8226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9ba8b5"/>
                </a:solidFill>
                <a:latin typeface="Calibri"/>
              </a:rPr>
              <a:t>10 / 13</a:t>
            </a:r>
            <a:endParaRPr b="0" lang="es-E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Text 23"/>
          <p:cNvSpPr/>
          <p:nvPr/>
        </p:nvSpPr>
        <p:spPr>
          <a:xfrm>
            <a:off x="457200" y="4846320"/>
            <a:ext cx="36572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9ba8b5"/>
                </a:solidFill>
                <a:latin typeface="Calibri"/>
              </a:rPr>
              <a:t>TrabFlow × OBRAMAT · Confidencial</a:t>
            </a:r>
            <a:endParaRPr b="0" lang="es-E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Text 0"/>
          <p:cNvSpPr/>
          <p:nvPr/>
        </p:nvSpPr>
        <p:spPr>
          <a:xfrm>
            <a:off x="502920" y="292680"/>
            <a:ext cx="8229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100" spc="398" strike="noStrike">
                <a:solidFill>
                  <a:srgbClr val="1a5a96"/>
                </a:solidFill>
                <a:latin typeface="Calibri"/>
              </a:rPr>
              <a:t>ROADMAP DE COLABORACIÓN</a:t>
            </a:r>
            <a:endParaRPr b="0" lang="es-E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7" name="Text 1"/>
          <p:cNvSpPr/>
          <p:nvPr/>
        </p:nvSpPr>
        <p:spPr>
          <a:xfrm>
            <a:off x="502920" y="594360"/>
            <a:ext cx="73148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1c2535"/>
                </a:solidFill>
                <a:latin typeface="Cambria"/>
                <a:ea typeface="Cambria"/>
              </a:rPr>
              <a:t>5 fases, implementación progresiva, riesgo mínimo.</a:t>
            </a:r>
            <a:endParaRPr b="0" lang="es-E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8" name="Shape 2"/>
          <p:cNvSpPr/>
          <p:nvPr/>
        </p:nvSpPr>
        <p:spPr>
          <a:xfrm>
            <a:off x="685800" y="1965960"/>
            <a:ext cx="7772040" cy="54360"/>
          </a:xfrm>
          <a:prstGeom prst="rect">
            <a:avLst/>
          </a:prstGeom>
          <a:solidFill>
            <a:srgbClr val="d0d8e0"/>
          </a:solidFill>
          <a:ln w="12700">
            <a:solidFill>
              <a:srgbClr val="d0d8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0000" bIns="90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9" name="Shape 3"/>
          <p:cNvSpPr/>
          <p:nvPr/>
        </p:nvSpPr>
        <p:spPr>
          <a:xfrm>
            <a:off x="1147680" y="1883520"/>
            <a:ext cx="219240" cy="219240"/>
          </a:xfrm>
          <a:prstGeom prst="ellipse">
            <a:avLst/>
          </a:prstGeom>
          <a:solidFill>
            <a:srgbClr val="1a5a96"/>
          </a:solidFill>
          <a:ln w="12700">
            <a:solidFill>
              <a:srgbClr val="1a5a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0000" bIns="90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0" name="Shape 4"/>
          <p:cNvSpPr/>
          <p:nvPr/>
        </p:nvSpPr>
        <p:spPr>
          <a:xfrm>
            <a:off x="502920" y="2212920"/>
            <a:ext cx="1508400" cy="2697120"/>
          </a:xfrm>
          <a:prstGeom prst="roundRect">
            <a:avLst>
              <a:gd name="adj" fmla="val 7273"/>
            </a:avLst>
          </a:prstGeom>
          <a:solidFill>
            <a:srgbClr val="f4f5f7"/>
          </a:solidFill>
          <a:ln w="12700">
            <a:solidFill>
              <a:srgbClr val="f4f5f7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1" name="Shape 5"/>
          <p:cNvSpPr/>
          <p:nvPr/>
        </p:nvSpPr>
        <p:spPr>
          <a:xfrm>
            <a:off x="1033200" y="2359080"/>
            <a:ext cx="438480" cy="438480"/>
          </a:xfrm>
          <a:prstGeom prst="ellipse">
            <a:avLst/>
          </a:prstGeom>
          <a:solidFill>
            <a:srgbClr val="1a5a96"/>
          </a:solidFill>
          <a:ln w="12700">
            <a:solidFill>
              <a:srgbClr val="1a5a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2" name="Text 6"/>
          <p:cNvSpPr/>
          <p:nvPr/>
        </p:nvSpPr>
        <p:spPr>
          <a:xfrm>
            <a:off x="1033200" y="2359080"/>
            <a:ext cx="43848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1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3" name="Text 7"/>
          <p:cNvSpPr/>
          <p:nvPr/>
        </p:nvSpPr>
        <p:spPr>
          <a:xfrm>
            <a:off x="576000" y="2907720"/>
            <a:ext cx="1362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1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c2535"/>
                </a:solidFill>
                <a:latin typeface="Calibri"/>
              </a:rPr>
              <a:t>Consulta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1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c2535"/>
                </a:solidFill>
                <a:latin typeface="Calibri"/>
              </a:rPr>
              <a:t>catálogo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4" name="Text 8"/>
          <p:cNvSpPr/>
          <p:nvPr/>
        </p:nvSpPr>
        <p:spPr>
          <a:xfrm>
            <a:off x="594360" y="3639240"/>
            <a:ext cx="132552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2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8b95a1"/>
                </a:solidFill>
                <a:latin typeface="Calibri"/>
              </a:rPr>
              <a:t>Acceso básico a referencias OBRAMAT en la app</a:t>
            </a:r>
            <a:endParaRPr b="0" lang="es-E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5" name="Shape 9"/>
          <p:cNvSpPr/>
          <p:nvPr/>
        </p:nvSpPr>
        <p:spPr>
          <a:xfrm>
            <a:off x="2839320" y="1883520"/>
            <a:ext cx="219240" cy="219240"/>
          </a:xfrm>
          <a:prstGeom prst="ellipse">
            <a:avLst/>
          </a:prstGeom>
          <a:solidFill>
            <a:srgbClr val="1a5a96"/>
          </a:solidFill>
          <a:ln w="12700">
            <a:solidFill>
              <a:srgbClr val="1a5a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0000" bIns="90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6" name="Shape 10"/>
          <p:cNvSpPr/>
          <p:nvPr/>
        </p:nvSpPr>
        <p:spPr>
          <a:xfrm>
            <a:off x="2194560" y="2212920"/>
            <a:ext cx="1508400" cy="2697120"/>
          </a:xfrm>
          <a:prstGeom prst="roundRect">
            <a:avLst>
              <a:gd name="adj" fmla="val 7273"/>
            </a:avLst>
          </a:prstGeom>
          <a:solidFill>
            <a:srgbClr val="f4f5f7"/>
          </a:solidFill>
          <a:ln w="12700">
            <a:solidFill>
              <a:srgbClr val="f4f5f7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7" name="Shape 11"/>
          <p:cNvSpPr/>
          <p:nvPr/>
        </p:nvSpPr>
        <p:spPr>
          <a:xfrm>
            <a:off x="2724840" y="2359080"/>
            <a:ext cx="438480" cy="438480"/>
          </a:xfrm>
          <a:prstGeom prst="ellipse">
            <a:avLst/>
          </a:prstGeom>
          <a:solidFill>
            <a:srgbClr val="1a5a96"/>
          </a:solidFill>
          <a:ln w="12700">
            <a:solidFill>
              <a:srgbClr val="1a5a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Text 12"/>
          <p:cNvSpPr/>
          <p:nvPr/>
        </p:nvSpPr>
        <p:spPr>
          <a:xfrm>
            <a:off x="2724840" y="2359080"/>
            <a:ext cx="43848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2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9" name="Text 13"/>
          <p:cNvSpPr/>
          <p:nvPr/>
        </p:nvSpPr>
        <p:spPr>
          <a:xfrm>
            <a:off x="2267640" y="2907720"/>
            <a:ext cx="1362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1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c2535"/>
                </a:solidFill>
                <a:latin typeface="Calibri"/>
              </a:rPr>
              <a:t>Precios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1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c2535"/>
                </a:solidFill>
                <a:latin typeface="Calibri"/>
              </a:rPr>
              <a:t>en tiempo real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0" name="Text 14"/>
          <p:cNvSpPr/>
          <p:nvPr/>
        </p:nvSpPr>
        <p:spPr>
          <a:xfrm>
            <a:off x="2286000" y="3639240"/>
            <a:ext cx="132552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2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8b95a1"/>
                </a:solidFill>
                <a:latin typeface="Calibri"/>
              </a:rPr>
              <a:t>Precios actualizados para cada instalador</a:t>
            </a:r>
            <a:endParaRPr b="0" lang="es-E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1" name="Shape 15"/>
          <p:cNvSpPr/>
          <p:nvPr/>
        </p:nvSpPr>
        <p:spPr>
          <a:xfrm>
            <a:off x="4530960" y="1883520"/>
            <a:ext cx="219240" cy="219240"/>
          </a:xfrm>
          <a:prstGeom prst="ellipse">
            <a:avLst/>
          </a:prstGeom>
          <a:solidFill>
            <a:srgbClr val="1a5a96"/>
          </a:solidFill>
          <a:ln w="12700">
            <a:solidFill>
              <a:srgbClr val="1a5a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0000" bIns="90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2" name="Shape 16"/>
          <p:cNvSpPr/>
          <p:nvPr/>
        </p:nvSpPr>
        <p:spPr>
          <a:xfrm>
            <a:off x="3886200" y="2212920"/>
            <a:ext cx="1508400" cy="2697120"/>
          </a:xfrm>
          <a:prstGeom prst="roundRect">
            <a:avLst>
              <a:gd name="adj" fmla="val 7273"/>
            </a:avLst>
          </a:prstGeom>
          <a:solidFill>
            <a:srgbClr val="f4f5f7"/>
          </a:solidFill>
          <a:ln w="12700">
            <a:solidFill>
              <a:srgbClr val="f4f5f7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Shape 17"/>
          <p:cNvSpPr/>
          <p:nvPr/>
        </p:nvSpPr>
        <p:spPr>
          <a:xfrm>
            <a:off x="4416480" y="2359080"/>
            <a:ext cx="438480" cy="438480"/>
          </a:xfrm>
          <a:prstGeom prst="ellipse">
            <a:avLst/>
          </a:prstGeom>
          <a:solidFill>
            <a:srgbClr val="1a5a96"/>
          </a:solidFill>
          <a:ln w="12700">
            <a:solidFill>
              <a:srgbClr val="1a5a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Text 18"/>
          <p:cNvSpPr/>
          <p:nvPr/>
        </p:nvSpPr>
        <p:spPr>
          <a:xfrm>
            <a:off x="4416480" y="2359080"/>
            <a:ext cx="43848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3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5" name="Text 19"/>
          <p:cNvSpPr/>
          <p:nvPr/>
        </p:nvSpPr>
        <p:spPr>
          <a:xfrm>
            <a:off x="3959280" y="2907720"/>
            <a:ext cx="1362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1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c2535"/>
                </a:solidFill>
                <a:latin typeface="Calibri"/>
              </a:rPr>
              <a:t>Stock y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1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c2535"/>
                </a:solidFill>
                <a:latin typeface="Calibri"/>
              </a:rPr>
              <a:t>disponibilidad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6" name="Text 20"/>
          <p:cNvSpPr/>
          <p:nvPr/>
        </p:nvSpPr>
        <p:spPr>
          <a:xfrm>
            <a:off x="3977640" y="3639240"/>
            <a:ext cx="132552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2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8b95a1"/>
                </a:solidFill>
                <a:latin typeface="Calibri"/>
              </a:rPr>
              <a:t>Almacén más cercano al instalador</a:t>
            </a:r>
            <a:endParaRPr b="0" lang="es-E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" name="Shape 21"/>
          <p:cNvSpPr/>
          <p:nvPr/>
        </p:nvSpPr>
        <p:spPr>
          <a:xfrm>
            <a:off x="6222600" y="1883520"/>
            <a:ext cx="219240" cy="219240"/>
          </a:xfrm>
          <a:prstGeom prst="ellipse">
            <a:avLst/>
          </a:prstGeom>
          <a:solidFill>
            <a:srgbClr val="c8922a"/>
          </a:solidFill>
          <a:ln w="12700">
            <a:solidFill>
              <a:srgbClr val="c89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0000" bIns="90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8" name="Shape 22"/>
          <p:cNvSpPr/>
          <p:nvPr/>
        </p:nvSpPr>
        <p:spPr>
          <a:xfrm>
            <a:off x="5577840" y="2212920"/>
            <a:ext cx="1508400" cy="2697120"/>
          </a:xfrm>
          <a:prstGeom prst="roundRect">
            <a:avLst>
              <a:gd name="adj" fmla="val 7273"/>
            </a:avLst>
          </a:prstGeom>
          <a:solidFill>
            <a:srgbClr val="1a5a96"/>
          </a:solidFill>
          <a:ln w="12700">
            <a:solidFill>
              <a:srgbClr val="1a5a96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9" name="Shape 23"/>
          <p:cNvSpPr/>
          <p:nvPr/>
        </p:nvSpPr>
        <p:spPr>
          <a:xfrm>
            <a:off x="6108120" y="2359080"/>
            <a:ext cx="438480" cy="438480"/>
          </a:xfrm>
          <a:prstGeom prst="ellipse">
            <a:avLst/>
          </a:prstGeom>
          <a:solidFill>
            <a:srgbClr val="c8922a"/>
          </a:solidFill>
          <a:ln w="12700">
            <a:solidFill>
              <a:srgbClr val="c89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0" name="Text 24"/>
          <p:cNvSpPr/>
          <p:nvPr/>
        </p:nvSpPr>
        <p:spPr>
          <a:xfrm>
            <a:off x="6108120" y="2359080"/>
            <a:ext cx="43848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4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Text 25"/>
          <p:cNvSpPr/>
          <p:nvPr/>
        </p:nvSpPr>
        <p:spPr>
          <a:xfrm>
            <a:off x="5650920" y="2907720"/>
            <a:ext cx="1362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1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Pedido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1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digital* directo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2" name="Text 26"/>
          <p:cNvSpPr/>
          <p:nvPr/>
        </p:nvSpPr>
        <p:spPr>
          <a:xfrm>
            <a:off x="5669280" y="3639240"/>
            <a:ext cx="132552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2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c5d8ec"/>
                </a:solidFill>
                <a:latin typeface="Calibri"/>
              </a:rPr>
              <a:t>Pedido con un clic al sistema OBRAMAT</a:t>
            </a:r>
            <a:endParaRPr b="0" lang="es-E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3" name="Shape 27"/>
          <p:cNvSpPr/>
          <p:nvPr/>
        </p:nvSpPr>
        <p:spPr>
          <a:xfrm>
            <a:off x="7914240" y="1883520"/>
            <a:ext cx="219240" cy="219240"/>
          </a:xfrm>
          <a:prstGeom prst="ellipse">
            <a:avLst/>
          </a:prstGeom>
          <a:solidFill>
            <a:srgbClr val="c8922a"/>
          </a:solidFill>
          <a:ln w="12700">
            <a:solidFill>
              <a:srgbClr val="c89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0000" bIns="90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4" name="Shape 28"/>
          <p:cNvSpPr/>
          <p:nvPr/>
        </p:nvSpPr>
        <p:spPr>
          <a:xfrm>
            <a:off x="7269480" y="2212920"/>
            <a:ext cx="1508400" cy="2697120"/>
          </a:xfrm>
          <a:prstGeom prst="roundRect">
            <a:avLst>
              <a:gd name="adj" fmla="val 7273"/>
            </a:avLst>
          </a:prstGeom>
          <a:solidFill>
            <a:srgbClr val="1c2535"/>
          </a:solidFill>
          <a:ln w="12700">
            <a:solidFill>
              <a:srgbClr val="1c2535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5" name="Shape 29"/>
          <p:cNvSpPr/>
          <p:nvPr/>
        </p:nvSpPr>
        <p:spPr>
          <a:xfrm>
            <a:off x="7799760" y="2359080"/>
            <a:ext cx="438480" cy="438480"/>
          </a:xfrm>
          <a:prstGeom prst="ellipse">
            <a:avLst/>
          </a:prstGeom>
          <a:solidFill>
            <a:srgbClr val="c8922a"/>
          </a:solidFill>
          <a:ln w="12700">
            <a:solidFill>
              <a:srgbClr val="c89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6" name="Text 30"/>
          <p:cNvSpPr/>
          <p:nvPr/>
        </p:nvSpPr>
        <p:spPr>
          <a:xfrm>
            <a:off x="7799760" y="2359080"/>
            <a:ext cx="43848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c2535"/>
                </a:solidFill>
                <a:latin typeface="Calibri"/>
              </a:rPr>
              <a:t>5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7" name="Text 31"/>
          <p:cNvSpPr/>
          <p:nvPr/>
        </p:nvSpPr>
        <p:spPr>
          <a:xfrm>
            <a:off x="7342560" y="2907720"/>
            <a:ext cx="1362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1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Programa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1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PRO OBRAMAT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8" name="Text 32"/>
          <p:cNvSpPr/>
          <p:nvPr/>
        </p:nvSpPr>
        <p:spPr>
          <a:xfrm>
            <a:off x="7360920" y="3639240"/>
            <a:ext cx="132552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2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7f94a5"/>
                </a:solidFill>
                <a:latin typeface="Calibri"/>
              </a:rPr>
              <a:t>Descuentos y ventajas exclusivas instaladores PRO</a:t>
            </a:r>
            <a:endParaRPr b="0" lang="es-E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Text 33"/>
          <p:cNvSpPr/>
          <p:nvPr/>
        </p:nvSpPr>
        <p:spPr>
          <a:xfrm>
            <a:off x="502920" y="4956120"/>
            <a:ext cx="81378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8b95a1"/>
                </a:solidFill>
                <a:latin typeface="Calibri"/>
              </a:rPr>
              <a:t>* El pedido directo digital NO está Implementado, está preparado en esat fase en docuemento Word o Pdf.</a:t>
            </a:r>
            <a:endParaRPr b="0" lang="es-E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0" name="Text 34"/>
          <p:cNvSpPr/>
          <p:nvPr/>
        </p:nvSpPr>
        <p:spPr>
          <a:xfrm>
            <a:off x="8046720" y="4846320"/>
            <a:ext cx="8226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9ba8b5"/>
                </a:solidFill>
                <a:latin typeface="Calibri"/>
              </a:rPr>
              <a:t>11 / 13</a:t>
            </a:r>
            <a:endParaRPr b="0" lang="es-E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1" name="Text 35"/>
          <p:cNvSpPr/>
          <p:nvPr/>
        </p:nvSpPr>
        <p:spPr>
          <a:xfrm>
            <a:off x="457200" y="4846320"/>
            <a:ext cx="36572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9ba8b5"/>
                </a:solidFill>
                <a:latin typeface="Calibri"/>
              </a:rPr>
              <a:t>TrabFlow × OBRAMAT · Confidencial</a:t>
            </a:r>
            <a:endParaRPr b="0" lang="es-E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c25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Text 0"/>
          <p:cNvSpPr/>
          <p:nvPr/>
        </p:nvSpPr>
        <p:spPr>
          <a:xfrm>
            <a:off x="502920" y="292680"/>
            <a:ext cx="8229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100" spc="398" strike="noStrike">
                <a:solidFill>
                  <a:srgbClr val="c8922a"/>
                </a:solidFill>
                <a:latin typeface="Calibri"/>
              </a:rPr>
              <a:t>VISIÓN</a:t>
            </a:r>
            <a:endParaRPr b="0" lang="es-E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3" name="Text 1"/>
          <p:cNvSpPr/>
          <p:nvPr/>
        </p:nvSpPr>
        <p:spPr>
          <a:xfrm>
            <a:off x="502920" y="777240"/>
            <a:ext cx="813780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2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ffffff"/>
                </a:solidFill>
                <a:latin typeface="Cambria"/>
                <a:ea typeface="Cambria"/>
              </a:rPr>
              <a:t>TrabFlow se convertirá en el sistema operativo</a:t>
            </a:r>
            <a:endParaRPr b="0" lang="es-ES" sz="3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2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ffffff"/>
                </a:solidFill>
                <a:latin typeface="Cambria"/>
                <a:ea typeface="Cambria"/>
              </a:rPr>
              <a:t>del profesional de la construcción.</a:t>
            </a:r>
            <a:endParaRPr b="0" lang="es-ES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4" name="Shape 2"/>
          <p:cNvSpPr/>
          <p:nvPr/>
        </p:nvSpPr>
        <p:spPr>
          <a:xfrm>
            <a:off x="1828800" y="2176200"/>
            <a:ext cx="5486400" cy="360"/>
          </a:xfrm>
          <a:prstGeom prst="line">
            <a:avLst/>
          </a:prstGeom>
          <a:ln w="12700">
            <a:solidFill>
              <a:srgbClr val="3a506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s-E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5" name="Shape 3"/>
          <p:cNvSpPr/>
          <p:nvPr/>
        </p:nvSpPr>
        <p:spPr>
          <a:xfrm>
            <a:off x="502920" y="2331720"/>
            <a:ext cx="3931560" cy="2422800"/>
          </a:xfrm>
          <a:prstGeom prst="roundRect">
            <a:avLst>
              <a:gd name="adj" fmla="val 5283"/>
            </a:avLst>
          </a:prstGeom>
          <a:solidFill>
            <a:srgbClr val="263545"/>
          </a:solidFill>
          <a:ln w="12700">
            <a:solidFill>
              <a:srgbClr val="26354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6" name="Text 4"/>
          <p:cNvSpPr/>
          <p:nvPr/>
        </p:nvSpPr>
        <p:spPr>
          <a:xfrm>
            <a:off x="685800" y="2514600"/>
            <a:ext cx="35658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3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c5d8ec"/>
                </a:solidFill>
                <a:latin typeface="Calibri"/>
              </a:rPr>
              <a:t>El proveedor integrado en TrabFlow llega</a:t>
            </a:r>
            <a:endParaRPr b="0" lang="es-E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3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c5d8ec"/>
                </a:solidFill>
                <a:latin typeface="Calibri"/>
              </a:rPr>
              <a:t>primero a cada instalador, en cada obra,</a:t>
            </a:r>
            <a:endParaRPr b="0" lang="es-E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3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c5d8ec"/>
                </a:solidFill>
                <a:latin typeface="Calibri"/>
              </a:rPr>
              <a:t>con cada material.</a:t>
            </a:r>
            <a:endParaRPr b="0" lang="es-E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7" name="Text 5"/>
          <p:cNvSpPr/>
          <p:nvPr/>
        </p:nvSpPr>
        <p:spPr>
          <a:xfrm>
            <a:off x="685800" y="3493080"/>
            <a:ext cx="35658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25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c8922a"/>
                </a:solidFill>
                <a:latin typeface="Calibri"/>
              </a:rPr>
              <a:t>La ventana para ser el primer proveedor</a:t>
            </a:r>
            <a:endParaRPr b="0" lang="es-E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25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c8922a"/>
                </a:solidFill>
                <a:latin typeface="Calibri"/>
              </a:rPr>
              <a:t>integrado está abierta.</a:t>
            </a:r>
            <a:endParaRPr b="0" lang="es-E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8" name="Shape 6"/>
          <p:cNvSpPr/>
          <p:nvPr/>
        </p:nvSpPr>
        <p:spPr>
          <a:xfrm>
            <a:off x="4709160" y="2331720"/>
            <a:ext cx="3931560" cy="2422800"/>
          </a:xfrm>
          <a:prstGeom prst="roundRect">
            <a:avLst>
              <a:gd name="adj" fmla="val 5283"/>
            </a:avLst>
          </a:prstGeom>
          <a:solidFill>
            <a:srgbClr val="1a5a96"/>
          </a:solidFill>
          <a:ln w="12700">
            <a:solidFill>
              <a:srgbClr val="1a5a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Text 7"/>
          <p:cNvSpPr/>
          <p:nvPr/>
        </p:nvSpPr>
        <p:spPr>
          <a:xfrm>
            <a:off x="4892040" y="2514600"/>
            <a:ext cx="35658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3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c5d8ec"/>
                </a:solidFill>
                <a:latin typeface="Calibri"/>
              </a:rPr>
              <a:t>El proveedor que no esté integrado llegará cuando el instalador ya haya decidido qué comprar — y dónde.</a:t>
            </a:r>
            <a:endParaRPr b="0" lang="es-E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0" name="Text 8"/>
          <p:cNvSpPr/>
          <p:nvPr/>
        </p:nvSpPr>
        <p:spPr>
          <a:xfrm>
            <a:off x="4892040" y="3493080"/>
            <a:ext cx="35658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25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Cada presupuesto generado es una</a:t>
            </a:r>
            <a:endParaRPr b="0" lang="es-E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25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oportunidad de venta.</a:t>
            </a:r>
            <a:endParaRPr b="0" lang="es-E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1" name="Text 9"/>
          <p:cNvSpPr/>
          <p:nvPr/>
        </p:nvSpPr>
        <p:spPr>
          <a:xfrm>
            <a:off x="8046720" y="4846320"/>
            <a:ext cx="8226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6b7b8d"/>
                </a:solidFill>
                <a:latin typeface="Calibri"/>
              </a:rPr>
              <a:t>12 / 13</a:t>
            </a:r>
            <a:endParaRPr b="0" lang="es-E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2" name="Text 10"/>
          <p:cNvSpPr/>
          <p:nvPr/>
        </p:nvSpPr>
        <p:spPr>
          <a:xfrm>
            <a:off x="457200" y="4846320"/>
            <a:ext cx="36572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6b7b8d"/>
                </a:solidFill>
                <a:latin typeface="Calibri"/>
              </a:rPr>
              <a:t>TrabFlow × OBRAMAT · Confidencial</a:t>
            </a:r>
            <a:endParaRPr b="0" lang="es-E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c25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3" name="Image 0" descr="preencoded.png"/>
          <p:cNvPicPr/>
          <p:nvPr/>
        </p:nvPicPr>
        <p:blipFill>
          <a:blip r:embed="rId1"/>
          <a:stretch/>
        </p:blipFill>
        <p:spPr>
          <a:xfrm>
            <a:off x="4160520" y="411480"/>
            <a:ext cx="822600" cy="822600"/>
          </a:xfrm>
          <a:prstGeom prst="rect">
            <a:avLst/>
          </a:prstGeom>
          <a:ln w="0">
            <a:noFill/>
          </a:ln>
        </p:spPr>
      </p:pic>
      <p:sp>
        <p:nvSpPr>
          <p:cNvPr id="454" name="Text 0"/>
          <p:cNvSpPr/>
          <p:nvPr/>
        </p:nvSpPr>
        <p:spPr>
          <a:xfrm>
            <a:off x="457200" y="1371600"/>
            <a:ext cx="822924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15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Cambria"/>
                <a:ea typeface="Cambria"/>
              </a:rPr>
              <a:t>Construyamos juntos el futuro digital</a:t>
            </a:r>
            <a:endParaRPr b="0" lang="es-ES" sz="3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15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Cambria"/>
                <a:ea typeface="Cambria"/>
              </a:rPr>
              <a:t>del instalador profesional.</a:t>
            </a:r>
            <a:endParaRPr b="0" lang="es-E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5" name="Shape 1"/>
          <p:cNvSpPr/>
          <p:nvPr/>
        </p:nvSpPr>
        <p:spPr>
          <a:xfrm>
            <a:off x="1371600" y="2834640"/>
            <a:ext cx="6400440" cy="1234080"/>
          </a:xfrm>
          <a:prstGeom prst="roundRect">
            <a:avLst>
              <a:gd name="adj" fmla="val 10370"/>
            </a:avLst>
          </a:prstGeom>
          <a:solidFill>
            <a:srgbClr val="1a5a96"/>
          </a:solidFill>
          <a:ln w="12700">
            <a:solidFill>
              <a:srgbClr val="1a5a96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6" name="Text 2"/>
          <p:cNvSpPr/>
          <p:nvPr/>
        </p:nvSpPr>
        <p:spPr>
          <a:xfrm>
            <a:off x="1463040" y="2944440"/>
            <a:ext cx="62175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Piloto de 90 días · Sin coste de integración · Comenzamos en 4 semanas</a:t>
            </a:r>
            <a:endParaRPr b="0" lang="es-E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7" name="Text 3"/>
          <p:cNvSpPr/>
          <p:nvPr/>
        </p:nvSpPr>
        <p:spPr>
          <a:xfrm>
            <a:off x="1463040" y="3346560"/>
            <a:ext cx="621756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2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c5d8ec"/>
                </a:solidFill>
                <a:latin typeface="Calibri"/>
              </a:rPr>
              <a:t>50–100 instaladores · Zona de influencia OBRAMAT · Medición de conversión presupuesto → pedido</a:t>
            </a:r>
            <a:endParaRPr b="0" lang="es-E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8" name="Text 4"/>
          <p:cNvSpPr/>
          <p:nvPr/>
        </p:nvSpPr>
        <p:spPr>
          <a:xfrm>
            <a:off x="457200" y="425196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7f94a5"/>
                </a:solidFill>
                <a:latin typeface="Calibri"/>
              </a:rPr>
              <a:t>Fernando Carbonell Cabo — Fundador, TrabFlow Technologies, S.L.</a:t>
            </a:r>
            <a:endParaRPr b="0" lang="es-E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9" name="Text 5"/>
          <p:cNvSpPr/>
          <p:nvPr/>
        </p:nvSpPr>
        <p:spPr>
          <a:xfrm>
            <a:off x="457200" y="455364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c8922a"/>
                </a:solidFill>
                <a:latin typeface="Calibri"/>
              </a:rPr>
              <a:t>trabflow.com · fercarboc@gmail.com</a:t>
            </a:r>
            <a:endParaRPr b="0" lang="es-E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0" name="Text 6"/>
          <p:cNvSpPr/>
          <p:nvPr/>
        </p:nvSpPr>
        <p:spPr>
          <a:xfrm>
            <a:off x="457200" y="4892040"/>
            <a:ext cx="82292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3a5066"/>
                </a:solidFill>
                <a:latin typeface="Calibri"/>
              </a:rPr>
              <a:t>TrabFlow × OBRAMAT · Propuesta Comercial 2026 · Confidencial</a:t>
            </a:r>
            <a:endParaRPr b="0" lang="es-ES" sz="9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1190</TotalTime>
  <Application>LibreOffice/7.4.3.2$Windows_X86_64 LibreOffice_project/1048a8393ae2eeec98dff31b5c133c5f1d08b890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2026-07-05T11:48:14Z</dcterms:created>
  <dc:creator>TrabFlow Technologies, S.L.</dc:creator>
  <dc:description/>
  <dc:language>es-ES</dc:language>
  <cp:lastModifiedBy/>
  <dcterms:modified xsi:type="dcterms:W3CDTF">2026-07-06T09:49:25Z</dcterms:modified>
  <cp:revision>3</cp:revision>
  <dc:subject>PptxGenJS Presentation</dc:subject>
  <dc:title>TrabFlow × OBRAMAT — Dossier Comercial 2026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13</vt:i4>
  </property>
  <property fmtid="{D5CDD505-2E9C-101B-9397-08002B2CF9AE}" pid="3" name="PresentationFormat">
    <vt:lpwstr>On-screen Show (16:9)</vt:lpwstr>
  </property>
  <property fmtid="{D5CDD505-2E9C-101B-9397-08002B2CF9AE}" pid="4" name="Slides">
    <vt:i4>13</vt:i4>
  </property>
</Properties>
</file>