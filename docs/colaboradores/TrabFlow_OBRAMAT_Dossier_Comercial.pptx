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22A"/>
                </a:solidFill>
              </a:rPr>
              <a:t>DOSSIER COMERCIAL · 2026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TrabFlow AI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B0BEC5"/>
                </a:solidFill>
              </a:rPr>
              <a:t>La inteligencia artificial que conecta al instalador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B0BEC5"/>
                </a:solidFill>
              </a:rPr>
              <a:t>profesional con el proveedor de materiales.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280160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335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5"/>
                </a:solidFill>
              </a:rPr>
              <a:t>instaladores en España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2267712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 min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35040" y="27066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5"/>
                </a:solidFill>
              </a:rPr>
              <a:t>de voz a presupuesto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255264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€11.5B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5040" y="3694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5"/>
                </a:solidFill>
              </a:rPr>
              <a:t>mercado instalaciones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× OBRAMAT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</a:rPr>
              <a:t>trabflow.com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1 / 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instalador pierde 2–3 horas al día en burocracia.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94560" cy="3246120"/>
          </a:xfrm>
          <a:prstGeom prst="roundRect">
            <a:avLst>
              <a:gd name="adj" fmla="val 6250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4B5"/>
                </a:solidFill>
              </a:rPr>
              <a:t>horas al día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4B5"/>
                </a:solidFill>
              </a:rPr>
              <a:t>en burocracia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080"/>
                </a:solidFill>
              </a:rPr>
              <a:t>Solo el 35% del tiempo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080"/>
                </a:solidFill>
              </a:rPr>
              <a:t>del instalador es trabajo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080"/>
                </a:solidFill>
              </a:rPr>
              <a:t>real. El 65% es gestión.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58191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0" y="20756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Buscar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referencias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819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20756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Calcular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materiales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46520" y="14173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819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0756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Hacer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presupuestos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468880" y="27889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95351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14600" y="3447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Llamar al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almacén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069080" y="27889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95351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4800" y="3447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Enviar PDFs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por WhatsApp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669280" y="27889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53512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15000" y="3447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Gestionar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pedidos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7269480" y="27889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953512"/>
            <a:ext cx="411480" cy="4114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15200" y="3447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Cobrar 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facturar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2 / 13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22A"/>
                </a:solidFill>
              </a:rPr>
              <a:t>LA OPORTUNIDAD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mercado enorme, invisible para los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 hasta hoy.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650.000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4B5"/>
                </a:solidFill>
              </a:rPr>
              <a:t>instaladores en España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6916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783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 millones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4B5"/>
                </a:solidFill>
              </a:rPr>
              <a:t>instaladores en LATAM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6916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83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 / día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4B5"/>
                </a:solidFill>
              </a:rPr>
              <a:t>presupuestos generados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8272" y="1691640"/>
            <a:ext cx="2029968" cy="1371600"/>
          </a:xfrm>
          <a:prstGeom prst="roundRect">
            <a:avLst>
              <a:gd name="adj" fmla="val 8000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7830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€11.500M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39712" y="242316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4B5"/>
                </a:solidFill>
              </a:rPr>
              <a:t>mercado anual instalaciones 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8138160" cy="1508760"/>
          </a:xfrm>
          <a:prstGeom prst="roundRect">
            <a:avLst>
              <a:gd name="adj" fmla="val 8485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8328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OBRAMAT puede estar presente en el momento exacto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que el instalador decide qué materiales va a comprar —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 al almacén.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3 / 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frase hablada a un pedido en OBRAMAT.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727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481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0352" y="20848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Instalador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dicta el trabajo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011680" y="2139696"/>
            <a:ext cx="201168" cy="0"/>
          </a:xfrm>
          <a:prstGeom prst="line">
            <a:avLst/>
          </a:prstGeom>
          <a:noFill/>
          <a:ln w="25400">
            <a:solidFill>
              <a:srgbClr val="C5D0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13432" y="13716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5727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481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545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386584" y="20848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IA detecta el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tipo de trabajo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867912" y="2139696"/>
            <a:ext cx="201168" cy="0"/>
          </a:xfrm>
          <a:prstGeom prst="line">
            <a:avLst/>
          </a:prstGeom>
          <a:noFill/>
          <a:ln w="25400">
            <a:solidFill>
              <a:srgbClr val="C5D0D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78808" y="13716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5727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88536" y="1481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545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251960" y="20848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Detecta todos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los materiales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733288" y="2139696"/>
            <a:ext cx="201168" cy="0"/>
          </a:xfrm>
          <a:prstGeom prst="line">
            <a:avLst/>
          </a:prstGeom>
          <a:noFill/>
          <a:ln w="25400">
            <a:solidFill>
              <a:srgbClr val="C5D0D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035040" y="13716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7276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44768" y="1481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108192" y="20848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Consulta catálogo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OBRAMAT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32004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401568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6928" y="33101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545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30352" y="39136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Calcula cantidades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exactas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2011680" y="3968496"/>
            <a:ext cx="201168" cy="0"/>
          </a:xfrm>
          <a:prstGeom prst="line">
            <a:avLst/>
          </a:prstGeom>
          <a:noFill/>
          <a:ln w="25400">
            <a:solidFill>
              <a:srgbClr val="C5D0D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313432" y="32004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401568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423160" y="33101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545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2386584" y="39136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Genera presupuesto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profesional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867912" y="3968496"/>
            <a:ext cx="201168" cy="0"/>
          </a:xfrm>
          <a:prstGeom prst="line">
            <a:avLst/>
          </a:prstGeom>
          <a:noFill/>
          <a:ln w="25400">
            <a:solidFill>
              <a:srgbClr val="C5D0D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178808" y="32004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3401568"/>
            <a:ext cx="411480" cy="4114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288536" y="33101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545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251960" y="39136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Cliente acepta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2535"/>
                </a:solidFill>
              </a:rPr>
              <a:t>por WhatsApp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5733288" y="3968496"/>
            <a:ext cx="201168" cy="0"/>
          </a:xfrm>
          <a:prstGeom prst="line">
            <a:avLst/>
          </a:prstGeom>
          <a:noFill/>
          <a:ln w="25400">
            <a:solidFill>
              <a:srgbClr val="C5D0DA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035040" y="3200400"/>
            <a:ext cx="1536192" cy="1536192"/>
          </a:xfrm>
          <a:prstGeom prst="roundRect">
            <a:avLst>
              <a:gd name="adj" fmla="val 7738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401568"/>
            <a:ext cx="411480" cy="4114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144768" y="33101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6108192" y="3913632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Pedido a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OBRAMAT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7863840" y="23317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786384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 3 min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4 / 13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CASO REAL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termo eléctrico de 80 litros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898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"Cambio termo 80 litros y retiro el antiguo"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0848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5A1"/>
                </a:solidFill>
              </a:rPr>
              <a:t>MATERIALES DETECTADOS AUTOMÁTICAMENTE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23591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231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04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535"/>
                </a:solidFill>
              </a:rPr>
              <a:t>Termo eléctrico 80 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28163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8036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862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535"/>
                </a:solidFill>
              </a:rPr>
              <a:t>Válvula de seguridad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02920" y="32735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3756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319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535"/>
                </a:solidFill>
              </a:rPr>
              <a:t>Latiguillos flex 40 cm (×2)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02920" y="37307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9476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776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535"/>
                </a:solidFill>
              </a:rPr>
              <a:t>Desmontaje equipo antiguo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02920" y="41879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25196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233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535"/>
                </a:solidFill>
              </a:rPr>
              <a:t>Mano de obra instalación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572000" y="1234440"/>
            <a:ext cx="4114800" cy="3703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572000" y="1234440"/>
            <a:ext cx="4114800" cy="438912"/>
          </a:xfrm>
          <a:prstGeom prst="roundRect">
            <a:avLst>
              <a:gd name="adj" fmla="val 31250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663440" y="12618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OBRAMAT — Productos recomendados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681728" y="1764792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700016" y="1783080"/>
            <a:ext cx="502920" cy="530352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257800" y="1801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OBR-GRI-001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5257800" y="19842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2535"/>
                </a:solidFill>
              </a:rPr>
              <a:t>Grifo monomando lavabo caño alto cromado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543800" y="1901952"/>
            <a:ext cx="868680" cy="301752"/>
          </a:xfrm>
          <a:prstGeom prst="roundRect">
            <a:avLst>
              <a:gd name="adj" fmla="val 18182"/>
            </a:avLst>
          </a:prstGeom>
          <a:solidFill>
            <a:srgbClr val="E8F4E8"/>
          </a:solidFill>
          <a:ln w="12700">
            <a:solidFill>
              <a:srgbClr val="E8F4E8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543800" y="1901952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2D"/>
                </a:solidFill>
              </a:rPr>
              <a:t>54,90€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681728" y="2423160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700016" y="2441448"/>
            <a:ext cx="502920" cy="530352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257800" y="2459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OBR-GRI-002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257800" y="2642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2535"/>
                </a:solidFill>
              </a:rPr>
              <a:t>Grifo monomando lavabo caño bajo cromado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7543800" y="2560320"/>
            <a:ext cx="868680" cy="301752"/>
          </a:xfrm>
          <a:prstGeom prst="roundRect">
            <a:avLst>
              <a:gd name="adj" fmla="val 18182"/>
            </a:avLst>
          </a:prstGeom>
          <a:solidFill>
            <a:srgbClr val="E8F4E8"/>
          </a:solidFill>
          <a:ln w="12700">
            <a:solidFill>
              <a:srgbClr val="E8F4E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543800" y="2560320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2D"/>
                </a:solidFill>
              </a:rPr>
              <a:t>46,36€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681728" y="308152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700016" y="3099816"/>
            <a:ext cx="502920" cy="530352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257800" y="3118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OBR-GRI-003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257800" y="33009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2535"/>
                </a:solidFill>
              </a:rPr>
              <a:t>Grifo monomando fregadero giratorio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7543800" y="3218688"/>
            <a:ext cx="868680" cy="301752"/>
          </a:xfrm>
          <a:prstGeom prst="roundRect">
            <a:avLst>
              <a:gd name="adj" fmla="val 18182"/>
            </a:avLst>
          </a:prstGeom>
          <a:solidFill>
            <a:srgbClr val="E8F4E8"/>
          </a:solidFill>
          <a:ln w="12700">
            <a:solidFill>
              <a:srgbClr val="E8F4E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543800" y="3218688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2D"/>
                </a:solidFill>
              </a:rPr>
              <a:t>87,84€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4681728" y="3739896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700016" y="3758184"/>
            <a:ext cx="502920" cy="530352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257800" y="3776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OBR-GRI-004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5257800" y="39593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2535"/>
                </a:solidFill>
              </a:rPr>
              <a:t>Grifo monomando ducha empotrado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543800" y="3877056"/>
            <a:ext cx="868680" cy="301752"/>
          </a:xfrm>
          <a:prstGeom prst="roundRect">
            <a:avLst>
              <a:gd name="adj" fmla="val 18182"/>
            </a:avLst>
          </a:prstGeom>
          <a:solidFill>
            <a:srgbClr val="E8F4E8"/>
          </a:solidFill>
          <a:ln w="12700">
            <a:solidFill>
              <a:srgbClr val="E8F4E8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543800" y="387705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2D"/>
                </a:solidFill>
              </a:rPr>
              <a:t>108,58€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5029200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A96"/>
                </a:solidFill>
              </a:rPr>
              <a:t>+ Añadir al presupuesto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5 / 13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CASO REAL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Reforma de baño 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35608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"Reforma baño: bañera por plato ducha, nueva grifería, alicatado nuevo."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500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Plato de ducha 80×80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60120" y="2505456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Antideslizante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210312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235000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Grifo monomando ducha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657600" y="2505456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Empotrado cromado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897880" y="210312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23500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508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Tubería multicapa ø20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355080" y="2505456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6 metros lineales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02920" y="2944368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19125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0358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Codos 45° ø20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960120" y="3346704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4 unidades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200400" y="2944368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319125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57600" y="30358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Válvulas de corte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3657600" y="3346704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2 unidades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897880" y="2944368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6" y="319125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55080" y="30358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Mortero autonivelante 25 kg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355080" y="3346704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Base nivelación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502920" y="3785616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4032504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60120" y="38770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Adhesivo cerámico C2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960120" y="4187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5 kg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200400" y="3785616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416" y="4032504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657600" y="38770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Azulejo 30×60 mate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3657600" y="4187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8 m²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897880" y="3785616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5896" y="4032504"/>
            <a:ext cx="256032" cy="25603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355080" y="38770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5"/>
                </a:solidFill>
              </a:rPr>
              <a:t>Lechada junta 2 kg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6355080" y="4187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Gris perla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7452360" y="466344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7452360" y="4663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 partidas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6 / 13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CASO REAL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eléctrica completa — cuadro de 10 circuitos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35608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"Cuadro eléctrico 10 circuitos, vivienda 90m², cableado y mecanismos completos."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0848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5A1"/>
                </a:solidFill>
              </a:rPr>
              <a:t>MATERIALES DETECTADOS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2359152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1401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Cuadro distribución 24 módulos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2761488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163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7980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Magnetotérmicos 16A — 6 ud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3163824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1868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Diferencial 40A 30mA — 2 ud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02920" y="35661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21024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6027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Cable 2.5mm² rollo 100m — 2 ud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" y="3968496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023360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005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Cable 1.5mm² rollo 100m — 1 ud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502920" y="4370832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25696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0120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Tubo corrugado ø20 — 50 ml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502920" y="4773168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828032"/>
            <a:ext cx="219456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60120" y="48097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</a:rPr>
              <a:t>Mecanismos completos — 10 conjuntos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4572000" y="1234440"/>
            <a:ext cx="4114800" cy="3703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4572000" y="1234440"/>
            <a:ext cx="4114800" cy="438912"/>
          </a:xfrm>
          <a:prstGeom prst="roundRect">
            <a:avLst>
              <a:gd name="adj" fmla="val 31250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663440" y="12618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Pedidos de Material  — OBRAMAT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4681728" y="1764792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773168" y="1801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A96"/>
                </a:solidFill>
              </a:rPr>
              <a:t>Desde presupuesto PRE-2026-061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681728" y="2624328"/>
            <a:ext cx="3886200" cy="0"/>
          </a:xfrm>
          <a:prstGeom prst="line">
            <a:avLst/>
          </a:prstGeom>
          <a:noFill/>
          <a:ln w="12700">
            <a:solidFill>
              <a:srgbClr val="F4F5F7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4736592" y="2313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5"/>
                </a:solidFill>
              </a:rPr>
              <a:t>Cuadro distribución 24 módulos · 1 ud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7635240" y="2313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7A2D"/>
                </a:solidFill>
              </a:rPr>
              <a:t>89,90€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4681728" y="3035808"/>
            <a:ext cx="3886200" cy="0"/>
          </a:xfrm>
          <a:prstGeom prst="line">
            <a:avLst/>
          </a:prstGeom>
          <a:noFill/>
          <a:ln w="12700">
            <a:solidFill>
              <a:srgbClr val="F4F5F7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736592" y="2724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5"/>
                </a:solidFill>
              </a:rPr>
              <a:t>Magnetotérmico 16A · 6 ud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763524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7A2D"/>
                </a:solidFill>
              </a:rPr>
              <a:t>47,40€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4681728" y="3447288"/>
            <a:ext cx="3886200" cy="0"/>
          </a:xfrm>
          <a:prstGeom prst="line">
            <a:avLst/>
          </a:prstGeom>
          <a:noFill/>
          <a:ln w="12700">
            <a:solidFill>
              <a:srgbClr val="F4F5F7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4736592" y="3136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5"/>
                </a:solidFill>
              </a:rPr>
              <a:t>Diferencial 40A · 2 ud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7635240" y="3136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7A2D"/>
                </a:solidFill>
              </a:rPr>
              <a:t>63,80€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4681728" y="3858768"/>
            <a:ext cx="3886200" cy="0"/>
          </a:xfrm>
          <a:prstGeom prst="line">
            <a:avLst/>
          </a:prstGeom>
          <a:noFill/>
          <a:ln w="12700">
            <a:solidFill>
              <a:srgbClr val="F4F5F7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4736592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5"/>
                </a:solidFill>
              </a:rPr>
              <a:t>Cable 2.5mm² rollo · 2 ud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7635240" y="3547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7A2D"/>
                </a:solidFill>
              </a:rPr>
              <a:t>54,60€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4681728" y="4270248"/>
            <a:ext cx="3886200" cy="0"/>
          </a:xfrm>
          <a:prstGeom prst="line">
            <a:avLst/>
          </a:prstGeom>
          <a:noFill/>
          <a:ln w="12700">
            <a:solidFill>
              <a:srgbClr val="F4F5F7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4736592" y="3959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5"/>
                </a:solidFill>
              </a:rPr>
              <a:t>Mecanismos · 10 conjuntos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7635240" y="3959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7A2D"/>
                </a:solidFill>
              </a:rPr>
              <a:t>156,90€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4572000" y="4315968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4681728" y="43708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PEDIDO OBRAMAT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7132320" y="4370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922A"/>
                </a:solidFill>
              </a:rPr>
              <a:t>412,60€</a:t>
            </a:r>
            <a:endParaRPr lang="en-US" sz="1600" dirty="0"/>
          </a:p>
        </p:txBody>
      </p:sp>
      <p:sp>
        <p:nvSpPr>
          <p:cNvPr id="52" name="Text 42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7 / 13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22A"/>
                </a:solidFill>
              </a:rPr>
              <a:t>INTEGRACIÓN CON OBRAMAT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catálogo OBRAMAT, en el momento en que el instalador decide qué comprar.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20624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4206240" cy="512064"/>
          </a:xfrm>
          <a:prstGeom prst="roundRect">
            <a:avLst>
              <a:gd name="adj" fmla="val 35714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Catálogo OBRAMAT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3886200" cy="402336"/>
          </a:xfrm>
          <a:prstGeom prst="roundRect">
            <a:avLst>
              <a:gd name="adj" fmla="val 1818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762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21579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</a:rPr>
              <a:t>Tubo multicapa 20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688336"/>
            <a:ext cx="502920" cy="585216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27249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5"/>
                </a:solidFill>
              </a:rPr>
              <a:t>Tubo PEX-AL-PEX ø20 (rollo 50m)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34440" y="29809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OBR-TUB-20-50 · En stock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64992" y="2816352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4992" y="2816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A2D"/>
                </a:solidFill>
              </a:rPr>
              <a:t>28,90€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401568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" y="3438144"/>
            <a:ext cx="502920" cy="585216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4440" y="3474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5"/>
                </a:solidFill>
              </a:rPr>
              <a:t>Tubo PEX-AL-PEX ø20 (barra 5m)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34440" y="37307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OBR-TUB-20-B5 · En stock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64992" y="356616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64992" y="35661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A2D"/>
                </a:solidFill>
              </a:rPr>
              <a:t>4,20€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151376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7512" y="4187952"/>
            <a:ext cx="502920" cy="585216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42245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5"/>
                </a:solidFill>
              </a:rPr>
              <a:t>Codo multicapa 90° ø20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34440" y="44805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OBR-COD-90-20 · En stock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364992" y="431596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4992" y="4315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A2D"/>
                </a:solidFill>
              </a:rPr>
              <a:t>1,85€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22A"/>
                </a:solidFill>
              </a:rPr>
              <a:t>CÓMO FUNCIONA LA INTEGRACIÓN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29200" y="1874520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0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35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532120" y="1856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API / feed CSV / Excel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53212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4B5"/>
                </a:solidFill>
              </a:rPr>
              <a:t>OBRAMAT comparte el catálogo en el formato que ya usa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193792" y="2258568"/>
            <a:ext cx="0" cy="384048"/>
          </a:xfrm>
          <a:prstGeom prst="line">
            <a:avLst/>
          </a:prstGeom>
          <a:noFill/>
          <a:ln w="12700">
            <a:solidFill>
              <a:srgbClr val="C8922A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5029200" y="2679192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2679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35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532120" y="2660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Matching automático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532120" y="29535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4B5"/>
                </a:solidFill>
              </a:rPr>
              <a:t>TrabFlow vincula cada partida a una referencia OBRAMAT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193792" y="3063240"/>
            <a:ext cx="0" cy="384048"/>
          </a:xfrm>
          <a:prstGeom prst="line">
            <a:avLst/>
          </a:prstGeom>
          <a:noFill/>
          <a:ln w="12700">
            <a:solidFill>
              <a:srgbClr val="C8922A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5029200" y="3483864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0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35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532120" y="3465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Precio real en el presupuesto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5532120" y="37581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4B5"/>
                </a:solidFill>
              </a:rPr>
              <a:t>El precio del catálogo, nunca estimado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193792" y="3867912"/>
            <a:ext cx="0" cy="384048"/>
          </a:xfrm>
          <a:prstGeom prst="line">
            <a:avLst/>
          </a:prstGeom>
          <a:noFill/>
          <a:ln w="12700">
            <a:solidFill>
              <a:srgbClr val="C8922A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5029200" y="4288536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0" y="4288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35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532120" y="4270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Pedido con un clic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532120" y="45628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4B5"/>
                </a:solidFill>
              </a:rPr>
              <a:t>El instalador envía el pedido directamente a OBRAMAT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029200" y="4937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922A"/>
                </a:solidFill>
              </a:rPr>
              <a:t>Sin modificar el modelo de negocio de OBRAMAT.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8 / 13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BENEFICIOS PARA OBRAMAT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hablamos de IA. Hablamos de negocio.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1790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17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5"/>
                </a:solidFill>
              </a:rPr>
              <a:t>Más ventas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7512" y="193852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OBRAMAT aparece primero cuando el instalador presupuesta materiales — en el tajo, antes de ir al almacén.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137160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51790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517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5"/>
                </a:solidFill>
              </a:rPr>
              <a:t>Más recurrencia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64992" y="193852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El instalador que presupuesta con OBRAMAT compra en OBRAMAT. Cada obra, automáticamente.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897880" y="137160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5179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1517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5"/>
                </a:solidFill>
              </a:rPr>
              <a:t>Más fidelización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062472" y="193852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El coste de cambio de proveedor es alto cuando el catálogo ya está integrado en el flujo de trabajo.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28803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02666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026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5"/>
                </a:solidFill>
              </a:rPr>
              <a:t>Mayor ticket medio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67512" y="344728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La IA incluye todos los materiales — no solo los que el instalador recuerda. Más referencias, más importe.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0" y="28803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02666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3026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5"/>
                </a:solidFill>
              </a:rPr>
              <a:t>Pedidos digitales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3364992" y="344728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El pedido llega a OBRAMAT estructurado y completo — sin llamadas, sin errores, sin esfuerzo.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897880" y="28803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3026664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92240" y="3026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5"/>
                </a:solidFill>
              </a:rPr>
              <a:t>Datos de demanda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062472" y="344728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OBRAMAT accede a datos reales de qué materiales presupuestan sus instaladores, cuándo y en qué zonas.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9 / 13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BENEFICIOS PARA EL INSTALADOR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4114800" cy="4343400"/>
          </a:xfrm>
          <a:prstGeom prst="roundRect">
            <a:avLst>
              <a:gd name="adj" fmla="val 4000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8FA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instalador que usa TrabFlow presupuesta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rápido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3017520"/>
            <a:ext cx="2743200" cy="0"/>
          </a:xfrm>
          <a:prstGeom prst="line">
            <a:avLst/>
          </a:prstGeom>
          <a:noFill/>
          <a:ln w="12700">
            <a:solidFill>
              <a:srgbClr val="3A5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08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F94A5"/>
                </a:solidFill>
              </a:rPr>
              <a:t>45 minutos → 90 segundos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F94A5"/>
                </a:solidFill>
              </a:rPr>
              <a:t>Antes: Word + calculadora + llamada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F94A5"/>
                </a:solidFill>
              </a:rPr>
              <a:t>Ahora: voz en la obra, presupuesto listo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68580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4336" y="86868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76672" y="7589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</a:rPr>
              <a:t>Ahorra 2 h/día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76672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Menos gestión, más trabajo real en obra.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150876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69164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76672" y="15819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</a:rPr>
              <a:t>Más profesionalidad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76672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PDF firmado, presentación al cliente en segundos.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46320" y="233172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51460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76672" y="24048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</a:rPr>
              <a:t>Más trabajos cerrados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376672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Respuesta rápida = más conversión de clientes.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46320" y="315468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3756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32278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</a:rPr>
              <a:t>Más ingresos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76672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Más obras, mejor margen, menos errores de materiales.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846320" y="397764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416052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40507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</a:rPr>
              <a:t>Catálogo siempre a mano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76672" y="4343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Referencias y precios OBRAMAT dentro de la app.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10 / 13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A96"/>
                </a:solidFill>
              </a:rPr>
              <a:t>ROADMAP DE COLABORACIÓN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fases, implementación progresiva, riesgo mínimo.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7772400" cy="54864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7572" y="1883664"/>
            <a:ext cx="219456" cy="219456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12848"/>
            <a:ext cx="1508760" cy="269748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2359152"/>
            <a:ext cx="438912" cy="438912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907792"/>
            <a:ext cx="1362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535"/>
                </a:solidFill>
              </a:rPr>
              <a:t>Consulta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535"/>
                </a:solidFill>
              </a:rPr>
              <a:t>catálogo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39312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5A1"/>
                </a:solidFill>
              </a:rPr>
              <a:t>Acceso básico a referencias OBRAMAT en la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9212" y="1883664"/>
            <a:ext cx="219456" cy="219456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2212848"/>
            <a:ext cx="1508760" cy="269748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2359152"/>
            <a:ext cx="438912" cy="438912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67712" y="2907792"/>
            <a:ext cx="1362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535"/>
                </a:solidFill>
              </a:rPr>
              <a:t>Precios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535"/>
                </a:solidFill>
              </a:rPr>
              <a:t>en tiempo real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639312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5A1"/>
                </a:solidFill>
              </a:rPr>
              <a:t>Precios actualizados para cada instalador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30852" y="1883664"/>
            <a:ext cx="219456" cy="219456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2212848"/>
            <a:ext cx="1508760" cy="269748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16552" y="2359152"/>
            <a:ext cx="438912" cy="438912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59352" y="2907792"/>
            <a:ext cx="1362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535"/>
                </a:solidFill>
              </a:rPr>
              <a:t>Stock 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535"/>
                </a:solidFill>
              </a:rPr>
              <a:t>disponibilidad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3639312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5A1"/>
                </a:solidFill>
              </a:rPr>
              <a:t>Almacén más cercano al instalador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22492" y="1883664"/>
            <a:ext cx="219456" cy="21945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212848"/>
            <a:ext cx="1508760" cy="2697480"/>
          </a:xfrm>
          <a:prstGeom prst="roundRect">
            <a:avLst>
              <a:gd name="adj" fmla="val 7273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08192" y="2359152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50992" y="2907792"/>
            <a:ext cx="1362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Pedido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digital directo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3639312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5D8EC"/>
                </a:solidFill>
              </a:rPr>
              <a:t>Pedido con un clic al sistema OBRAMAT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14132" y="1883664"/>
            <a:ext cx="219456" cy="21945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2212848"/>
            <a:ext cx="1508760" cy="2697480"/>
          </a:xfrm>
          <a:prstGeom prst="roundRect">
            <a:avLst>
              <a:gd name="adj" fmla="val 7273"/>
            </a:avLst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99832" y="2359152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35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42632" y="2907792"/>
            <a:ext cx="1362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Programa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PRO OBRAMAT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60920" y="3639312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94A5"/>
                </a:solidFill>
              </a:rPr>
              <a:t>Descuentos y ventajas exclusivas instaladores PRO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95604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5A1"/>
                </a:solidFill>
              </a:rPr>
              <a:t>Sin coste de desarrollo para OBRAMAT en las fases 1–2. Sin modificar el modelo de negocio existente.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11 / 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8B5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22A"/>
                </a:solidFill>
              </a:rPr>
              <a:t>VISIÓN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TrabFlow se convertirá en el sistema operativo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profesional de la construcción.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2176272"/>
            <a:ext cx="5486400" cy="0"/>
          </a:xfrm>
          <a:prstGeom prst="line">
            <a:avLst/>
          </a:prstGeom>
          <a:noFill/>
          <a:ln w="12700">
            <a:solidFill>
              <a:srgbClr val="3A5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331720"/>
            <a:ext cx="3931920" cy="2423160"/>
          </a:xfrm>
          <a:prstGeom prst="roundRect">
            <a:avLst>
              <a:gd name="adj" fmla="val 5283"/>
            </a:avLst>
          </a:prstGeom>
          <a:solidFill>
            <a:srgbClr val="26354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14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5D8EC"/>
                </a:solidFill>
              </a:rPr>
              <a:t>El proveedor integrado en TrabFlow llega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5D8EC"/>
                </a:solidFill>
              </a:rPr>
              <a:t>primero a cada instalador, en cada obra,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5D8EC"/>
                </a:solidFill>
              </a:rPr>
              <a:t>con cada material.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4930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922A"/>
                </a:solidFill>
              </a:rPr>
              <a:t>La ventana para ser el primer proveedor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922A"/>
                </a:solidFill>
              </a:rPr>
              <a:t>integrado está abierta.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2331720"/>
            <a:ext cx="3931920" cy="2423160"/>
          </a:xfrm>
          <a:prstGeom prst="roundRect">
            <a:avLst>
              <a:gd name="adj" fmla="val 5283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514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5D8EC"/>
                </a:solidFill>
              </a:rPr>
              <a:t>El proveedor que no esté integrado llegará cuando el instalador ya haya decidido qué comprar — y dónde.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34930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Cada presupuesto generado es una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oportunidad de venta.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12 / 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TrabFlow × OBRAMAT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114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Construyamos juntos el futuro digital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instalador profesional.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371600" y="2834640"/>
            <a:ext cx="6400800" cy="1234440"/>
          </a:xfrm>
          <a:prstGeom prst="roundRect">
            <a:avLst>
              <a:gd name="adj" fmla="val 10370"/>
            </a:avLst>
          </a:prstGeom>
          <a:solidFill>
            <a:srgbClr val="1A5A96"/>
          </a:solidFill>
          <a:ln w="12700">
            <a:solidFill>
              <a:srgbClr val="1A5A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3040" y="29443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Piloto de 90 días · Sin coste de integración · Comenzamos en 4 semanas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33467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5D8EC"/>
                </a:solidFill>
              </a:rPr>
              <a:t>50–100 instaladores · Zona de influencia OBRAMAT · Medición de conversión presupuesto → pedido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94A5"/>
                </a:solidFill>
              </a:rPr>
              <a:t>Fernando Carbonell Cabo — Fundador, TrabFlow Technologies, S.L.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22A"/>
                </a:solidFill>
              </a:rPr>
              <a:t>trabflow.com · fercarboc@gmail.com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6"/>
                </a:solidFill>
              </a:rPr>
              <a:t>TrabFlow × OBRAMAT · Propuesta Comercial 2026 ·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TrabFlow × OBRAMAT — Dossier Comercial 2026</dc:title>
  <dc:subject>PptxGenJS Presentation</dc:subject>
  <dc:creator>TrabFlow Technologies, S.L.</dc:creator>
  <cp:lastModifiedBy>TrabFlow Technologies, S.L.</cp:lastModifiedBy>
  <cp:revision>1</cp:revision>
  <dcterms:created xsi:type="dcterms:W3CDTF">2026-07-05T11:48:14Z</dcterms:created>
  <dcterms:modified xsi:type="dcterms:W3CDTF">2026-07-05T11:48:14Z</dcterms:modified>
</cp:coreProperties>
</file>