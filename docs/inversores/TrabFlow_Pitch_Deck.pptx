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Agresivo</c:v>
                </c:pt>
              </c:strCache>
            </c:strRef>
          </c:tx>
          <c:spPr>
            <a:solidFill>
              <a:srgbClr val="C8922A"/>
            </a:solidFill>
            <a:ln w="38100" cap="flat">
              <a:solidFill>
                <a:srgbClr val="C892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922A"/>
              </a:solidFill>
              <a:ln w="9525" cap="flat">
                <a:solidFill>
                  <a:srgbClr val="C892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388.3</c:v>
                </c:pt>
                <c:pt idx="1">
                  <c:v>682.2</c:v>
                </c:pt>
                <c:pt idx="2">
                  <c:v>927.3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A5A96"/>
            </a:solidFill>
            <a:ln w="38100" cap="flat">
              <a:solidFill>
                <a:srgbClr val="1A5A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5A96"/>
              </a:solidFill>
              <a:ln w="9525" cap="flat">
                <a:solidFill>
                  <a:srgbClr val="1A5A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149.7</c:v>
                </c:pt>
                <c:pt idx="1">
                  <c:v>244</c:v>
                </c:pt>
                <c:pt idx="2">
                  <c:v>318.1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Conservador</c:v>
                </c:pt>
              </c:strCache>
            </c:strRef>
          </c:tx>
          <c:spPr>
            <a:solidFill>
              <a:srgbClr val="AEB7C5"/>
            </a:solidFill>
            <a:ln w="38100" cap="flat">
              <a:solidFill>
                <a:srgbClr val="AEB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EB7C5"/>
              </a:solidFill>
              <a:ln w="9525" cap="flat">
                <a:solidFill>
                  <a:srgbClr val="AEB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71.3</c:v>
                </c:pt>
                <c:pt idx="1">
                  <c:v>100.2</c:v>
                </c:pt>
                <c:pt idx="2">
                  <c:v>119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67085"/>
                    </a:solidFill>
                    <a:latin typeface="Arial"/>
                  </a:rPr>
                  <a:t>ARR (miles de €)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53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jp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A5A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C8922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2026 · CONFIDENCIAL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TrabFlow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del instalador autónomo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autónomos en España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4526280"/>
            <a:ext cx="0" cy="685800"/>
          </a:xfrm>
          <a:prstGeom prst="line">
            <a:avLst/>
          </a:prstGeom>
          <a:noFill/>
          <a:ln w="12700">
            <a:solidFill>
              <a:srgbClr val="3A42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 min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4340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voz a factura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4526280"/>
            <a:ext cx="0" cy="685800"/>
          </a:xfrm>
          <a:prstGeom prst="line">
            <a:avLst/>
          </a:prstGeom>
          <a:noFill/>
          <a:ln w="12700">
            <a:solidFill>
              <a:srgbClr val="3A4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vertical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86384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 · REBT · AEAT · IVA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9525">
            <a:solidFill>
              <a:srgbClr val="32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TrabFlow Technologies, S.L.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82735" y="6199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trabflow.com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construimos otra app de presupuestos.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una aplicación de presupuestos.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6791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una aplicación de facturación.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20954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 CRM.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10881360" cy="1691640"/>
          </a:xfrm>
          <a:prstGeom prst="rect">
            <a:avLst/>
          </a:prstGeom>
          <a:solidFill>
            <a:srgbClr val="262F4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4206240"/>
            <a:ext cx="1005840" cy="1005840"/>
          </a:xfrm>
          <a:prstGeom prst="ellipse">
            <a:avLst/>
          </a:prstGeom>
          <a:solidFill>
            <a:srgbClr val="1A5A9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44577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40280" y="4069080"/>
            <a:ext cx="8961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Somos la infraestructura digital de los profesionales que trabajan en campo.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de los instaladores y empresas de servicios técnicos — el punto de partida para todo lo demás que construya el gremio en digital.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instaladores pierden su día en papeleo, no en su oficio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420624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77240" cy="777240"/>
          </a:xfrm>
          <a:prstGeom prst="ellipse">
            <a:avLst/>
          </a:prstGeom>
          <a:solidFill>
            <a:srgbClr val="B84E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99" y="22779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perdidas cada día en tareas que no generan ingresos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983480"/>
            <a:ext cx="2697480" cy="0"/>
          </a:xfrm>
          <a:prstGeom prst="line">
            <a:avLst/>
          </a:prstGeom>
          <a:noFill/>
          <a:ln w="9525">
            <a:solidFill>
              <a:srgbClr val="3A42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120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€35/hora de tarifa media, son cerca de €70 diarios de coste de oportunidad por instalador.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80610" y="19476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50542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53288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03620" y="178308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32270" y="19476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5054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9340" y="253288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55280" y="178308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83930" y="19476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05054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01000" y="253288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806940" y="178308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435590" y="19476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205054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52660" y="253288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251960" y="324612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880610" y="34107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13582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97680" y="399592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103620" y="324612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732270" y="34107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5140" y="3513582"/>
            <a:ext cx="251460" cy="251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149340" y="399592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7955280" y="324612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8583930" y="34107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3513582"/>
            <a:ext cx="251460" cy="2514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001000" y="399592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Mantenimientos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9806940" y="3246120"/>
            <a:ext cx="17145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10435590" y="34107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8460" y="3513582"/>
            <a:ext cx="251460" cy="2514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852660" y="399592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4251960" y="4526280"/>
            <a:ext cx="7269480" cy="1463040"/>
          </a:xfrm>
          <a:prstGeom prst="rect">
            <a:avLst/>
          </a:prstGeom>
          <a:solidFill>
            <a:srgbClr val="FBEFE9"/>
          </a:solidFill>
          <a:ln/>
        </p:spPr>
      </p:sp>
      <p:sp>
        <p:nvSpPr>
          <p:cNvPr id="44" name="Text 33"/>
          <p:cNvSpPr/>
          <p:nvPr/>
        </p:nvSpPr>
        <p:spPr>
          <a:xfrm>
            <a:off x="4526280" y="4526280"/>
            <a:ext cx="6720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4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sigue usando papel, Excel y WhatsApp sueltos. No existe una plataforma diseñada específicamente para ellos.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vientos de cola convergen en este momento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2368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al fin es asequible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un copiloto IA por cliente ronda los €5/mes (Claude + Supabase + voz). Hace dos años era inviable.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03120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691" y="22368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 Digital reactivado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TDF/39/2026 (BOE 28 ene. 2026) reactiva subvenciones de hasta €12.000-19.000 para digitalizar pymes y autónomos.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44771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70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instalador ya vive en WhatsApp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crear un hábito nuevo: hay que conectar la IA al canal que el gremio ya usa para todo.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343400"/>
            <a:ext cx="594360" cy="59436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44771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70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VeriFactu hace la digitalización obligatoria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4983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electrónica encadenada (RD 1007/2023) obligatoria desde 2027. El sector se ve forzado a digitalizarse.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plataforma. Todo el ciclo de vida del trabajo de campo.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823" y="2012823"/>
            <a:ext cx="226314" cy="2263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3172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por voz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36392" y="1783080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73552" y="1920240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135" y="2012823"/>
            <a:ext cx="226314" cy="2263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233172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Guiados por oficio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32704" y="1783080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69864" y="1920240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447" y="2012823"/>
            <a:ext cx="226314" cy="2263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42432" y="233172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especializada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2907792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23" y="3137535"/>
            <a:ext cx="226314" cy="22631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45643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36392" y="2907792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273552" y="3044952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135" y="3137535"/>
            <a:ext cx="226314" cy="22631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46120" y="345643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cobros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632704" y="2907792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769864" y="3044952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447" y="3137535"/>
            <a:ext cx="226314" cy="22631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742432" y="345643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inteligente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40080" y="4032504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823" y="4262247"/>
            <a:ext cx="226314" cy="22631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" y="458114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proveedor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3136392" y="4032504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273552" y="4169664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6135" y="4262247"/>
            <a:ext cx="226314" cy="22631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246120" y="458114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trabajos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5632704" y="4032504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769864" y="4169664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2447" y="4262247"/>
            <a:ext cx="226314" cy="22631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742432" y="458114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640080" y="5157216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777240" y="5294376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823" y="5386959"/>
            <a:ext cx="226314" cy="22631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49808" y="570585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Mantenimientos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3136392" y="5157216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3273552" y="5294376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386959"/>
            <a:ext cx="226314" cy="22631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246120" y="570585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Subcontratas</a:t>
            </a:r>
            <a:endParaRPr lang="en-US" sz="1050" dirty="0"/>
          </a:p>
        </p:txBody>
      </p:sp>
      <p:sp>
        <p:nvSpPr>
          <p:cNvPr id="48" name="Shape 35"/>
          <p:cNvSpPr/>
          <p:nvPr/>
        </p:nvSpPr>
        <p:spPr>
          <a:xfrm>
            <a:off x="5632704" y="5157216"/>
            <a:ext cx="2331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5769864" y="5294376"/>
            <a:ext cx="411480" cy="41148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2447" y="5386959"/>
            <a:ext cx="226314" cy="22631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742432" y="570585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técnica y fiscal</a:t>
            </a:r>
            <a:endParaRPr lang="en-US" sz="1050" dirty="0"/>
          </a:p>
        </p:txBody>
      </p:sp>
      <p:pic>
        <p:nvPicPr>
          <p:cNvPr id="52" name="Image 12" descr="/home/claude/trabflow_deck/inicio_movil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823960" y="1463040"/>
            <a:ext cx="2697480" cy="507492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EN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frase hablada a un cobro gestionado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315200" cy="77724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“Cambio termo eléctrico de 80 litros con retirada del antiguo.”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2396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53" y="3478149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presupuesto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09344" y="3026664"/>
            <a:ext cx="114300" cy="0"/>
          </a:xfrm>
          <a:prstGeom prst="line">
            <a:avLst/>
          </a:prstGeom>
          <a:noFill/>
          <a:ln w="15875">
            <a:solidFill>
              <a:srgbClr val="C7CE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07108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13" name="Text 10"/>
          <p:cNvSpPr/>
          <p:nvPr/>
        </p:nvSpPr>
        <p:spPr>
          <a:xfrm>
            <a:off x="200710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47672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29" y="3478149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1348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materiales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674620" y="3026664"/>
            <a:ext cx="114300" cy="0"/>
          </a:xfrm>
          <a:prstGeom prst="line">
            <a:avLst/>
          </a:prstGeom>
          <a:noFill/>
          <a:ln w="15875">
            <a:solidFill>
              <a:srgbClr val="C7CE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72384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19" name="Text 15"/>
          <p:cNvSpPr/>
          <p:nvPr/>
        </p:nvSpPr>
        <p:spPr>
          <a:xfrm>
            <a:off x="307238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012948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105" y="3478149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06624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precios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739896" y="3026664"/>
            <a:ext cx="114300" cy="0"/>
          </a:xfrm>
          <a:prstGeom prst="line">
            <a:avLst/>
          </a:prstGeom>
          <a:noFill/>
          <a:ln w="15875">
            <a:solidFill>
              <a:srgbClr val="C7CED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137660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25" name="Text 20"/>
          <p:cNvSpPr/>
          <p:nvPr/>
        </p:nvSpPr>
        <p:spPr>
          <a:xfrm>
            <a:off x="41376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078224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381" y="3478149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771900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PDF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805172" y="3026664"/>
            <a:ext cx="114300" cy="0"/>
          </a:xfrm>
          <a:prstGeom prst="line">
            <a:avLst/>
          </a:prstGeom>
          <a:noFill/>
          <a:ln w="15875">
            <a:solidFill>
              <a:srgbClr val="C7CED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202936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31" name="Text 25"/>
          <p:cNvSpPr/>
          <p:nvPr/>
        </p:nvSpPr>
        <p:spPr>
          <a:xfrm>
            <a:off x="5202936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143500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657" y="3478149"/>
            <a:ext cx="276606" cy="27660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837176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por WhatsApp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870448" y="3026664"/>
            <a:ext cx="114300" cy="0"/>
          </a:xfrm>
          <a:prstGeom prst="line">
            <a:avLst/>
          </a:prstGeom>
          <a:noFill/>
          <a:ln w="15875">
            <a:solidFill>
              <a:srgbClr val="C7CED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68212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37" name="Text 30"/>
          <p:cNvSpPr/>
          <p:nvPr/>
        </p:nvSpPr>
        <p:spPr>
          <a:xfrm>
            <a:off x="626821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6208776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933" y="3478149"/>
            <a:ext cx="276606" cy="27660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902452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a factura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935724" y="3026664"/>
            <a:ext cx="114300" cy="0"/>
          </a:xfrm>
          <a:prstGeom prst="line">
            <a:avLst/>
          </a:prstGeom>
          <a:noFill/>
          <a:ln w="15875">
            <a:solidFill>
              <a:srgbClr val="C7CED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333488" y="2834640"/>
            <a:ext cx="384048" cy="384048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43" name="Text 35"/>
          <p:cNvSpPr/>
          <p:nvPr/>
        </p:nvSpPr>
        <p:spPr>
          <a:xfrm>
            <a:off x="733348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7274052" y="3364992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7209" y="3478149"/>
            <a:ext cx="276606" cy="27660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967728" y="39502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cobro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640080" y="4892040"/>
            <a:ext cx="10908792" cy="1143000"/>
          </a:xfrm>
          <a:prstGeom prst="rect">
            <a:avLst/>
          </a:prstGeom>
          <a:solidFill>
            <a:srgbClr val="1C2535"/>
          </a:solidFill>
          <a:ln/>
        </p:spPr>
      </p:sp>
      <p:sp>
        <p:nvSpPr>
          <p:cNvPr id="48" name="Shape 39"/>
          <p:cNvSpPr/>
          <p:nvPr/>
        </p:nvSpPr>
        <p:spPr>
          <a:xfrm>
            <a:off x="914400" y="5120640"/>
            <a:ext cx="685800" cy="68580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705" y="5274945"/>
            <a:ext cx="377190" cy="37719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828800" y="4892040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menos de 3 minutos. </a:t>
            </a:r>
            <a:pPr indent="0" marL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escribir, sin abrir un ordenador, sin perder el hilo del trabajo en el tajo.</a:t>
            </a:r>
            <a:endParaRPr lang="en-US" sz="1500" dirty="0"/>
          </a:p>
        </p:txBody>
      </p:sp>
      <p:sp>
        <p:nvSpPr>
          <p:cNvPr id="51" name="Text 41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ESPECIALIZADA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copiloto que conoce la normativa, no un chatbot genérico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60704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65376" y="1783080"/>
            <a:ext cx="1060704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7" name="Text 5"/>
          <p:cNvSpPr/>
          <p:nvPr/>
        </p:nvSpPr>
        <p:spPr>
          <a:xfrm>
            <a:off x="1865376" y="17830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90672" y="1783080"/>
            <a:ext cx="937260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1783080"/>
            <a:ext cx="93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92524" y="1783080"/>
            <a:ext cx="937260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11" name="Text 9"/>
          <p:cNvSpPr/>
          <p:nvPr/>
        </p:nvSpPr>
        <p:spPr>
          <a:xfrm>
            <a:off x="4192524" y="1783080"/>
            <a:ext cx="93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94376" y="1783080"/>
            <a:ext cx="2048256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13" name="Text 11"/>
          <p:cNvSpPr/>
          <p:nvPr/>
        </p:nvSpPr>
        <p:spPr>
          <a:xfrm>
            <a:off x="5294376" y="17830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07224" y="1783080"/>
            <a:ext cx="2542032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15" name="Text 13"/>
          <p:cNvSpPr/>
          <p:nvPr/>
        </p:nvSpPr>
        <p:spPr>
          <a:xfrm>
            <a:off x="7507224" y="1783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Social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13848" y="1783080"/>
            <a:ext cx="1060704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3848" y="17830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468880"/>
            <a:ext cx="937260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68880"/>
            <a:ext cx="937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41932" y="2468880"/>
            <a:ext cx="1060704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21" name="Text 19"/>
          <p:cNvSpPr/>
          <p:nvPr/>
        </p:nvSpPr>
        <p:spPr>
          <a:xfrm>
            <a:off x="1741932" y="24688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67228" y="2468880"/>
            <a:ext cx="1677924" cy="502920"/>
          </a:xfrm>
          <a:prstGeom prst="roundRect">
            <a:avLst>
              <a:gd name="adj" fmla="val 49091"/>
            </a:avLst>
          </a:prstGeom>
          <a:solidFill>
            <a:srgbClr val="1C2535"/>
          </a:solidFill>
          <a:ln/>
        </p:spPr>
      </p:sp>
      <p:sp>
        <p:nvSpPr>
          <p:cNvPr id="23" name="Text 21"/>
          <p:cNvSpPr/>
          <p:nvPr/>
        </p:nvSpPr>
        <p:spPr>
          <a:xfrm>
            <a:off x="2967228" y="2468880"/>
            <a:ext cx="1677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VeriFactu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10908792" cy="100584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456432"/>
            <a:ext cx="594360" cy="594360"/>
          </a:xfrm>
          <a:prstGeom prst="ellipse">
            <a:avLst/>
          </a:prstGeom>
          <a:solidFill>
            <a:srgbClr val="1A5A96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43" y="3590163"/>
            <a:ext cx="326898" cy="32689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691640" y="3246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improvisa materiales ni costes: detecta el tipo de trabajo, llama a la plantilla predefinida y calcula cantidades. La IA detecta — no inventa.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5262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4812030"/>
            <a:ext cx="251460" cy="2514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417320" y="4690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+ pgvector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22960" y="52760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razonamiento + búsqueda semántica sobre la base normativa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334256" y="45262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517136" y="47091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006" y="4812030"/>
            <a:ext cx="251460" cy="2514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111496" y="4690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 AI embeddings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4517136" y="52760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vectorial de RITE, REBT, AEAT y +20 oficios técnicos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028432" y="45262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211312" y="47091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182" y="4812030"/>
            <a:ext cx="251460" cy="25146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805672" y="4690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Maestra propia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8211312" y="52760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oficios × 100 actuaciones normalizadas, no genéricas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vertical de cientos de millones de euros, casi sin digitalizar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476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3.431.797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04672" y="256032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autónomos registrados en España (dic. 2025)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10712" y="1783080"/>
            <a:ext cx="2606040" cy="141732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5304" y="19476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35.000+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575304" y="256032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instaladoras — CONAIF + FENIE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606040" cy="141732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9476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€11.500M+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345936" y="256032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anual del gremio de instalaciones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51976" y="1783080"/>
            <a:ext cx="2606040" cy="141732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16568" y="194767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116568" y="256032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autónomos usa IA con regularidad hoy (UPTA)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46504" y="3520440"/>
            <a:ext cx="8686800" cy="713232"/>
          </a:xfrm>
          <a:prstGeom prst="rect">
            <a:avLst/>
          </a:prstGeom>
          <a:solidFill>
            <a:srgbClr val="1A5A96"/>
          </a:solidFill>
          <a:ln/>
        </p:spPr>
      </p:sp>
      <p:sp>
        <p:nvSpPr>
          <p:cNvPr id="17" name="Text 15"/>
          <p:cNvSpPr/>
          <p:nvPr/>
        </p:nvSpPr>
        <p:spPr>
          <a:xfrm>
            <a:off x="1975104" y="3593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España + LATAM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75104" y="3886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€480M ARR potencial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18104" y="4352544"/>
            <a:ext cx="5943600" cy="713232"/>
          </a:xfrm>
          <a:prstGeom prst="rect">
            <a:avLst/>
          </a:prstGeom>
          <a:solidFill>
            <a:srgbClr val="3D7AAE"/>
          </a:solidFill>
          <a:ln/>
        </p:spPr>
      </p:sp>
      <p:sp>
        <p:nvSpPr>
          <p:cNvPr id="20" name="Text 18"/>
          <p:cNvSpPr/>
          <p:nvPr/>
        </p:nvSpPr>
        <p:spPr>
          <a:xfrm>
            <a:off x="3346704" y="44256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realista a 3 años (1–2% penetración)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46704" y="4718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€8–15M ARR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06824" y="5184648"/>
            <a:ext cx="3566160" cy="713232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23" name="Text 21"/>
          <p:cNvSpPr/>
          <p:nvPr/>
        </p:nvSpPr>
        <p:spPr>
          <a:xfrm>
            <a:off x="4535424" y="5257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objetivo Año 3 (escenario Base)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35424" y="5550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€318K ARR · 541 clientes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COMPETITIVO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horizontal no habla el idioma del instalador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9037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92024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no encaja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 / Quipu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Facturación genérica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presupuestos de obra, sin WhatsApp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/ Factorial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autónomos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Pensado para oficina, no para furgoneta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service (UK/US)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 inglés, sin adaptación a España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ServiceTitan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service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 y complejo para una microempresa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46320"/>
            <a:ext cx="6903720" cy="64008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84632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horizontales. TrabFlow es vertical — habla el lenguaje del instalador.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18120" y="1783080"/>
            <a:ext cx="3749040" cy="4526280"/>
          </a:xfrm>
          <a:prstGeom prst="rect">
            <a:avLst/>
          </a:prstGeom>
          <a:solidFill>
            <a:srgbClr val="1C2535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2039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VERTICAL YA CREA UNICORNIOS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ServiceTitan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~$1.000M ARR · ~€7.000M cap.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3337560"/>
            <a:ext cx="3200400" cy="0"/>
          </a:xfrm>
          <a:prstGeom prst="line">
            <a:avLst/>
          </a:prstGeom>
          <a:noFill/>
          <a:ln w="9525">
            <a:solidFill>
              <a:srgbClr val="323A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Jobber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92440" y="3904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$167,5M de ingresos (2024)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4297680"/>
            <a:ext cx="3200400" cy="0"/>
          </a:xfrm>
          <a:prstGeom prst="line">
            <a:avLst/>
          </a:prstGeom>
          <a:noFill/>
          <a:ln w="9525">
            <a:solidFill>
              <a:srgbClr val="323A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92440" y="4864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Adquirida por Visma por &gt;€120M (2021)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2440" y="5257800"/>
            <a:ext cx="3200400" cy="0"/>
          </a:xfrm>
          <a:prstGeom prst="line">
            <a:avLst/>
          </a:prstGeom>
          <a:noFill/>
          <a:ln w="9525">
            <a:solidFill>
              <a:srgbClr val="323A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 SaaS con expansión natural de ingreso por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Básico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29€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oculto · solo win-back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606040" cy="260604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94767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947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93592" y="2350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27157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49€</a:t>
            </a:r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93592" y="32644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pública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89€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/mes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64224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 miembros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51976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34856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179€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/mes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34856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15 · todos los módulos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UPSELLS DE EXPANSIÓN DE INGRESO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1709928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avanzada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14600" y="4983480"/>
            <a:ext cx="1709928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49834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4983480"/>
            <a:ext cx="1929384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49834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83096" y="4983480"/>
            <a:ext cx="1819656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83096" y="49834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Subcontratas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67344" y="4983480"/>
            <a:ext cx="1709928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32" name="Text 30"/>
          <p:cNvSpPr/>
          <p:nvPr/>
        </p:nvSpPr>
        <p:spPr>
          <a:xfrm>
            <a:off x="8467344" y="49834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economía unitaria saludable incluso en el escenario conservador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040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81912"/>
                <a:gridCol w="1581912"/>
                <a:gridCol w="15819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Agresivo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ARPU 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por 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neto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1.143€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2.200€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3.667€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LTV:CAC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del CAC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 meses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 meses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 meses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3270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SaaS B2B: un ratio LTV:CAC &gt; 3x se considera saludable. CAC y churn son hipótesis de modelo, pendientes de validar con cohortes reales.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909560" y="1783080"/>
            <a:ext cx="3657600" cy="2194560"/>
          </a:xfrm>
          <a:prstGeom prst="rect">
            <a:avLst/>
          </a:prstGeom>
          <a:solidFill>
            <a:srgbClr val="1C253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2057400"/>
            <a:ext cx="594360" cy="59436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611" y="2191131"/>
            <a:ext cx="326898" cy="326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8388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18,3x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818388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en el escenario Base — más del doble del umbral saludable de un SaaS B2B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09560" y="4160520"/>
            <a:ext cx="3657600" cy="178308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2" name="Text 8"/>
          <p:cNvSpPr/>
          <p:nvPr/>
        </p:nvSpPr>
        <p:spPr>
          <a:xfrm>
            <a:off x="8183880" y="43251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72–95%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18388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 estimado: la infraestructura IA cuesta ~5€/cliente/mes frente a 45–60€ de ARPU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Construido y validado. Listo para los primeros clientes de pago.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CONSTRUIDO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258568"/>
            <a:ext cx="292608" cy="292608"/>
          </a:xfrm>
          <a:prstGeom prst="ellipse">
            <a:avLst/>
          </a:prstGeom>
          <a:solidFill>
            <a:srgbClr val="E7EF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2324405"/>
            <a:ext cx="160934" cy="1609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2402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en pruebas funcionales con datos reales de cliente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16936"/>
            <a:ext cx="292608" cy="292608"/>
          </a:xfrm>
          <a:prstGeom prst="ellipse">
            <a:avLst/>
          </a:prstGeom>
          <a:solidFill>
            <a:srgbClr val="E7EF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7" y="2982773"/>
            <a:ext cx="160934" cy="1609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8986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Asistente Técnico IA (RAG) diseñada y validada en coste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575304"/>
            <a:ext cx="292608" cy="292608"/>
          </a:xfrm>
          <a:prstGeom prst="ellipse">
            <a:avLst/>
          </a:prstGeom>
          <a:solidFill>
            <a:srgbClr val="E7EF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3641141"/>
            <a:ext cx="160934" cy="1609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55701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Denominación social reservada en el Registro Mercantil Central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4233672"/>
            <a:ext cx="292608" cy="292608"/>
          </a:xfrm>
          <a:prstGeom prst="ellipse">
            <a:avLst/>
          </a:prstGeom>
          <a:solidFill>
            <a:srgbClr val="E7EFE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7" y="4299509"/>
            <a:ext cx="160934" cy="1609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992" y="42153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M4383580 solicitada ante la OEPM (clases 09 y 10)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4892040"/>
            <a:ext cx="292608" cy="292608"/>
          </a:xfrm>
          <a:prstGeom prst="ellipse">
            <a:avLst/>
          </a:prstGeom>
          <a:solidFill>
            <a:srgbClr val="E7EFE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4957877"/>
            <a:ext cx="160934" cy="16093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78992" y="48737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financiero a 3 años reconciliado, por escenarios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03504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90 DÍAS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035040" y="2258568"/>
            <a:ext cx="292608" cy="292608"/>
          </a:xfrm>
          <a:prstGeom prst="ellipse">
            <a:avLst/>
          </a:prstGeom>
          <a:solidFill>
            <a:srgbClr val="FBEFE9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877" y="2324405"/>
            <a:ext cx="160934" cy="16093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73952" y="22402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notarial de constitución — antes del 29 de agosto de 2026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035040" y="2916936"/>
            <a:ext cx="292608" cy="292608"/>
          </a:xfrm>
          <a:prstGeom prst="ellipse">
            <a:avLst/>
          </a:prstGeom>
          <a:solidFill>
            <a:srgbClr val="FBEFE9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877" y="2982773"/>
            <a:ext cx="160934" cy="16093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73952" y="28986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ENISA Jóvenes Emprendedores (préstamo participativo, sin dilución, hasta 75.000€)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6035040" y="3575304"/>
            <a:ext cx="292608" cy="292608"/>
          </a:xfrm>
          <a:prstGeom prst="ellipse">
            <a:avLst/>
          </a:prstGeom>
          <a:solidFill>
            <a:srgbClr val="FBEFE9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877" y="3641141"/>
            <a:ext cx="160934" cy="16093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473952" y="355701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como Agente Digitalizador — Kit Digital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6035040" y="4233672"/>
            <a:ext cx="292608" cy="292608"/>
          </a:xfrm>
          <a:prstGeom prst="ellipse">
            <a:avLst/>
          </a:prstGeom>
          <a:solidFill>
            <a:srgbClr val="FBEFE9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0877" y="4299509"/>
            <a:ext cx="160934" cy="16093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473952" y="42153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gratuita con instaladores reales para validar retención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6035040" y="4892040"/>
            <a:ext cx="292608" cy="292608"/>
          </a:xfrm>
          <a:prstGeom prst="ellipse">
            <a:avLst/>
          </a:prstGeom>
          <a:solidFill>
            <a:srgbClr val="FBEFE9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0877" y="4957877"/>
            <a:ext cx="160934" cy="16093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473952" y="48737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Maestra: 20 oficios × 100 actuaciones normalizadas</a:t>
            </a:r>
            <a:endParaRPr lang="en-US" sz="1100" dirty="0"/>
          </a:p>
        </p:txBody>
      </p:sp>
      <p:sp>
        <p:nvSpPr>
          <p:cNvPr id="36" name="Text 24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capas de defensibilidad que se refuerzan con el tiempo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del sector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560320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presupuesto enviado entrena el sistema de precios y plantillas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9659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94" y="20688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especializado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35424" y="2560320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oficios normalizados, no un ERP genérico adaptado a fontanería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028432" y="1783080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470" y="20688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05672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de presupuestos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0" y="2560320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precios por zona y oficio que nadie más tiene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40080" y="3456432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6393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74218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21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profesional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423367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gremio es un colectivo unido: el estándar se autorrefuerza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34256" y="3456432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5424" y="36393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294" y="374218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621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Integraciones de proveedor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35424" y="423367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vivos de OBRAMAT, Saltoki, Sonepar, Ariston y otros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028432" y="3456432"/>
            <a:ext cx="35204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363931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470" y="374218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05672" y="3621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entrenada con operaciones reales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29600" y="423367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genérico no puede replicar años de datos operativos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puede Billin o Quipu copiarte? Porque son herramientas horizontales: no pueden especializarse para fontaneros sin abandonar al resto de sus clientes.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España a la infraestructura digital del gremio en LATAM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03604" y="2103120"/>
            <a:ext cx="502920" cy="502920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0360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50008"/>
            <a:ext cx="192024" cy="0"/>
          </a:xfrm>
          <a:prstGeom prst="line">
            <a:avLst/>
          </a:prstGeom>
          <a:noFill/>
          <a:ln w="19050">
            <a:solidFill>
              <a:srgbClr val="C7C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6148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España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con instaladores autónomos y microempresas. Beta gratuita, primeras cohortes.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552444" y="2103120"/>
            <a:ext cx="502920" cy="502920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10" name="Text 8"/>
          <p:cNvSpPr/>
          <p:nvPr/>
        </p:nvSpPr>
        <p:spPr>
          <a:xfrm>
            <a:off x="355244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82312" y="2350008"/>
            <a:ext cx="192024" cy="0"/>
          </a:xfrm>
          <a:prstGeom prst="line">
            <a:avLst/>
          </a:prstGeom>
          <a:noFill/>
          <a:ln w="19050">
            <a:solidFill>
              <a:srgbClr val="C7C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76148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Asociaciones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31546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CONAIF, FENIE y gremios locales como canal de distribución de confianza.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701284" y="2103120"/>
            <a:ext cx="502920" cy="502920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15" name="Text 13"/>
          <p:cNvSpPr/>
          <p:nvPr/>
        </p:nvSpPr>
        <p:spPr>
          <a:xfrm>
            <a:off x="570128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31152" y="2350008"/>
            <a:ext cx="192024" cy="0"/>
          </a:xfrm>
          <a:prstGeom prst="line">
            <a:avLst/>
          </a:prstGeom>
          <a:noFill/>
          <a:ln w="19050">
            <a:solidFill>
              <a:srgbClr val="C7CE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76148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integrados, compra de materiales y financiación embebida.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850124" y="2103120"/>
            <a:ext cx="502920" cy="502920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20" name="Text 18"/>
          <p:cNvSpPr/>
          <p:nvPr/>
        </p:nvSpPr>
        <p:spPr>
          <a:xfrm>
            <a:off x="785012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79992" y="2350008"/>
            <a:ext cx="192024" cy="0"/>
          </a:xfrm>
          <a:prstGeom prst="line">
            <a:avLst/>
          </a:prstGeom>
          <a:noFill/>
          <a:ln w="19050">
            <a:solidFill>
              <a:srgbClr val="C7CE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276148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31546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México, Colombia, Chile — ~2,1M instaladores adicionales.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998964" y="2103120"/>
            <a:ext cx="502920" cy="502920"/>
          </a:xfrm>
          <a:prstGeom prst="ellipse">
            <a:avLst/>
          </a:prstGeom>
          <a:solidFill>
            <a:srgbClr val="1C2535"/>
          </a:solidFill>
          <a:ln/>
        </p:spPr>
      </p:sp>
      <p:sp>
        <p:nvSpPr>
          <p:cNvPr id="25" name="Text 23"/>
          <p:cNvSpPr/>
          <p:nvPr/>
        </p:nvSpPr>
        <p:spPr>
          <a:xfrm>
            <a:off x="999896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35440" y="276148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completa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81160" y="31546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matriz: certificación energética, inmobiliario, hostelería, self-storage.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908792" cy="59436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North Star: tiempo hasta el primer presupuesto enviado. Objetivo: bajar de 10 a menos de 3 minutos.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 FINANCIERAS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escenarios, un modelo financiero reconciliado a 36 meses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095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AÑO 3 · ESCENARIO BASE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909560" y="2194560"/>
            <a:ext cx="3657600" cy="868680"/>
          </a:xfrm>
          <a:prstGeom prst="rect">
            <a:avLst/>
          </a:prstGeom>
          <a:solidFill>
            <a:srgbClr val="1C2535"/>
          </a:solidFill>
          <a:ln/>
        </p:spPr>
      </p:sp>
      <p:sp>
        <p:nvSpPr>
          <p:cNvPr id="7" name="Text 4"/>
          <p:cNvSpPr/>
          <p:nvPr/>
        </p:nvSpPr>
        <p:spPr>
          <a:xfrm>
            <a:off x="8110728" y="22860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€318K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110728" y="274320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de cierre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200400"/>
            <a:ext cx="3657600" cy="868680"/>
          </a:xfrm>
          <a:prstGeom prst="rect">
            <a:avLst/>
          </a:prstGeom>
          <a:solidFill>
            <a:srgbClr val="1C2535"/>
          </a:solidFill>
          <a:ln/>
        </p:spPr>
      </p:sp>
      <p:sp>
        <p:nvSpPr>
          <p:cNvPr id="10" name="Text 7"/>
          <p:cNvSpPr/>
          <p:nvPr/>
        </p:nvSpPr>
        <p:spPr>
          <a:xfrm>
            <a:off x="8110728" y="3291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110728" y="374904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4206240"/>
            <a:ext cx="3657600" cy="868680"/>
          </a:xfrm>
          <a:prstGeom prst="rect">
            <a:avLst/>
          </a:prstGeom>
          <a:solidFill>
            <a:srgbClr val="1C2535"/>
          </a:solidFill>
          <a:ln/>
        </p:spPr>
      </p:sp>
      <p:sp>
        <p:nvSpPr>
          <p:cNvPr id="13" name="Text 10"/>
          <p:cNvSpPr/>
          <p:nvPr/>
        </p:nvSpPr>
        <p:spPr>
          <a:xfrm>
            <a:off x="8110728" y="429768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€192K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110728" y="475488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(incl. CAC)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09560" y="5285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modelo (Supuestos: churn y CAC son hipótesis a validar con cohortes reales, no datos auditados).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ESTRATÉGICOS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ecosistema de distribuidores y asociaciones, no solo un canal de venta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OBRAMAT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49631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precios en vivo integrados en el presupuesto del instalador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9659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94" y="20688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Saltoki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35424" y="249631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especializada en fontanería y climatización, lista de precios sincronizada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8028432" y="17830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470" y="20688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05672" y="1947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Sonepar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0" y="249631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eléctrico con disponibilidad y precio en tiempo real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640080" y="3364992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5478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65074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Ariston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41248" y="4078224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Prescripción de producto integrada en presupuestos de ACS y climatización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4334256" y="3364992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5424" y="35478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294" y="365074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CONAIF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35424" y="4078224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de instaladores: canal de confianza y estándar de facto del gremio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8028432" y="3364992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3547872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470" y="365074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05672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FENIE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29600" y="4078224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de instaladores eléctricos: distribución a 35.000+ empresas asociadas</a:t>
            </a:r>
            <a:endParaRPr lang="en-US" sz="960" dirty="0"/>
          </a:p>
        </p:txBody>
      </p:sp>
      <p:sp>
        <p:nvSpPr>
          <p:cNvPr id="34" name="Text 26"/>
          <p:cNvSpPr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presupuesto enviado en TrabFlow es una oportunidad de venta para el proveedor. Cada asociación que adopta TrabFlow como estándar es una barrera de entrada para la competencia.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para acelerar, no para sobrevivir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50.000€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40487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862072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Base Maestra crítica y validar retención con las primeras cohortes reales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606040" cy="2331720"/>
          </a:xfrm>
          <a:prstGeom prst="rect">
            <a:avLst/>
          </a:prstGeom>
          <a:solidFill>
            <a:srgbClr val="1C2535"/>
          </a:solidFill>
          <a:ln/>
        </p:spPr>
      </p:sp>
      <p:sp>
        <p:nvSpPr>
          <p:cNvPr id="9" name="Text 7"/>
          <p:cNvSpPr/>
          <p:nvPr/>
        </p:nvSpPr>
        <p:spPr>
          <a:xfrm>
            <a:off x="3575304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75304" y="240487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clientes de pago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75304" y="2862072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adquisición ya repetible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81344" y="1783080"/>
            <a:ext cx="26060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250.000€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5936" y="240487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Portugal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45936" y="2862072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 producto, certificación fiscal, primer equipo comercial local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951976" y="1783080"/>
            <a:ext cx="26060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500.000€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16568" y="240487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en México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16568" y="2862072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CFDI, equipo local, primer ciclo de adquisición fuera de España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08792" cy="169164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1A5A9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4716018"/>
            <a:ext cx="352044" cy="3520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37360" y="452628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paralelo: financiación no dilutiva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737360" y="49377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Jóvenes Emprendedores 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(préstamo participativo, sin dilución, hasta 75.000€) es el primer movimiento de financiación, seguido de la condición de </a:t>
            </a:r>
            <a:pPr indent="0" marL="0">
              <a:buNone/>
            </a:pPr>
            <a:r>
              <a:rPr lang="en-US" sz="1200" b="1" dirty="0">
                <a:solidFill>
                  <a:srgbClr val="1C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Digitalizador de Kit Digital. 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busca diluir capital en esta etapa.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APUESTA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TrabFlow puede llegar a ser una compañía de más de €100M?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65960"/>
          </a:xfrm>
          <a:prstGeom prst="rect">
            <a:avLst/>
          </a:prstGeom>
          <a:solidFill>
            <a:srgbClr val="262F4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2825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€480M sin servir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650.000+ instaladores en España y 2,1M en LATAM, con menos del 20% usando IA hoy.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965960"/>
          </a:xfrm>
          <a:prstGeom prst="rect">
            <a:avLst/>
          </a:prstGeom>
          <a:solidFill>
            <a:srgbClr val="262F45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691" y="22825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75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Múltiplos del vertical ya validados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788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ServiceTitan (~€7.000M), Jobber y Housecall Pro demuestran que el software de oficios escala a unicornio.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1965960"/>
          </a:xfrm>
          <a:prstGeom prst="rect">
            <a:avLst/>
          </a:prstGeom>
          <a:solidFill>
            <a:srgbClr val="262F45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89120"/>
            <a:ext cx="594360" cy="59436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45228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159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producto, es una matriz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TrabFlow Technologies licencia tecnología y marca a verticales futuras: certificación energética, inmobiliario, hostelería, self-storage.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1965960"/>
          </a:xfrm>
          <a:prstGeom prst="rect">
            <a:avLst/>
          </a:prstGeom>
          <a:solidFill>
            <a:srgbClr val="262F4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89120"/>
            <a:ext cx="594360" cy="59436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45228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3159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Moat de datos compuesto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nuevo mejora el catálogo, los precios y la IA para todos los demás — ventaja que crece con el tiempo.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1A5A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CONTACTO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Fernando Carbonell Cabo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y Administrador Único · TrabFlow Technologies, S.L.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validación en solitario de la arquitectura de producto, el modelo de datos y el roadmap de IA — desde la base normativa hasta el modelo financiero a 3 años.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908792" cy="1554480"/>
          </a:xfrm>
          <a:prstGeom prst="rect">
            <a:avLst/>
          </a:prstGeom>
          <a:solidFill>
            <a:srgbClr val="262F4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20440"/>
            <a:ext cx="822960" cy="822960"/>
          </a:xfrm>
          <a:prstGeom prst="ellipse">
            <a:avLst/>
          </a:prstGeom>
          <a:solidFill>
            <a:srgbClr val="C892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566" y="3705606"/>
            <a:ext cx="452628" cy="4526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338328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Buscamos socios que entiendan que el software vertical con IA es la próxima generación de infraestructura SaaS.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" y="5166360"/>
            <a:ext cx="10908792" cy="0"/>
          </a:xfrm>
          <a:prstGeom prst="line">
            <a:avLst/>
          </a:prstGeom>
          <a:noFill/>
          <a:ln w="9525">
            <a:solidFill>
              <a:srgbClr val="323A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trabflow.com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8056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fercarboc@gmail.com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2026 · Confidencial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TrabFlow — Investor Deck</dc:title>
  <dc:subject>PptxGenJS Presentation</dc:subject>
  <dc:creator>TrabFlow Technologies, S.L.</dc:creator>
  <cp:lastModifiedBy>TrabFlow Technologies, S.L.</cp:lastModifiedBy>
  <cp:revision>1</cp:revision>
  <dcterms:created xsi:type="dcterms:W3CDTF">2026-06-21T22:24:47Z</dcterms:created>
  <dcterms:modified xsi:type="dcterms:W3CDTF">2026-06-21T22:24:47Z</dcterms:modified>
</cp:coreProperties>
</file>