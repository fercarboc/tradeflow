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6B7280"/>
                </a:solidFill>
                <a:latin typeface="Arial"/>
              </a:defRPr>
            </a:pPr>
            <a:r>
              <a:rPr sz="1100" b="0" i="0" u="none" strike="noStrike">
                <a:solidFill>
                  <a:srgbClr val="6B7280"/>
                </a:solidFill>
                <a:latin typeface="Arial"/>
              </a:rPr>
              <a:t>Miles de instaladores potenciales</a:t>
            </a:r>
          </a:p>
        </c:rich>
      </c:tx>
      <c:layout/>
      <c:overlay val="0"/>
    </c:title>
    <c:autoTitleDeleted val="0"/>
    <c:plotArea>
      <c:layout/>
      <c:barChart>
        <c:barDir val="bar"/>
        <c:grouping val="clustered"/>
        <c:varyColors val="0"/>
        <c:ser>
          <c:idx val="0"/>
          <c:order val="0"/>
          <c:tx>
            <c:strRef>
              <c:f>Sheet1!$B$1</c:f>
              <c:strCache>
                <c:ptCount val="1"/>
                <c:pt idx="0">
                  <c:v>Miles de instaladores</c:v>
                </c:pt>
              </c:strCache>
            </c:strRef>
          </c:tx>
          <c:spPr>
            <a:solidFill>
              <a:srgbClr val="1A5A96"/>
            </a:solidFill>
            <a:effectLst/>
          </c:spPr>
          <c:invertIfNegative val="0"/>
          <c:dLbls>
            <c:numFmt formatCode="#,##0" sourceLinked="0"/>
            <c:txPr>
              <a:bodyPr/>
              <a:lstStyle/>
              <a:p>
                <a:pPr>
                  <a:defRPr b="0" i="0" strike="noStrike" sz="1200" u="none">
                    <a:solidFill>
                      <a:srgbClr val="1C2535"/>
                    </a:solidFill>
                    <a:latin typeface="Arial"/>
                  </a:defRPr>
                </a:pPr>
              </a:p>
            </c:txPr>
            <c:showLegendKey val="0"/>
            <c:showVal val="1"/>
            <c:showCatName val="0"/>
            <c:showSerName val="0"/>
            <c:showPercent val="0"/>
            <c:showBubbleSize val="0"/>
            <c:showLeaderLines val="0"/>
          </c:dLbls>
          <c:cat>
            <c:multiLvlStrRef>
              <c:f>Sheet1!$A$2:$A$3</c:f>
              <c:multiLvlStrCache>
                <c:ptCount val="2"/>
                <c:lvl>
                  <c:pt idx="0">
                    <c:v>SAM
(España)</c:v>
                  </c:pt>
                  <c:pt idx="1">
                    <c:v>TAM
(España + LATAM)</c:v>
                  </c:pt>
                </c:lvl>
              </c:multiLvlStrCache>
            </c:multiLvlStrRef>
          </c:cat>
          <c:val>
            <c:numRef>
              <c:f>Sheet1!$B$2:$B$3</c:f>
              <c:numCache>
                <c:formatCode>General</c:formatCode>
                <c:ptCount val="2"/>
                <c:pt idx="0">
                  <c:v>650</c:v>
                </c:pt>
                <c:pt idx="1">
                  <c:v>2750</c:v>
                </c:pt>
              </c:numCache>
            </c:numRef>
          </c:val>
        </c:ser>
        <c:dLbls>
          <c:numFmt formatCode="#,##0" sourceLinked="0"/>
          <c:txPr>
            <a:bodyPr/>
            <a:lstStyle/>
            <a:p>
              <a:pPr>
                <a:defRPr b="0" i="0" strike="noStrike" sz="1200" u="none">
                  <a:solidFill>
                    <a:srgbClr val="1C253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74151"/>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Uso de capital</c:v>
                </c:pt>
              </c:strCache>
            </c:strRef>
          </c:tx>
          <c:spPr>
            <a:solidFill>
              <a:schemeClr val="accent1"/>
            </a:solidFill>
            <a:ln w="9525" cap="flat">
              <a:solidFill>
                <a:srgbClr val="F9F9F9"/>
              </a:solidFill>
              <a:prstDash val="solid"/>
              <a:round/>
            </a:ln>
            <a:effectLst/>
          </c:spPr>
          <c:dPt>
            <c:idx val="0"/>
            <c:bubble3D val="0"/>
            <c:spPr>
              <a:solidFill>
                <a:srgbClr val="1A5A96"/>
              </a:solidFill>
              <a:effectLst/>
            </c:spPr>
          </c:dPt>
          <c:dPt>
            <c:idx val="1"/>
            <c:bubble3D val="0"/>
            <c:spPr>
              <a:solidFill>
                <a:srgbClr val="4A6741"/>
              </a:solidFill>
              <a:effectLst/>
            </c:spPr>
          </c:dPt>
          <c:dPt>
            <c:idx val="2"/>
            <c:bubble3D val="0"/>
            <c:spPr>
              <a:solidFill>
                <a:srgbClr val="C8922A"/>
              </a:solidFill>
              <a:effectLst/>
            </c:spPr>
          </c:dPt>
          <c:dPt>
            <c:idx val="3"/>
            <c:bubble3D val="0"/>
            <c:spPr>
              <a:solidFill>
                <a:srgbClr val="B84E35"/>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Sheet1!$A$2:$A$5</c:f>
              <c:strCache>
                <c:ptCount val="4"/>
                <c:pt idx="0">
                  <c:v>Desarrollo tecnológico</c:v>
                </c:pt>
                <c:pt idx="1">
                  <c:v>IA y datos</c:v>
                </c:pt>
                <c:pt idx="2">
                  <c:v>Comercialización</c:v>
                </c:pt>
                <c:pt idx="3">
                  <c:v>Contrataciones</c:v>
                </c:pt>
              </c:strCache>
            </c:strRef>
          </c:cat>
          <c:val>
            <c:numRef>
              <c:f>Sheet1!$B$2:$B$5</c:f>
              <c:numCache>
                <c:ptCount val="4"/>
                <c:pt idx="0">
                  <c:v>40</c:v>
                </c:pt>
                <c:pt idx="1">
                  <c:v>20</c:v>
                </c:pt>
                <c:pt idx="2">
                  <c:v>20</c:v>
                </c:pt>
                <c:pt idx="3">
                  <c:v>20</c:v>
                </c:pt>
              </c:numCache>
            </c:numRef>
          </c:val>
        </c:ser>
        <c:firstSliceAng val="0"/>
      </c:pieChart>
      <c:spPr>
        <a:noFill/>
        <a:ln>
          <a:noFill/>
        </a:ln>
        <a:effectLst/>
      </c:spPr>
    </c:plotArea>
    <c:legend>
      <c:legendPos val="b"/>
      <c:overlay val="0"/>
      <c:txPr>
        <a:bodyPr/>
        <a:lstStyle/>
        <a:p>
          <a:pPr>
            <a:defRPr sz="1100">
              <a:solidFill>
                <a:srgbClr val="374151"/>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dar la bienvenida y anclar el tono institucional del encuentro. MENSAJE CLAVE: TradeFlow es un proyecto serio, con producto y visión, no una idea en papel. Presentaros brevemente y agradecer el tiempo de SODERCAN antes de arrancar.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explicar el porqué del proyecto antes que el qué. MENSAJE CLAVE: la tecnología está al servicio de un colectivo concreto, el instalador autónomo, que hoy trabaja como una microempresa sin herramientas de una gran empresa. Enlazar con los tres valores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mostrar que el problema es real, medible y no anecdótico. MENSAJE CLAVE: no se trata de una molestia menor sino de una ineficiencia estructural con fecha límite normativa (VeriFactu 2027). Si preguntan por fuentes, explicar que provienen del análisis de necesidades y entrevistas directas con instaladores.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justificar por qué ahora y no antes. MENSAJE CLAVE: tres factores convergen simultáneamente (normativa, madurez de IA, ausencia de competidor dominante en español) y crean una ventana de first-mover. Cerrar con el dato de mercado servible (480M€) como ancla numérica.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explicar el producto de forma tangible y visual, sin jerga técnica. MENSAJE CLAVE: la experiencia de usuario es radicalmente simple aunque la tecnología detrás sea sofisticada. Si es posible, ofrecer una demo corta o mostrar capturas de pantalla reales del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dar solvencia técnica sin caer en tecnicismo excesivo. MENSAJE CLAVE: arquitectura moderna, escalable y de bajo coste marginal. Si preguntan por proveedores de IA, ser transparente: se usan modelos de terceros (Anthropic) de forma responsable y gobernada, no un desarrollo de modelo propio desde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diferenciar TradeFlow de un simple 'wrapper' de ChatGPT. MENSAJE CLAVE: el valor no es la IA en sí, es el gobierno de la IA (nunca inventa un precio) combinado con una base de conocimiento de dominio propia. Citar el dato de precisión (93%) como prueba de rigor.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dimensionar la oportunidad con cifras defendibles. MENSAJE CLAVE: TAM amplio pero SOM conservador y realista a 3 años; transmite ambición sin exagerar. Aclarar que las cifras de SOM proceden de un modelo financiero reconciliado por escenarios, no de una proyección optimista aislada.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mostrar que hay un modelo de ingresos claro y ya definido, no solo una visión. MENSAJE CLAVE: ingresos recurrentes, márgenes altos, y varias palancas de expansión futuras. Si preguntan por el precio, explicar que está validado con el perfil de gasto tecnológico del instalador autónomo.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transmitir que el crecimiento está planificado por fases, no es un salto al vacío. MENSAJE CLAVE: cada fase tiene un hito de validación que condiciona el paso a la siguiente; esto es gestión de riesgo, no improvisación. El North Star (tiempo al primer presupuesto) es un buen gancho para preguntas de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conectar el proyecto con las prioridades de una agencia de desarrollo regional. MENSAJE CLAVE: empleo cualificado, digitalización de pymes, proyección exterior e innovación aplicada — los cuatro ejes que interesan a SODERCAN. No sobredimensionar las cifras de empleo; son conservadoras y defendibles.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ser transparente sobre la necesidad de financiación sin sonar a petición desesperada. MENSAJE CLAVE: se pide capital para ejecutar un plan ya definido, con partidas claras, no para 'sobrevivir'. Mencionar que esta financiación es complementaria a otras líneas ya identificadas (ENISA, Kit Digital).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ser honesto sobre el estado de la relación con Cantabria. MENSAJE CLAVE: hoy no hay una sede ni un vínculo formal en la región — esto es una propuesta de inicio de relación, no un hecho consumado. Evitar cualquier afirmación que suene a que el proyecto ya opera en Cantabria; si preguntan por sede actual, decir con naturalidad que está domiciliado en Madrid y que se explora activamente el traslado o apertura de una base operativa en la región.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dejar claro qué se espera concretamente de SODERCAN en esta primera reunión. MENSAJE CLAVE: no se pide una resolución hoy, se pide orientación sobre el instrumento adecuado y una relación de acompañamiento a medio plazo. Cerrar con una pregunta abierta a los técnicos: '¿qué programa de los que gestionáis encaja mejor con la fase actual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cerrar con calidez institucional y dejar una vía de contacto clara. MENSAJE CLAVE: gratitud, disposición a seguir la conversación, y una imagen de proyecto serio y con visión de largo plazo. Ofrecer explícitamente enviar el dossier ejecutivo y el modelo financiero si los técnicos quieren profundizar por escrito.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535"/>
        </a:solidFill>
      </p:bgPr>
    </p:bg>
    <p:spTree>
      <p:nvGrpSpPr>
        <p:cNvPr id="1" name=""/>
        <p:cNvGrpSpPr/>
        <p:nvPr/>
      </p:nvGrpSpPr>
      <p:grpSpPr>
        <a:xfrm>
          <a:off x="0" y="0"/>
          <a:ext cx="0" cy="0"/>
          <a:chOff x="0" y="0"/>
          <a:chExt cx="0" cy="0"/>
        </a:xfrm>
      </p:grpSpPr>
      <p:sp>
        <p:nvSpPr>
          <p:cNvPr id="2" name="Text 0"/>
          <p:cNvSpPr/>
          <p:nvPr/>
        </p:nvSpPr>
        <p:spPr>
          <a:xfrm>
            <a:off x="822960" y="1554480"/>
            <a:ext cx="9144000" cy="365760"/>
          </a:xfrm>
          <a:prstGeom prst="rect">
            <a:avLst/>
          </a:prstGeom>
          <a:noFill/>
          <a:ln/>
        </p:spPr>
        <p:txBody>
          <a:bodyPr wrap="square" rtlCol="0" anchor="ctr"/>
          <a:lstStyle/>
          <a:p>
            <a:pPr indent="0" marL="0">
              <a:buNone/>
            </a:pPr>
            <a:r>
              <a:rPr lang="en-US" sz="1400" b="1" spc="200" kern="0" dirty="0">
                <a:solidFill>
                  <a:srgbClr val="C8922A"/>
                </a:solidFill>
              </a:rPr>
              <a:t>PRESENTACIÓN INSTITUCIONAL · SODERCAN</a:t>
            </a:r>
            <a:endParaRPr lang="en-US" sz="1400" dirty="0"/>
          </a:p>
        </p:txBody>
      </p:sp>
      <p:sp>
        <p:nvSpPr>
          <p:cNvPr id="3" name="Text 1"/>
          <p:cNvSpPr/>
          <p:nvPr/>
        </p:nvSpPr>
        <p:spPr>
          <a:xfrm>
            <a:off x="777240" y="2011680"/>
            <a:ext cx="10058400" cy="1463040"/>
          </a:xfrm>
          <a:prstGeom prst="rect">
            <a:avLst/>
          </a:prstGeom>
          <a:noFill/>
          <a:ln/>
        </p:spPr>
        <p:txBody>
          <a:bodyPr wrap="square" rtlCol="0" anchor="ctr"/>
          <a:lstStyle/>
          <a:p>
            <a:pPr indent="0" marL="0">
              <a:buNone/>
            </a:pPr>
            <a:r>
              <a:rPr lang="en-US" sz="7200" b="1" dirty="0">
                <a:solidFill>
                  <a:srgbClr val="FFFFFF"/>
                </a:solidFill>
                <a:latin typeface="Cambria" pitchFamily="34" charset="0"/>
                <a:ea typeface="Cambria" pitchFamily="34" charset="-122"/>
                <a:cs typeface="Cambria" pitchFamily="34" charset="-120"/>
              </a:rPr>
              <a:t>TradeFlow</a:t>
            </a:r>
            <a:endParaRPr lang="en-US" sz="7200" dirty="0"/>
          </a:p>
        </p:txBody>
      </p:sp>
      <p:sp>
        <p:nvSpPr>
          <p:cNvPr id="4" name="Text 2"/>
          <p:cNvSpPr/>
          <p:nvPr/>
        </p:nvSpPr>
        <p:spPr>
          <a:xfrm>
            <a:off x="822960" y="3429000"/>
            <a:ext cx="9601200" cy="640080"/>
          </a:xfrm>
          <a:prstGeom prst="rect">
            <a:avLst/>
          </a:prstGeom>
          <a:noFill/>
          <a:ln/>
        </p:spPr>
        <p:txBody>
          <a:bodyPr wrap="square" rtlCol="0" anchor="ctr"/>
          <a:lstStyle/>
          <a:p>
            <a:pPr indent="0" marL="0">
              <a:buNone/>
            </a:pPr>
            <a:r>
              <a:rPr lang="en-US" sz="2200" i="1" dirty="0">
                <a:solidFill>
                  <a:srgbClr val="CBD5E1"/>
                </a:solidFill>
                <a:latin typeface="Calibri" pitchFamily="34" charset="0"/>
                <a:ea typeface="Calibri" pitchFamily="34" charset="-122"/>
                <a:cs typeface="Calibri" pitchFamily="34" charset="-120"/>
              </a:rPr>
              <a:t>El sistema operativo de inteligencia artificial del instalador autónomo</a:t>
            </a:r>
            <a:endParaRPr lang="en-US" sz="2200" dirty="0"/>
          </a:p>
        </p:txBody>
      </p:sp>
      <p:sp>
        <p:nvSpPr>
          <p:cNvPr id="5" name="Shape 3"/>
          <p:cNvSpPr/>
          <p:nvPr/>
        </p:nvSpPr>
        <p:spPr>
          <a:xfrm>
            <a:off x="822960" y="4251960"/>
            <a:ext cx="2011680" cy="0"/>
          </a:xfrm>
          <a:prstGeom prst="line">
            <a:avLst/>
          </a:prstGeom>
          <a:noFill/>
          <a:ln w="31750">
            <a:solidFill>
              <a:srgbClr val="C8922A"/>
            </a:solidFill>
            <a:prstDash val="solid"/>
          </a:ln>
        </p:spPr>
      </p:sp>
      <p:sp>
        <p:nvSpPr>
          <p:cNvPr id="6" name="Text 4"/>
          <p:cNvSpPr/>
          <p:nvPr/>
        </p:nvSpPr>
        <p:spPr>
          <a:xfrm>
            <a:off x="822960" y="5760720"/>
            <a:ext cx="8229600" cy="914400"/>
          </a:xfrm>
          <a:prstGeom prst="rect">
            <a:avLst/>
          </a:prstGeom>
          <a:noFill/>
          <a:ln/>
        </p:spPr>
        <p:txBody>
          <a:bodyPr wrap="square" rtlCol="0" anchor="ctr"/>
          <a:lstStyle/>
          <a:p>
            <a:pPr indent="0" marL="0">
              <a:buNone/>
            </a:pPr>
            <a:r>
              <a:rPr lang="en-US" sz="1300" b="1" dirty="0">
                <a:solidFill>
                  <a:srgbClr val="9AA5B1"/>
                </a:solidFill>
              </a:rPr>
              <a:t>TrabFlow Technologies, S.L.</a:t>
            </a:r>
            <a:endParaRPr lang="en-US" sz="1300" dirty="0"/>
          </a:p>
          <a:p>
            <a:pPr indent="0" marL="0">
              <a:buNone/>
            </a:pPr>
            <a:r>
              <a:rPr lang="en-US" sz="1300" dirty="0">
                <a:solidFill>
                  <a:srgbClr val="9AA5B1"/>
                </a:solidFill>
              </a:rPr>
              <a:t>Fernando Carbonell Cabo — Fundador y Administrador Único</a:t>
            </a:r>
            <a:endParaRPr lang="en-US" sz="1300" dirty="0"/>
          </a:p>
          <a:p>
            <a:pPr indent="0" marL="0">
              <a:buNone/>
            </a:pPr>
            <a:r>
              <a:rPr lang="en-US" sz="1300" dirty="0">
                <a:solidFill>
                  <a:srgbClr val="9AA5B1"/>
                </a:solidFill>
              </a:rPr>
              <a:t>Julio 2026  ·  Documento confidencial</a:t>
            </a:r>
            <a:endParaRPr lang="en-US" sz="1300" dirty="0"/>
          </a:p>
        </p:txBody>
      </p:sp>
      <p:sp>
        <p:nvSpPr>
          <p:cNvPr id="7" name="Shape 5"/>
          <p:cNvSpPr/>
          <p:nvPr/>
        </p:nvSpPr>
        <p:spPr>
          <a:xfrm>
            <a:off x="10332720" y="5120640"/>
            <a:ext cx="1097280" cy="1097280"/>
          </a:xfrm>
          <a:prstGeom prst="ellipse">
            <a:avLst/>
          </a:prstGeom>
          <a:solidFill>
            <a:srgbClr val="22304A"/>
          </a:solidFill>
          <a:ln/>
        </p:spPr>
      </p:sp>
      <p:pic>
        <p:nvPicPr>
          <p:cNvPr id="8" name="Image 0" descr="/home/claude/deck/icons/bolt.png">    </p:cNvPr>
          <p:cNvPicPr>
            <a:picLocks noChangeAspect="1"/>
          </p:cNvPicPr>
          <p:nvPr/>
        </p:nvPicPr>
        <p:blipFill>
          <a:blip r:embed="rId1"/>
          <a:stretch>
            <a:fillRect/>
          </a:stretch>
        </p:blipFill>
        <p:spPr>
          <a:xfrm>
            <a:off x="10475366" y="5263286"/>
            <a:ext cx="811987" cy="81198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94360"/>
            <a:ext cx="685800" cy="685800"/>
          </a:xfrm>
          <a:prstGeom prst="ellipse">
            <a:avLst/>
          </a:prstGeom>
          <a:solidFill>
            <a:srgbClr val="1A5A96"/>
          </a:solidFill>
          <a:ln/>
        </p:spPr>
      </p:sp>
      <p:pic>
        <p:nvPicPr>
          <p:cNvPr id="3" name="Image 0" descr="/home/claude/deck/icons/lightbulb.png">    </p:cNvPr>
          <p:cNvPicPr>
            <a:picLocks noChangeAspect="1"/>
          </p:cNvPicPr>
          <p:nvPr/>
        </p:nvPicPr>
        <p:blipFill>
          <a:blip r:embed="rId1"/>
          <a:stretch>
            <a:fillRect/>
          </a:stretch>
        </p:blipFill>
        <p:spPr>
          <a:xfrm>
            <a:off x="729234" y="683514"/>
            <a:ext cx="507492" cy="507492"/>
          </a:xfrm>
          <a:prstGeom prst="rect">
            <a:avLst/>
          </a:prstGeom>
        </p:spPr>
      </p:pic>
      <p:sp>
        <p:nvSpPr>
          <p:cNvPr id="4" name="Text 1"/>
          <p:cNvSpPr/>
          <p:nvPr/>
        </p:nvSpPr>
        <p:spPr>
          <a:xfrm>
            <a:off x="640080" y="384048"/>
            <a:ext cx="7315200" cy="320040"/>
          </a:xfrm>
          <a:prstGeom prst="rect">
            <a:avLst/>
          </a:prstGeom>
          <a:noFill/>
          <a:ln/>
        </p:spPr>
        <p:txBody>
          <a:bodyPr wrap="square" rtlCol="0" anchor="ctr"/>
          <a:lstStyle/>
          <a:p>
            <a:pPr indent="0" marL="0">
              <a:buNone/>
            </a:pPr>
            <a:r>
              <a:rPr lang="en-US" sz="1300" b="1" spc="200" kern="0" dirty="0">
                <a:solidFill>
                  <a:srgbClr val="1A5A96"/>
                </a:solidFill>
                <a:latin typeface="Calibri" pitchFamily="34" charset="0"/>
                <a:ea typeface="Calibri" pitchFamily="34" charset="-122"/>
                <a:cs typeface="Calibri" pitchFamily="34" charset="-120"/>
              </a:rPr>
              <a:t>02 · VISIÓN</a:t>
            </a:r>
            <a:endParaRPr lang="en-US" sz="1300" dirty="0"/>
          </a:p>
        </p:txBody>
      </p:sp>
      <p:sp>
        <p:nvSpPr>
          <p:cNvPr id="5" name="Text 2"/>
          <p:cNvSpPr/>
          <p:nvPr/>
        </p:nvSpPr>
        <p:spPr>
          <a:xfrm>
            <a:off x="1508760" y="566928"/>
            <a:ext cx="9144000" cy="731520"/>
          </a:xfrm>
          <a:prstGeom prst="rect">
            <a:avLst/>
          </a:prstGeom>
          <a:noFill/>
          <a:ln/>
        </p:spPr>
        <p:txBody>
          <a:bodyPr wrap="square" rtlCol="0" anchor="ctr"/>
          <a:lstStyle/>
          <a:p>
            <a:pPr indent="0" marL="0">
              <a:buNone/>
            </a:pPr>
            <a:r>
              <a:rPr lang="en-US" sz="3200" b="1" dirty="0">
                <a:solidFill>
                  <a:srgbClr val="1C2535"/>
                </a:solidFill>
                <a:latin typeface="Cambria" pitchFamily="34" charset="0"/>
                <a:ea typeface="Cambria" pitchFamily="34" charset="-122"/>
                <a:cs typeface="Cambria" pitchFamily="34" charset="-120"/>
              </a:rPr>
              <a:t>¿Por qué existe TradeFlow?</a:t>
            </a:r>
            <a:endParaRPr lang="en-US" sz="3200" dirty="0"/>
          </a:p>
        </p:txBody>
      </p:sp>
      <p:sp>
        <p:nvSpPr>
          <p:cNvPr id="6" name="Shape 3"/>
          <p:cNvSpPr/>
          <p:nvPr/>
        </p:nvSpPr>
        <p:spPr>
          <a:xfrm>
            <a:off x="640080" y="1691640"/>
            <a:ext cx="10881360" cy="1920240"/>
          </a:xfrm>
          <a:prstGeom prst="roundRect">
            <a:avLst>
              <a:gd name="adj" fmla="val 3810"/>
            </a:avLst>
          </a:prstGeom>
          <a:solidFill>
            <a:srgbClr val="F4F6F8"/>
          </a:solidFill>
          <a:ln/>
          <a:effectLst>
            <a:outerShdw sx="100000" sy="100000" kx="0" ky="0" algn="bl" rotWithShape="0" blurRad="101600" dist="38100" dir="2700000">
              <a:srgbClr val="000000">
                <a:alpha val="12000"/>
              </a:srgbClr>
            </a:outerShdw>
          </a:effectLst>
        </p:spPr>
      </p:sp>
      <p:sp>
        <p:nvSpPr>
          <p:cNvPr id="7" name="Text 4"/>
          <p:cNvSpPr/>
          <p:nvPr/>
        </p:nvSpPr>
        <p:spPr>
          <a:xfrm>
            <a:off x="1005840" y="1965960"/>
            <a:ext cx="10149840" cy="1371600"/>
          </a:xfrm>
          <a:prstGeom prst="rect">
            <a:avLst/>
          </a:prstGeom>
          <a:noFill/>
          <a:ln/>
        </p:spPr>
        <p:txBody>
          <a:bodyPr wrap="square" rtlCol="0" anchor="ctr"/>
          <a:lstStyle/>
          <a:p>
            <a:pPr indent="0" marL="0">
              <a:buNone/>
            </a:pPr>
            <a:r>
              <a:rPr lang="en-US" sz="2600" i="1" dirty="0">
                <a:solidFill>
                  <a:srgbClr val="1C2535"/>
                </a:solidFill>
                <a:latin typeface="Cambria" pitchFamily="34" charset="0"/>
                <a:ea typeface="Cambria" pitchFamily="34" charset="-122"/>
                <a:cs typeface="Cambria" pitchFamily="34" charset="-120"/>
              </a:rPr>
              <a:t>Dar a cada instalador autónomo español las herramientas de gestión que hoy solo tienen las grandes empresas de instalación.</a:t>
            </a:r>
            <a:endParaRPr lang="en-US" sz="2600" dirty="0"/>
          </a:p>
        </p:txBody>
      </p:sp>
      <p:sp>
        <p:nvSpPr>
          <p:cNvPr id="8" name="Text 5"/>
          <p:cNvSpPr/>
          <p:nvPr/>
        </p:nvSpPr>
        <p:spPr>
          <a:xfrm>
            <a:off x="640080" y="3977640"/>
            <a:ext cx="10424160" cy="731520"/>
          </a:xfrm>
          <a:prstGeom prst="rect">
            <a:avLst/>
          </a:prstGeom>
          <a:noFill/>
          <a:ln/>
        </p:spPr>
        <p:txBody>
          <a:bodyPr wrap="square" rtlCol="0" anchor="ctr"/>
          <a:lstStyle/>
          <a:p>
            <a:pPr indent="0" marL="0">
              <a:buNone/>
            </a:pPr>
            <a:r>
              <a:rPr lang="en-US" sz="1600" dirty="0">
                <a:solidFill>
                  <a:srgbClr val="374151"/>
                </a:solidFill>
              </a:rPr>
              <a:t>Un presupuesto profesional, una factura legal y el control de un contrato de mantenimiento — todo desde el móvil, en el lenguaje del propio oficio.</a:t>
            </a:r>
            <a:endParaRPr lang="en-US" sz="1600" dirty="0"/>
          </a:p>
        </p:txBody>
      </p:sp>
      <p:sp>
        <p:nvSpPr>
          <p:cNvPr id="9" name="Shape 6"/>
          <p:cNvSpPr/>
          <p:nvPr/>
        </p:nvSpPr>
        <p:spPr>
          <a:xfrm>
            <a:off x="640080" y="4892040"/>
            <a:ext cx="502920" cy="502920"/>
          </a:xfrm>
          <a:prstGeom prst="ellipse">
            <a:avLst/>
          </a:prstGeom>
          <a:solidFill>
            <a:srgbClr val="EAF1F8"/>
          </a:solidFill>
          <a:ln/>
        </p:spPr>
      </p:sp>
      <p:pic>
        <p:nvPicPr>
          <p:cNvPr id="10" name="Image 1" descr="/home/claude/deck/icons/tools_blue.png">    </p:cNvPr>
          <p:cNvPicPr>
            <a:picLocks noChangeAspect="1"/>
          </p:cNvPicPr>
          <p:nvPr/>
        </p:nvPicPr>
        <p:blipFill>
          <a:blip r:embed="rId2"/>
          <a:stretch>
            <a:fillRect/>
          </a:stretch>
        </p:blipFill>
        <p:spPr>
          <a:xfrm>
            <a:off x="705460" y="4957420"/>
            <a:ext cx="372161" cy="372161"/>
          </a:xfrm>
          <a:prstGeom prst="rect">
            <a:avLst/>
          </a:prstGeom>
        </p:spPr>
      </p:pic>
      <p:sp>
        <p:nvSpPr>
          <p:cNvPr id="11" name="Text 7"/>
          <p:cNvSpPr/>
          <p:nvPr/>
        </p:nvSpPr>
        <p:spPr>
          <a:xfrm>
            <a:off x="1280160" y="4864608"/>
            <a:ext cx="2926080" cy="320040"/>
          </a:xfrm>
          <a:prstGeom prst="rect">
            <a:avLst/>
          </a:prstGeom>
          <a:noFill/>
          <a:ln/>
        </p:spPr>
        <p:txBody>
          <a:bodyPr wrap="square" rtlCol="0" anchor="ctr"/>
          <a:lstStyle/>
          <a:p>
            <a:pPr indent="0" marL="0">
              <a:buNone/>
            </a:pPr>
            <a:r>
              <a:rPr lang="en-US" sz="1400" b="1" dirty="0">
                <a:solidFill>
                  <a:srgbClr val="1C2535"/>
                </a:solidFill>
              </a:rPr>
              <a:t>El instalador primero</a:t>
            </a:r>
            <a:endParaRPr lang="en-US" sz="1400" dirty="0"/>
          </a:p>
        </p:txBody>
      </p:sp>
      <p:sp>
        <p:nvSpPr>
          <p:cNvPr id="12" name="Text 8"/>
          <p:cNvSpPr/>
          <p:nvPr/>
        </p:nvSpPr>
        <p:spPr>
          <a:xfrm>
            <a:off x="640080" y="5349240"/>
            <a:ext cx="3383280" cy="822960"/>
          </a:xfrm>
          <a:prstGeom prst="rect">
            <a:avLst/>
          </a:prstGeom>
          <a:noFill/>
          <a:ln/>
        </p:spPr>
        <p:txBody>
          <a:bodyPr wrap="square" rtlCol="0" anchor="ctr"/>
          <a:lstStyle/>
          <a:p>
            <a:pPr indent="0" marL="0">
              <a:buNone/>
            </a:pPr>
            <a:r>
              <a:rPr lang="en-US" sz="1200" dirty="0">
                <a:solidFill>
                  <a:srgbClr val="6B7280"/>
                </a:solidFill>
              </a:rPr>
              <a:t>Cada decisión de producto se toma pensando en la obra, no en el escritorio.</a:t>
            </a:r>
            <a:endParaRPr lang="en-US" sz="1200" dirty="0"/>
          </a:p>
        </p:txBody>
      </p:sp>
      <p:sp>
        <p:nvSpPr>
          <p:cNvPr id="13" name="Shape 9"/>
          <p:cNvSpPr/>
          <p:nvPr/>
        </p:nvSpPr>
        <p:spPr>
          <a:xfrm>
            <a:off x="4297680" y="4892040"/>
            <a:ext cx="502920" cy="502920"/>
          </a:xfrm>
          <a:prstGeom prst="ellipse">
            <a:avLst/>
          </a:prstGeom>
          <a:solidFill>
            <a:srgbClr val="EAF1F8"/>
          </a:solidFill>
          <a:ln/>
        </p:spPr>
      </p:sp>
      <p:pic>
        <p:nvPicPr>
          <p:cNvPr id="14" name="Image 2" descr="/home/claude/deck/icons/bolt_blue.png">    </p:cNvPr>
          <p:cNvPicPr>
            <a:picLocks noChangeAspect="1"/>
          </p:cNvPicPr>
          <p:nvPr/>
        </p:nvPicPr>
        <p:blipFill>
          <a:blip r:embed="rId3"/>
          <a:stretch>
            <a:fillRect/>
          </a:stretch>
        </p:blipFill>
        <p:spPr>
          <a:xfrm>
            <a:off x="4363060" y="4957420"/>
            <a:ext cx="372161" cy="372161"/>
          </a:xfrm>
          <a:prstGeom prst="rect">
            <a:avLst/>
          </a:prstGeom>
        </p:spPr>
      </p:pic>
      <p:sp>
        <p:nvSpPr>
          <p:cNvPr id="15" name="Text 10"/>
          <p:cNvSpPr/>
          <p:nvPr/>
        </p:nvSpPr>
        <p:spPr>
          <a:xfrm>
            <a:off x="4937760" y="4864608"/>
            <a:ext cx="2926080" cy="320040"/>
          </a:xfrm>
          <a:prstGeom prst="rect">
            <a:avLst/>
          </a:prstGeom>
          <a:noFill/>
          <a:ln/>
        </p:spPr>
        <p:txBody>
          <a:bodyPr wrap="square" rtlCol="0" anchor="ctr"/>
          <a:lstStyle/>
          <a:p>
            <a:pPr indent="0" marL="0">
              <a:buNone/>
            </a:pPr>
            <a:r>
              <a:rPr lang="en-US" sz="1400" b="1" dirty="0">
                <a:solidFill>
                  <a:srgbClr val="1C2535"/>
                </a:solidFill>
              </a:rPr>
              <a:t>Menos clics, más trabajo hecho</a:t>
            </a:r>
            <a:endParaRPr lang="en-US" sz="1400" dirty="0"/>
          </a:p>
        </p:txBody>
      </p:sp>
      <p:sp>
        <p:nvSpPr>
          <p:cNvPr id="16" name="Text 11"/>
          <p:cNvSpPr/>
          <p:nvPr/>
        </p:nvSpPr>
        <p:spPr>
          <a:xfrm>
            <a:off x="4297680" y="5349240"/>
            <a:ext cx="3383280" cy="822960"/>
          </a:xfrm>
          <a:prstGeom prst="rect">
            <a:avLst/>
          </a:prstGeom>
          <a:noFill/>
          <a:ln/>
        </p:spPr>
        <p:txBody>
          <a:bodyPr wrap="square" rtlCol="0" anchor="ctr"/>
          <a:lstStyle/>
          <a:p>
            <a:pPr indent="0" marL="0">
              <a:buNone/>
            </a:pPr>
            <a:r>
              <a:rPr lang="en-US" sz="1200" dirty="0">
                <a:solidFill>
                  <a:srgbClr val="6B7280"/>
                </a:solidFill>
              </a:rPr>
              <a:t>La IA hace el trabajo administrativo; el instalador se dedica a su oficio.</a:t>
            </a:r>
            <a:endParaRPr lang="en-US" sz="1200" dirty="0"/>
          </a:p>
        </p:txBody>
      </p:sp>
      <p:sp>
        <p:nvSpPr>
          <p:cNvPr id="17" name="Shape 12"/>
          <p:cNvSpPr/>
          <p:nvPr/>
        </p:nvSpPr>
        <p:spPr>
          <a:xfrm>
            <a:off x="7955280" y="4892040"/>
            <a:ext cx="502920" cy="502920"/>
          </a:xfrm>
          <a:prstGeom prst="ellipse">
            <a:avLst/>
          </a:prstGeom>
          <a:solidFill>
            <a:srgbClr val="EAF1F8"/>
          </a:solidFill>
          <a:ln/>
        </p:spPr>
      </p:sp>
      <p:pic>
        <p:nvPicPr>
          <p:cNvPr id="18" name="Image 3" descr="/home/claude/deck/icons/shield_blue.png">    </p:cNvPr>
          <p:cNvPicPr>
            <a:picLocks noChangeAspect="1"/>
          </p:cNvPicPr>
          <p:nvPr/>
        </p:nvPicPr>
        <p:blipFill>
          <a:blip r:embed="rId4"/>
          <a:stretch>
            <a:fillRect/>
          </a:stretch>
        </p:blipFill>
        <p:spPr>
          <a:xfrm>
            <a:off x="8020660" y="4957420"/>
            <a:ext cx="372161" cy="372161"/>
          </a:xfrm>
          <a:prstGeom prst="rect">
            <a:avLst/>
          </a:prstGeom>
        </p:spPr>
      </p:pic>
      <p:sp>
        <p:nvSpPr>
          <p:cNvPr id="19" name="Text 13"/>
          <p:cNvSpPr/>
          <p:nvPr/>
        </p:nvSpPr>
        <p:spPr>
          <a:xfrm>
            <a:off x="8595360" y="4864608"/>
            <a:ext cx="2926080" cy="320040"/>
          </a:xfrm>
          <a:prstGeom prst="rect">
            <a:avLst/>
          </a:prstGeom>
          <a:noFill/>
          <a:ln/>
        </p:spPr>
        <p:txBody>
          <a:bodyPr wrap="square" rtlCol="0" anchor="ctr"/>
          <a:lstStyle/>
          <a:p>
            <a:pPr indent="0" marL="0">
              <a:buNone/>
            </a:pPr>
            <a:r>
              <a:rPr lang="en-US" sz="1400" b="1" dirty="0">
                <a:solidFill>
                  <a:srgbClr val="1C2535"/>
                </a:solidFill>
              </a:rPr>
              <a:t>Crecimiento con foco</a:t>
            </a:r>
            <a:endParaRPr lang="en-US" sz="1400" dirty="0"/>
          </a:p>
        </p:txBody>
      </p:sp>
      <p:sp>
        <p:nvSpPr>
          <p:cNvPr id="20" name="Text 14"/>
          <p:cNvSpPr/>
          <p:nvPr/>
        </p:nvSpPr>
        <p:spPr>
          <a:xfrm>
            <a:off x="7955280" y="5349240"/>
            <a:ext cx="3383280" cy="822960"/>
          </a:xfrm>
          <a:prstGeom prst="rect">
            <a:avLst/>
          </a:prstGeom>
          <a:noFill/>
          <a:ln/>
        </p:spPr>
        <p:txBody>
          <a:bodyPr wrap="square" rtlCol="0" anchor="ctr"/>
          <a:lstStyle/>
          <a:p>
            <a:pPr indent="0" marL="0">
              <a:buNone/>
            </a:pPr>
            <a:r>
              <a:rPr lang="en-US" sz="1200" dirty="0">
                <a:solidFill>
                  <a:srgbClr val="6B7280"/>
                </a:solidFill>
              </a:rPr>
              <a:t>Expansión de producto y mercado sin perder calidad ni control.</a:t>
            </a:r>
            <a:endParaRPr lang="en-US" sz="1200" dirty="0"/>
          </a:p>
        </p:txBody>
      </p:sp>
      <p:sp>
        <p:nvSpPr>
          <p:cNvPr id="21" name="Text 15"/>
          <p:cNvSpPr/>
          <p:nvPr/>
        </p:nvSpPr>
        <p:spPr>
          <a:xfrm>
            <a:off x="640080" y="6400800"/>
            <a:ext cx="1828800" cy="274320"/>
          </a:xfrm>
          <a:prstGeom prst="rect">
            <a:avLst/>
          </a:prstGeom>
          <a:noFill/>
          <a:ln/>
        </p:spPr>
        <p:txBody>
          <a:bodyPr wrap="square" rtlCol="0" anchor="ctr"/>
          <a:lstStyle/>
          <a:p>
            <a:pPr indent="0" marL="0">
              <a:buNone/>
            </a:pPr>
            <a:r>
              <a:rPr lang="en-US" sz="1100" b="1" dirty="0">
                <a:solidFill>
                  <a:srgbClr val="6B7280"/>
                </a:solidFill>
              </a:rPr>
              <a:t>TradeFlow</a:t>
            </a:r>
            <a:endParaRPr lang="en-US" sz="1100" dirty="0"/>
          </a:p>
        </p:txBody>
      </p:sp>
      <p:sp>
        <p:nvSpPr>
          <p:cNvPr id="22" name="Text 16"/>
          <p:cNvSpPr/>
          <p:nvPr/>
        </p:nvSpPr>
        <p:spPr>
          <a:xfrm>
            <a:off x="11548872" y="6400800"/>
            <a:ext cx="365760" cy="274320"/>
          </a:xfrm>
          <a:prstGeom prst="rect">
            <a:avLst/>
          </a:prstGeom>
          <a:noFill/>
          <a:ln/>
        </p:spPr>
        <p:txBody>
          <a:bodyPr wrap="square" rtlCol="0" anchor="ctr"/>
          <a:lstStyle/>
          <a:p>
            <a:pPr algn="r" indent="0" marL="0">
              <a:buNone/>
            </a:pPr>
            <a:r>
              <a:rPr lang="en-US" sz="1100" dirty="0">
                <a:solidFill>
                  <a:srgbClr val="6B7280"/>
                </a:solidFill>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94360"/>
            <a:ext cx="685800" cy="685800"/>
          </a:xfrm>
          <a:prstGeom prst="ellipse">
            <a:avLst/>
          </a:prstGeom>
          <a:solidFill>
            <a:srgbClr val="B84E35"/>
          </a:solidFill>
          <a:ln/>
        </p:spPr>
      </p:sp>
      <p:pic>
        <p:nvPicPr>
          <p:cNvPr id="3" name="Image 0" descr="/home/claude/deck/icons/clock.png">    </p:cNvPr>
          <p:cNvPicPr>
            <a:picLocks noChangeAspect="1"/>
          </p:cNvPicPr>
          <p:nvPr/>
        </p:nvPicPr>
        <p:blipFill>
          <a:blip r:embed="rId1"/>
          <a:stretch>
            <a:fillRect/>
          </a:stretch>
        </p:blipFill>
        <p:spPr>
          <a:xfrm>
            <a:off x="729234" y="683514"/>
            <a:ext cx="507492" cy="507492"/>
          </a:xfrm>
          <a:prstGeom prst="rect">
            <a:avLst/>
          </a:prstGeom>
        </p:spPr>
      </p:pic>
      <p:sp>
        <p:nvSpPr>
          <p:cNvPr id="4" name="Text 1"/>
          <p:cNvSpPr/>
          <p:nvPr/>
        </p:nvSpPr>
        <p:spPr>
          <a:xfrm>
            <a:off x="640080" y="384048"/>
            <a:ext cx="7315200" cy="320040"/>
          </a:xfrm>
          <a:prstGeom prst="rect">
            <a:avLst/>
          </a:prstGeom>
          <a:noFill/>
          <a:ln/>
        </p:spPr>
        <p:txBody>
          <a:bodyPr wrap="square" rtlCol="0" anchor="ctr"/>
          <a:lstStyle/>
          <a:p>
            <a:pPr indent="0" marL="0">
              <a:buNone/>
            </a:pPr>
            <a:r>
              <a:rPr lang="en-US" sz="1300" b="1" spc="200" kern="0" dirty="0">
                <a:solidFill>
                  <a:srgbClr val="B84E35"/>
                </a:solidFill>
                <a:latin typeface="Calibri" pitchFamily="34" charset="0"/>
                <a:ea typeface="Calibri" pitchFamily="34" charset="-122"/>
                <a:cs typeface="Calibri" pitchFamily="34" charset="-120"/>
              </a:rPr>
              <a:t>03 · EL PROBLEMA</a:t>
            </a:r>
            <a:endParaRPr lang="en-US" sz="1300" dirty="0"/>
          </a:p>
        </p:txBody>
      </p:sp>
      <p:sp>
        <p:nvSpPr>
          <p:cNvPr id="5" name="Text 2"/>
          <p:cNvSpPr/>
          <p:nvPr/>
        </p:nvSpPr>
        <p:spPr>
          <a:xfrm>
            <a:off x="1508760" y="566928"/>
            <a:ext cx="9601200" cy="731520"/>
          </a:xfrm>
          <a:prstGeom prst="rect">
            <a:avLst/>
          </a:prstGeom>
          <a:noFill/>
          <a:ln/>
        </p:spPr>
        <p:txBody>
          <a:bodyPr wrap="square" rtlCol="0" anchor="ctr"/>
          <a:lstStyle/>
          <a:p>
            <a:pPr indent="0" marL="0">
              <a:buNone/>
            </a:pPr>
            <a:r>
              <a:rPr lang="en-US" sz="3200" b="1" dirty="0">
                <a:solidFill>
                  <a:srgbClr val="1C2535"/>
                </a:solidFill>
                <a:latin typeface="Cambria" pitchFamily="34" charset="0"/>
                <a:ea typeface="Cambria" pitchFamily="34" charset="-122"/>
                <a:cs typeface="Cambria" pitchFamily="34" charset="-120"/>
              </a:rPr>
              <a:t>Un sector clave, digitalizado a medias</a:t>
            </a:r>
            <a:endParaRPr lang="en-US" sz="3200" dirty="0"/>
          </a:p>
        </p:txBody>
      </p:sp>
      <p:sp>
        <p:nvSpPr>
          <p:cNvPr id="6" name="Shape 3"/>
          <p:cNvSpPr/>
          <p:nvPr/>
        </p:nvSpPr>
        <p:spPr>
          <a:xfrm>
            <a:off x="640080" y="1828800"/>
            <a:ext cx="3429000" cy="1737360"/>
          </a:xfrm>
          <a:prstGeom prst="roundRect">
            <a:avLst>
              <a:gd name="adj" fmla="val 4211"/>
            </a:avLst>
          </a:prstGeom>
          <a:solidFill>
            <a:srgbClr val="F4F6F8"/>
          </a:solidFill>
          <a:ln/>
          <a:effectLst>
            <a:outerShdw sx="100000" sy="100000" kx="0" ky="0" algn="bl" rotWithShape="0" blurRad="101600" dist="38100" dir="2700000">
              <a:srgbClr val="000000">
                <a:alpha val="12000"/>
              </a:srgbClr>
            </a:outerShdw>
          </a:effectLst>
        </p:spPr>
      </p:sp>
      <p:sp>
        <p:nvSpPr>
          <p:cNvPr id="7" name="Text 4"/>
          <p:cNvSpPr/>
          <p:nvPr/>
        </p:nvSpPr>
        <p:spPr>
          <a:xfrm>
            <a:off x="640080" y="2011680"/>
            <a:ext cx="3429000" cy="777240"/>
          </a:xfrm>
          <a:prstGeom prst="rect">
            <a:avLst/>
          </a:prstGeom>
          <a:noFill/>
          <a:ln/>
        </p:spPr>
        <p:txBody>
          <a:bodyPr wrap="square" rtlCol="0" anchor="ctr"/>
          <a:lstStyle/>
          <a:p>
            <a:pPr algn="ctr" indent="0" marL="0">
              <a:buNone/>
            </a:pPr>
            <a:r>
              <a:rPr lang="en-US" sz="3400" b="1" dirty="0">
                <a:solidFill>
                  <a:srgbClr val="B84E35"/>
                </a:solidFill>
              </a:rPr>
              <a:t>30-60 min</a:t>
            </a:r>
            <a:endParaRPr lang="en-US" sz="3400" dirty="0"/>
          </a:p>
        </p:txBody>
      </p:sp>
      <p:sp>
        <p:nvSpPr>
          <p:cNvPr id="8" name="Text 5"/>
          <p:cNvSpPr/>
          <p:nvPr/>
        </p:nvSpPr>
        <p:spPr>
          <a:xfrm>
            <a:off x="868680" y="2788920"/>
            <a:ext cx="2971800" cy="640080"/>
          </a:xfrm>
          <a:prstGeom prst="rect">
            <a:avLst/>
          </a:prstGeom>
          <a:noFill/>
          <a:ln/>
        </p:spPr>
        <p:txBody>
          <a:bodyPr wrap="square" rtlCol="0" anchor="ctr"/>
          <a:lstStyle/>
          <a:p>
            <a:pPr algn="ctr" indent="0" marL="0">
              <a:buNone/>
            </a:pPr>
            <a:r>
              <a:rPr lang="en-US" sz="1300" dirty="0">
                <a:solidFill>
                  <a:srgbClr val="374151"/>
                </a:solidFill>
              </a:rPr>
              <a:t>para elaborar un presupuesto a mano</a:t>
            </a:r>
            <a:endParaRPr lang="en-US" sz="1300" dirty="0"/>
          </a:p>
        </p:txBody>
      </p:sp>
      <p:sp>
        <p:nvSpPr>
          <p:cNvPr id="9" name="Shape 6"/>
          <p:cNvSpPr/>
          <p:nvPr/>
        </p:nvSpPr>
        <p:spPr>
          <a:xfrm>
            <a:off x="4343400" y="1828800"/>
            <a:ext cx="3429000" cy="1737360"/>
          </a:xfrm>
          <a:prstGeom prst="roundRect">
            <a:avLst>
              <a:gd name="adj" fmla="val 4211"/>
            </a:avLst>
          </a:prstGeom>
          <a:solidFill>
            <a:srgbClr val="F4F6F8"/>
          </a:solidFill>
          <a:ln/>
          <a:effectLst>
            <a:outerShdw sx="100000" sy="100000" kx="0" ky="0" algn="bl" rotWithShape="0" blurRad="101600" dist="38100" dir="2700000">
              <a:srgbClr val="000000">
                <a:alpha val="12000"/>
              </a:srgbClr>
            </a:outerShdw>
          </a:effectLst>
        </p:spPr>
      </p:sp>
      <p:sp>
        <p:nvSpPr>
          <p:cNvPr id="10" name="Text 7"/>
          <p:cNvSpPr/>
          <p:nvPr/>
        </p:nvSpPr>
        <p:spPr>
          <a:xfrm>
            <a:off x="4343400" y="2011680"/>
            <a:ext cx="3429000" cy="777240"/>
          </a:xfrm>
          <a:prstGeom prst="rect">
            <a:avLst/>
          </a:prstGeom>
          <a:noFill/>
          <a:ln/>
        </p:spPr>
        <p:txBody>
          <a:bodyPr wrap="square" rtlCol="0" anchor="ctr"/>
          <a:lstStyle/>
          <a:p>
            <a:pPr algn="ctr" indent="0" marL="0">
              <a:buNone/>
            </a:pPr>
            <a:r>
              <a:rPr lang="en-US" sz="3400" b="1" dirty="0">
                <a:solidFill>
                  <a:srgbClr val="B84E35"/>
                </a:solidFill>
              </a:rPr>
              <a:t>&lt; 20%</a:t>
            </a:r>
            <a:endParaRPr lang="en-US" sz="3400" dirty="0"/>
          </a:p>
        </p:txBody>
      </p:sp>
      <p:sp>
        <p:nvSpPr>
          <p:cNvPr id="11" name="Text 8"/>
          <p:cNvSpPr/>
          <p:nvPr/>
        </p:nvSpPr>
        <p:spPr>
          <a:xfrm>
            <a:off x="4572000" y="2788920"/>
            <a:ext cx="2971800" cy="640080"/>
          </a:xfrm>
          <a:prstGeom prst="rect">
            <a:avLst/>
          </a:prstGeom>
          <a:noFill/>
          <a:ln/>
        </p:spPr>
        <p:txBody>
          <a:bodyPr wrap="square" rtlCol="0" anchor="ctr"/>
          <a:lstStyle/>
          <a:p>
            <a:pPr algn="ctr" indent="0" marL="0">
              <a:buNone/>
            </a:pPr>
            <a:r>
              <a:rPr lang="en-US" sz="1300" dirty="0">
                <a:solidFill>
                  <a:srgbClr val="374151"/>
                </a:solidFill>
              </a:rPr>
              <a:t>de instaladores usa hoy alguna solución de IA</a:t>
            </a:r>
            <a:endParaRPr lang="en-US" sz="1300" dirty="0"/>
          </a:p>
        </p:txBody>
      </p:sp>
      <p:sp>
        <p:nvSpPr>
          <p:cNvPr id="12" name="Shape 9"/>
          <p:cNvSpPr/>
          <p:nvPr/>
        </p:nvSpPr>
        <p:spPr>
          <a:xfrm>
            <a:off x="8046720" y="1828800"/>
            <a:ext cx="3429000" cy="1737360"/>
          </a:xfrm>
          <a:prstGeom prst="roundRect">
            <a:avLst>
              <a:gd name="adj" fmla="val 4211"/>
            </a:avLst>
          </a:prstGeom>
          <a:solidFill>
            <a:srgbClr val="F4F6F8"/>
          </a:solidFill>
          <a:ln/>
          <a:effectLst>
            <a:outerShdw sx="100000" sy="100000" kx="0" ky="0" algn="bl" rotWithShape="0" blurRad="101600" dist="38100" dir="2700000">
              <a:srgbClr val="000000">
                <a:alpha val="12000"/>
              </a:srgbClr>
            </a:outerShdw>
          </a:effectLst>
        </p:spPr>
      </p:sp>
      <p:sp>
        <p:nvSpPr>
          <p:cNvPr id="13" name="Text 10"/>
          <p:cNvSpPr/>
          <p:nvPr/>
        </p:nvSpPr>
        <p:spPr>
          <a:xfrm>
            <a:off x="8046720" y="2011680"/>
            <a:ext cx="3429000" cy="777240"/>
          </a:xfrm>
          <a:prstGeom prst="rect">
            <a:avLst/>
          </a:prstGeom>
          <a:noFill/>
          <a:ln/>
        </p:spPr>
        <p:txBody>
          <a:bodyPr wrap="square" rtlCol="0" anchor="ctr"/>
          <a:lstStyle/>
          <a:p>
            <a:pPr algn="ctr" indent="0" marL="0">
              <a:buNone/>
            </a:pPr>
            <a:r>
              <a:rPr lang="en-US" sz="3400" b="1" dirty="0">
                <a:solidFill>
                  <a:srgbClr val="B84E35"/>
                </a:solidFill>
              </a:rPr>
              <a:t>2027</a:t>
            </a:r>
            <a:endParaRPr lang="en-US" sz="3400" dirty="0"/>
          </a:p>
        </p:txBody>
      </p:sp>
      <p:sp>
        <p:nvSpPr>
          <p:cNvPr id="14" name="Text 11"/>
          <p:cNvSpPr/>
          <p:nvPr/>
        </p:nvSpPr>
        <p:spPr>
          <a:xfrm>
            <a:off x="8275320" y="2788920"/>
            <a:ext cx="2971800" cy="640080"/>
          </a:xfrm>
          <a:prstGeom prst="rect">
            <a:avLst/>
          </a:prstGeom>
          <a:noFill/>
          <a:ln/>
        </p:spPr>
        <p:txBody>
          <a:bodyPr wrap="square" rtlCol="0" anchor="ctr"/>
          <a:lstStyle/>
          <a:p>
            <a:pPr algn="ctr" indent="0" marL="0">
              <a:buNone/>
            </a:pPr>
            <a:r>
              <a:rPr lang="en-US" sz="1300" dirty="0">
                <a:solidFill>
                  <a:srgbClr val="374151"/>
                </a:solidFill>
              </a:rPr>
              <a:t>plazo límite de obligado cumplimiento VeriFactu</a:t>
            </a:r>
            <a:endParaRPr lang="en-US" sz="1300" dirty="0"/>
          </a:p>
        </p:txBody>
      </p:sp>
      <p:sp>
        <p:nvSpPr>
          <p:cNvPr id="15" name="Text 12"/>
          <p:cNvSpPr/>
          <p:nvPr/>
        </p:nvSpPr>
        <p:spPr>
          <a:xfrm>
            <a:off x="640080" y="3886200"/>
            <a:ext cx="7315200" cy="365760"/>
          </a:xfrm>
          <a:prstGeom prst="rect">
            <a:avLst/>
          </a:prstGeom>
          <a:noFill/>
          <a:ln/>
        </p:spPr>
        <p:txBody>
          <a:bodyPr wrap="square" rtlCol="0" anchor="ctr"/>
          <a:lstStyle/>
          <a:p>
            <a:pPr indent="0" marL="0">
              <a:buNone/>
            </a:pPr>
            <a:r>
              <a:rPr lang="en-US" sz="1600" b="1" dirty="0">
                <a:solidFill>
                  <a:srgbClr val="1C2535"/>
                </a:solidFill>
              </a:rPr>
              <a:t>Tres síntomas de un mismo problema estructural</a:t>
            </a:r>
            <a:endParaRPr lang="en-US" sz="1600" dirty="0"/>
          </a:p>
        </p:txBody>
      </p:sp>
      <p:sp>
        <p:nvSpPr>
          <p:cNvPr id="16" name="Text 13"/>
          <p:cNvSpPr/>
          <p:nvPr/>
        </p:nvSpPr>
        <p:spPr>
          <a:xfrm>
            <a:off x="640080" y="4297680"/>
            <a:ext cx="7498080" cy="1463040"/>
          </a:xfrm>
          <a:prstGeom prst="rect">
            <a:avLst/>
          </a:prstGeom>
          <a:noFill/>
          <a:ln/>
        </p:spPr>
        <p:txBody>
          <a:bodyPr wrap="square" rtlCol="0" anchor="ctr"/>
          <a:lstStyle/>
          <a:p>
            <a:pPr marL="342900" indent="-342900">
              <a:spcAft>
                <a:spcPts val="800"/>
              </a:spcAft>
              <a:buSzPct val="100000"/>
              <a:buChar char="•"/>
            </a:pPr>
            <a:r>
              <a:rPr lang="en-US" sz="1500" dirty="0">
                <a:solidFill>
                  <a:srgbClr val="374151"/>
                </a:solidFill>
              </a:rPr>
              <a:t>Presupuestos manuales, sin precios de mercado actualizados</a:t>
            </a:r>
            <a:endParaRPr lang="en-US" sz="1500" dirty="0"/>
          </a:p>
          <a:p>
            <a:pPr marL="342900" indent="-342900">
              <a:spcAft>
                <a:spcPts val="800"/>
              </a:spcAft>
              <a:buSzPct val="100000"/>
              <a:buChar char="•"/>
            </a:pPr>
            <a:r>
              <a:rPr lang="en-US" sz="1500" dirty="0">
                <a:solidFill>
                  <a:srgbClr val="374151"/>
                </a:solidFill>
              </a:rPr>
              <a:t>Facturación desconectada del presupuesto y de la normativa fiscal</a:t>
            </a:r>
            <a:endParaRPr lang="en-US" sz="1500" dirty="0"/>
          </a:p>
          <a:p>
            <a:pPr marL="342900" indent="-342900">
              <a:spcAft>
                <a:spcPts val="800"/>
              </a:spcAft>
              <a:buSzPct val="100000"/>
              <a:buChar char="•"/>
            </a:pPr>
            <a:r>
              <a:rPr lang="en-US" sz="1500" dirty="0">
                <a:solidFill>
                  <a:srgbClr val="374151"/>
                </a:solidFill>
              </a:rPr>
              <a:t>Nula trazabilidad de técnicos de campo y contratos de mantenimiento</a:t>
            </a:r>
            <a:endParaRPr lang="en-US" sz="1500" dirty="0"/>
          </a:p>
        </p:txBody>
      </p:sp>
      <p:sp>
        <p:nvSpPr>
          <p:cNvPr id="17" name="Shape 14"/>
          <p:cNvSpPr/>
          <p:nvPr/>
        </p:nvSpPr>
        <p:spPr>
          <a:xfrm>
            <a:off x="8869680" y="4206240"/>
            <a:ext cx="2194560" cy="2194560"/>
          </a:xfrm>
          <a:prstGeom prst="ellipse">
            <a:avLst/>
          </a:prstGeom>
          <a:solidFill>
            <a:srgbClr val="F3E7DF"/>
          </a:solidFill>
          <a:ln/>
        </p:spPr>
      </p:sp>
      <p:pic>
        <p:nvPicPr>
          <p:cNvPr id="18" name="Image 1" descr="/home/claude/deck/icons/puzzle_gold.png">    </p:cNvPr>
          <p:cNvPicPr>
            <a:picLocks noChangeAspect="1"/>
          </p:cNvPicPr>
          <p:nvPr/>
        </p:nvPicPr>
        <p:blipFill>
          <a:blip r:embed="rId2"/>
          <a:stretch>
            <a:fillRect/>
          </a:stretch>
        </p:blipFill>
        <p:spPr>
          <a:xfrm>
            <a:off x="9154973" y="4491533"/>
            <a:ext cx="1623974" cy="1623974"/>
          </a:xfrm>
          <a:prstGeom prst="rect">
            <a:avLst/>
          </a:prstGeom>
        </p:spPr>
      </p:pic>
      <p:sp>
        <p:nvSpPr>
          <p:cNvPr id="19" name="Text 15"/>
          <p:cNvSpPr/>
          <p:nvPr/>
        </p:nvSpPr>
        <p:spPr>
          <a:xfrm>
            <a:off x="640080" y="6400800"/>
            <a:ext cx="1828800" cy="274320"/>
          </a:xfrm>
          <a:prstGeom prst="rect">
            <a:avLst/>
          </a:prstGeom>
          <a:noFill/>
          <a:ln/>
        </p:spPr>
        <p:txBody>
          <a:bodyPr wrap="square" rtlCol="0" anchor="ctr"/>
          <a:lstStyle/>
          <a:p>
            <a:pPr indent="0" marL="0">
              <a:buNone/>
            </a:pPr>
            <a:r>
              <a:rPr lang="en-US" sz="1100" b="1" dirty="0">
                <a:solidFill>
                  <a:srgbClr val="6B7280"/>
                </a:solidFill>
              </a:rPr>
              <a:t>TradeFlow</a:t>
            </a:r>
            <a:endParaRPr lang="en-US" sz="1100" dirty="0"/>
          </a:p>
        </p:txBody>
      </p:sp>
      <p:sp>
        <p:nvSpPr>
          <p:cNvPr id="20" name="Text 16"/>
          <p:cNvSpPr/>
          <p:nvPr/>
        </p:nvSpPr>
        <p:spPr>
          <a:xfrm>
            <a:off x="11548872" y="6400800"/>
            <a:ext cx="365760" cy="274320"/>
          </a:xfrm>
          <a:prstGeom prst="rect">
            <a:avLst/>
          </a:prstGeom>
          <a:noFill/>
          <a:ln/>
        </p:spPr>
        <p:txBody>
          <a:bodyPr wrap="square" rtlCol="0" anchor="ctr"/>
          <a:lstStyle/>
          <a:p>
            <a:pPr algn="r" indent="0" marL="0">
              <a:buNone/>
            </a:pPr>
            <a:r>
              <a:rPr lang="en-US" sz="1100" dirty="0">
                <a:solidFill>
                  <a:srgbClr val="6B7280"/>
                </a:solidFill>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94360"/>
            <a:ext cx="685800" cy="685800"/>
          </a:xfrm>
          <a:prstGeom prst="ellipse">
            <a:avLst/>
          </a:prstGeom>
          <a:solidFill>
            <a:srgbClr val="4A6741"/>
          </a:solidFill>
          <a:ln/>
        </p:spPr>
      </p:sp>
      <p:pic>
        <p:nvPicPr>
          <p:cNvPr id="3" name="Image 0" descr="/home/claude/deck/icons/chart.png">    </p:cNvPr>
          <p:cNvPicPr>
            <a:picLocks noChangeAspect="1"/>
          </p:cNvPicPr>
          <p:nvPr/>
        </p:nvPicPr>
        <p:blipFill>
          <a:blip r:embed="rId1"/>
          <a:stretch>
            <a:fillRect/>
          </a:stretch>
        </p:blipFill>
        <p:spPr>
          <a:xfrm>
            <a:off x="729234" y="683514"/>
            <a:ext cx="507492" cy="507492"/>
          </a:xfrm>
          <a:prstGeom prst="rect">
            <a:avLst/>
          </a:prstGeom>
        </p:spPr>
      </p:pic>
      <p:sp>
        <p:nvSpPr>
          <p:cNvPr id="4" name="Text 1"/>
          <p:cNvSpPr/>
          <p:nvPr/>
        </p:nvSpPr>
        <p:spPr>
          <a:xfrm>
            <a:off x="640080" y="384048"/>
            <a:ext cx="7315200" cy="320040"/>
          </a:xfrm>
          <a:prstGeom prst="rect">
            <a:avLst/>
          </a:prstGeom>
          <a:noFill/>
          <a:ln/>
        </p:spPr>
        <p:txBody>
          <a:bodyPr wrap="square" rtlCol="0" anchor="ctr"/>
          <a:lstStyle/>
          <a:p>
            <a:pPr indent="0" marL="0">
              <a:buNone/>
            </a:pPr>
            <a:r>
              <a:rPr lang="en-US" sz="1300" b="1" spc="200" kern="0" dirty="0">
                <a:solidFill>
                  <a:srgbClr val="4A6741"/>
                </a:solidFill>
                <a:latin typeface="Calibri" pitchFamily="34" charset="0"/>
                <a:ea typeface="Calibri" pitchFamily="34" charset="-122"/>
                <a:cs typeface="Calibri" pitchFamily="34" charset="-120"/>
              </a:rPr>
              <a:t>04 · LA OPORTUNIDAD</a:t>
            </a:r>
            <a:endParaRPr lang="en-US" sz="1300" dirty="0"/>
          </a:p>
        </p:txBody>
      </p:sp>
      <p:sp>
        <p:nvSpPr>
          <p:cNvPr id="5" name="Text 2"/>
          <p:cNvSpPr/>
          <p:nvPr/>
        </p:nvSpPr>
        <p:spPr>
          <a:xfrm>
            <a:off x="1508760" y="566928"/>
            <a:ext cx="9144000" cy="731520"/>
          </a:xfrm>
          <a:prstGeom prst="rect">
            <a:avLst/>
          </a:prstGeom>
          <a:noFill/>
          <a:ln/>
        </p:spPr>
        <p:txBody>
          <a:bodyPr wrap="square" rtlCol="0" anchor="ctr"/>
          <a:lstStyle/>
          <a:p>
            <a:pPr indent="0" marL="0">
              <a:buNone/>
            </a:pPr>
            <a:r>
              <a:rPr lang="en-US" sz="3200" b="1" dirty="0">
                <a:solidFill>
                  <a:srgbClr val="1C2535"/>
                </a:solidFill>
                <a:latin typeface="Cambria" pitchFamily="34" charset="0"/>
                <a:ea typeface="Cambria" pitchFamily="34" charset="-122"/>
                <a:cs typeface="Cambria" pitchFamily="34" charset="-120"/>
              </a:rPr>
              <a:t>La ventana está abierta ahora</a:t>
            </a:r>
            <a:endParaRPr lang="en-US" sz="3200" dirty="0"/>
          </a:p>
        </p:txBody>
      </p:sp>
      <p:sp>
        <p:nvSpPr>
          <p:cNvPr id="6" name="Shape 3"/>
          <p:cNvSpPr/>
          <p:nvPr/>
        </p:nvSpPr>
        <p:spPr>
          <a:xfrm>
            <a:off x="640080" y="1828800"/>
            <a:ext cx="3429000" cy="2103120"/>
          </a:xfrm>
          <a:prstGeom prst="roundRect">
            <a:avLst>
              <a:gd name="adj" fmla="val 3478"/>
            </a:avLst>
          </a:prstGeom>
          <a:solidFill>
            <a:srgbClr val="F4F6F8"/>
          </a:solidFill>
          <a:ln/>
          <a:effectLst>
            <a:outerShdw sx="100000" sy="100000" kx="0" ky="0" algn="bl" rotWithShape="0" blurRad="101600" dist="38100" dir="2700000">
              <a:srgbClr val="000000">
                <a:alpha val="12000"/>
              </a:srgbClr>
            </a:outerShdw>
          </a:effectLst>
        </p:spPr>
      </p:sp>
      <p:sp>
        <p:nvSpPr>
          <p:cNvPr id="7" name="Shape 4"/>
          <p:cNvSpPr/>
          <p:nvPr/>
        </p:nvSpPr>
        <p:spPr>
          <a:xfrm>
            <a:off x="896112" y="2084832"/>
            <a:ext cx="548640" cy="548640"/>
          </a:xfrm>
          <a:prstGeom prst="ellipse">
            <a:avLst/>
          </a:prstGeom>
          <a:solidFill>
            <a:srgbClr val="EAF1F8"/>
          </a:solidFill>
          <a:ln/>
        </p:spPr>
      </p:sp>
      <p:pic>
        <p:nvPicPr>
          <p:cNvPr id="8" name="Image 1" descr="/home/claude/deck/icons/shield_blue.png">    </p:cNvPr>
          <p:cNvPicPr>
            <a:picLocks noChangeAspect="1"/>
          </p:cNvPicPr>
          <p:nvPr/>
        </p:nvPicPr>
        <p:blipFill>
          <a:blip r:embed="rId2"/>
          <a:stretch>
            <a:fillRect/>
          </a:stretch>
        </p:blipFill>
        <p:spPr>
          <a:xfrm>
            <a:off x="967435" y="2156155"/>
            <a:ext cx="405994" cy="405994"/>
          </a:xfrm>
          <a:prstGeom prst="rect">
            <a:avLst/>
          </a:prstGeom>
        </p:spPr>
      </p:pic>
      <p:sp>
        <p:nvSpPr>
          <p:cNvPr id="9" name="Text 5"/>
          <p:cNvSpPr/>
          <p:nvPr/>
        </p:nvSpPr>
        <p:spPr>
          <a:xfrm>
            <a:off x="896112" y="2724912"/>
            <a:ext cx="2926080" cy="365760"/>
          </a:xfrm>
          <a:prstGeom prst="rect">
            <a:avLst/>
          </a:prstGeom>
          <a:noFill/>
          <a:ln/>
        </p:spPr>
        <p:txBody>
          <a:bodyPr wrap="square" rtlCol="0" anchor="ctr"/>
          <a:lstStyle/>
          <a:p>
            <a:pPr indent="0" marL="0">
              <a:buNone/>
            </a:pPr>
            <a:r>
              <a:rPr lang="en-US" sz="1500" b="1" dirty="0">
                <a:solidFill>
                  <a:srgbClr val="1C2535"/>
                </a:solidFill>
              </a:rPr>
              <a:t>Obligación normativa</a:t>
            </a:r>
            <a:endParaRPr lang="en-US" sz="1500" dirty="0"/>
          </a:p>
        </p:txBody>
      </p:sp>
      <p:sp>
        <p:nvSpPr>
          <p:cNvPr id="10" name="Text 6"/>
          <p:cNvSpPr/>
          <p:nvPr/>
        </p:nvSpPr>
        <p:spPr>
          <a:xfrm>
            <a:off x="896112" y="3108960"/>
            <a:ext cx="2971800" cy="731520"/>
          </a:xfrm>
          <a:prstGeom prst="rect">
            <a:avLst/>
          </a:prstGeom>
          <a:noFill/>
          <a:ln/>
        </p:spPr>
        <p:txBody>
          <a:bodyPr wrap="square" rtlCol="0" anchor="ctr"/>
          <a:lstStyle/>
          <a:p>
            <a:pPr indent="0" marL="0">
              <a:buNone/>
            </a:pPr>
            <a:r>
              <a:rPr lang="en-US" sz="1250" dirty="0">
                <a:solidFill>
                  <a:srgbClr val="6B7280"/>
                </a:solidFill>
              </a:rPr>
              <a:t>VeriFactu fuerza la renovación tecnológica del sector en 2026-2027.</a:t>
            </a:r>
            <a:endParaRPr lang="en-US" sz="1250" dirty="0"/>
          </a:p>
        </p:txBody>
      </p:sp>
      <p:sp>
        <p:nvSpPr>
          <p:cNvPr id="11" name="Shape 7"/>
          <p:cNvSpPr/>
          <p:nvPr/>
        </p:nvSpPr>
        <p:spPr>
          <a:xfrm>
            <a:off x="4343400" y="1828800"/>
            <a:ext cx="3429000" cy="2103120"/>
          </a:xfrm>
          <a:prstGeom prst="roundRect">
            <a:avLst>
              <a:gd name="adj" fmla="val 3478"/>
            </a:avLst>
          </a:prstGeom>
          <a:solidFill>
            <a:srgbClr val="F4F6F8"/>
          </a:solidFill>
          <a:ln/>
          <a:effectLst>
            <a:outerShdw sx="100000" sy="100000" kx="0" ky="0" algn="bl" rotWithShape="0" blurRad="101600" dist="38100" dir="2700000">
              <a:srgbClr val="000000">
                <a:alpha val="12000"/>
              </a:srgbClr>
            </a:outerShdw>
          </a:effectLst>
        </p:spPr>
      </p:sp>
      <p:sp>
        <p:nvSpPr>
          <p:cNvPr id="12" name="Shape 8"/>
          <p:cNvSpPr/>
          <p:nvPr/>
        </p:nvSpPr>
        <p:spPr>
          <a:xfrm>
            <a:off x="4599432" y="2084832"/>
            <a:ext cx="548640" cy="548640"/>
          </a:xfrm>
          <a:prstGeom prst="ellipse">
            <a:avLst/>
          </a:prstGeom>
          <a:solidFill>
            <a:srgbClr val="EAF1F8"/>
          </a:solidFill>
          <a:ln/>
        </p:spPr>
      </p:sp>
      <p:pic>
        <p:nvPicPr>
          <p:cNvPr id="13" name="Image 2" descr="/home/claude/deck/icons/brain_blue.png">    </p:cNvPr>
          <p:cNvPicPr>
            <a:picLocks noChangeAspect="1"/>
          </p:cNvPicPr>
          <p:nvPr/>
        </p:nvPicPr>
        <p:blipFill>
          <a:blip r:embed="rId3"/>
          <a:stretch>
            <a:fillRect/>
          </a:stretch>
        </p:blipFill>
        <p:spPr>
          <a:xfrm>
            <a:off x="4670755" y="2156155"/>
            <a:ext cx="405994" cy="405994"/>
          </a:xfrm>
          <a:prstGeom prst="rect">
            <a:avLst/>
          </a:prstGeom>
        </p:spPr>
      </p:pic>
      <p:sp>
        <p:nvSpPr>
          <p:cNvPr id="14" name="Text 9"/>
          <p:cNvSpPr/>
          <p:nvPr/>
        </p:nvSpPr>
        <p:spPr>
          <a:xfrm>
            <a:off x="4599432" y="2724912"/>
            <a:ext cx="2926080" cy="365760"/>
          </a:xfrm>
          <a:prstGeom prst="rect">
            <a:avLst/>
          </a:prstGeom>
          <a:noFill/>
          <a:ln/>
        </p:spPr>
        <p:txBody>
          <a:bodyPr wrap="square" rtlCol="0" anchor="ctr"/>
          <a:lstStyle/>
          <a:p>
            <a:pPr indent="0" marL="0">
              <a:buNone/>
            </a:pPr>
            <a:r>
              <a:rPr lang="en-US" sz="1500" b="1" dirty="0">
                <a:solidFill>
                  <a:srgbClr val="1C2535"/>
                </a:solidFill>
              </a:rPr>
              <a:t>Madurez de la IA</a:t>
            </a:r>
            <a:endParaRPr lang="en-US" sz="1500" dirty="0"/>
          </a:p>
        </p:txBody>
      </p:sp>
      <p:sp>
        <p:nvSpPr>
          <p:cNvPr id="15" name="Text 10"/>
          <p:cNvSpPr/>
          <p:nvPr/>
        </p:nvSpPr>
        <p:spPr>
          <a:xfrm>
            <a:off x="4599432" y="3108960"/>
            <a:ext cx="2971800" cy="731520"/>
          </a:xfrm>
          <a:prstGeom prst="rect">
            <a:avLst/>
          </a:prstGeom>
          <a:noFill/>
          <a:ln/>
        </p:spPr>
        <p:txBody>
          <a:bodyPr wrap="square" rtlCol="0" anchor="ctr"/>
          <a:lstStyle/>
          <a:p>
            <a:pPr indent="0" marL="0">
              <a:buNone/>
            </a:pPr>
            <a:r>
              <a:rPr lang="en-US" sz="1250" dirty="0">
                <a:solidFill>
                  <a:srgbClr val="6B7280"/>
                </a:solidFill>
              </a:rPr>
              <a:t>El coste de inferencia ya es compatible con un SaaS de bajo ticket.</a:t>
            </a:r>
            <a:endParaRPr lang="en-US" sz="1250" dirty="0"/>
          </a:p>
        </p:txBody>
      </p:sp>
      <p:sp>
        <p:nvSpPr>
          <p:cNvPr id="16" name="Shape 11"/>
          <p:cNvSpPr/>
          <p:nvPr/>
        </p:nvSpPr>
        <p:spPr>
          <a:xfrm>
            <a:off x="8046720" y="1828800"/>
            <a:ext cx="3429000" cy="2103120"/>
          </a:xfrm>
          <a:prstGeom prst="roundRect">
            <a:avLst>
              <a:gd name="adj" fmla="val 3478"/>
            </a:avLst>
          </a:prstGeom>
          <a:solidFill>
            <a:srgbClr val="F4F6F8"/>
          </a:solidFill>
          <a:ln/>
          <a:effectLst>
            <a:outerShdw sx="100000" sy="100000" kx="0" ky="0" algn="bl" rotWithShape="0" blurRad="101600" dist="38100" dir="2700000">
              <a:srgbClr val="000000">
                <a:alpha val="12000"/>
              </a:srgbClr>
            </a:outerShdw>
          </a:effectLst>
        </p:spPr>
      </p:sp>
      <p:sp>
        <p:nvSpPr>
          <p:cNvPr id="17" name="Shape 12"/>
          <p:cNvSpPr/>
          <p:nvPr/>
        </p:nvSpPr>
        <p:spPr>
          <a:xfrm>
            <a:off x="8302752" y="2084832"/>
            <a:ext cx="548640" cy="548640"/>
          </a:xfrm>
          <a:prstGeom prst="ellipse">
            <a:avLst/>
          </a:prstGeom>
          <a:solidFill>
            <a:srgbClr val="EAF1F8"/>
          </a:solidFill>
          <a:ln/>
        </p:spPr>
      </p:sp>
      <p:pic>
        <p:nvPicPr>
          <p:cNvPr id="18" name="Image 3" descr="/home/claude/deck/icons/target_blue.png">    </p:cNvPr>
          <p:cNvPicPr>
            <a:picLocks noChangeAspect="1"/>
          </p:cNvPicPr>
          <p:nvPr/>
        </p:nvPicPr>
        <p:blipFill>
          <a:blip r:embed="rId4"/>
          <a:stretch>
            <a:fillRect/>
          </a:stretch>
        </p:blipFill>
        <p:spPr>
          <a:xfrm>
            <a:off x="8374075" y="2156155"/>
            <a:ext cx="405994" cy="405994"/>
          </a:xfrm>
          <a:prstGeom prst="rect">
            <a:avLst/>
          </a:prstGeom>
        </p:spPr>
      </p:pic>
      <p:sp>
        <p:nvSpPr>
          <p:cNvPr id="19" name="Text 13"/>
          <p:cNvSpPr/>
          <p:nvPr/>
        </p:nvSpPr>
        <p:spPr>
          <a:xfrm>
            <a:off x="8302752" y="2724912"/>
            <a:ext cx="2926080" cy="365760"/>
          </a:xfrm>
          <a:prstGeom prst="rect">
            <a:avLst/>
          </a:prstGeom>
          <a:noFill/>
          <a:ln/>
        </p:spPr>
        <p:txBody>
          <a:bodyPr wrap="square" rtlCol="0" anchor="ctr"/>
          <a:lstStyle/>
          <a:p>
            <a:pPr indent="0" marL="0">
              <a:buNone/>
            </a:pPr>
            <a:r>
              <a:rPr lang="en-US" sz="1500" b="1" dirty="0">
                <a:solidFill>
                  <a:srgbClr val="1C2535"/>
                </a:solidFill>
              </a:rPr>
              <a:t>Sin actor dominante</a:t>
            </a:r>
            <a:endParaRPr lang="en-US" sz="1500" dirty="0"/>
          </a:p>
        </p:txBody>
      </p:sp>
      <p:sp>
        <p:nvSpPr>
          <p:cNvPr id="20" name="Text 14"/>
          <p:cNvSpPr/>
          <p:nvPr/>
        </p:nvSpPr>
        <p:spPr>
          <a:xfrm>
            <a:off x="8302752" y="3108960"/>
            <a:ext cx="2971800" cy="731520"/>
          </a:xfrm>
          <a:prstGeom prst="rect">
            <a:avLst/>
          </a:prstGeom>
          <a:noFill/>
          <a:ln/>
        </p:spPr>
        <p:txBody>
          <a:bodyPr wrap="square" rtlCol="0" anchor="ctr"/>
          <a:lstStyle/>
          <a:p>
            <a:pPr indent="0" marL="0">
              <a:buNone/>
            </a:pPr>
            <a:r>
              <a:rPr lang="en-US" sz="1250" dirty="0">
                <a:solidFill>
                  <a:srgbClr val="6B7280"/>
                </a:solidFill>
              </a:rPr>
              <a:t>Ningún competidor en español combina IA vertical y cumplimiento fiscal local.</a:t>
            </a:r>
            <a:endParaRPr lang="en-US" sz="1250" dirty="0"/>
          </a:p>
        </p:txBody>
      </p:sp>
      <p:sp>
        <p:nvSpPr>
          <p:cNvPr id="21" name="Shape 15"/>
          <p:cNvSpPr/>
          <p:nvPr/>
        </p:nvSpPr>
        <p:spPr>
          <a:xfrm>
            <a:off x="640080" y="4206240"/>
            <a:ext cx="10881360" cy="1737360"/>
          </a:xfrm>
          <a:prstGeom prst="roundRect">
            <a:avLst>
              <a:gd name="adj" fmla="val 4211"/>
            </a:avLst>
          </a:prstGeom>
          <a:solidFill>
            <a:srgbClr val="1C2535"/>
          </a:solidFill>
          <a:ln/>
        </p:spPr>
      </p:sp>
      <p:sp>
        <p:nvSpPr>
          <p:cNvPr id="22" name="Text 16"/>
          <p:cNvSpPr/>
          <p:nvPr/>
        </p:nvSpPr>
        <p:spPr>
          <a:xfrm>
            <a:off x="1005840" y="4434840"/>
            <a:ext cx="2743200" cy="1005840"/>
          </a:xfrm>
          <a:prstGeom prst="rect">
            <a:avLst/>
          </a:prstGeom>
          <a:noFill/>
          <a:ln/>
        </p:spPr>
        <p:txBody>
          <a:bodyPr wrap="square" rtlCol="0" anchor="ctr"/>
          <a:lstStyle/>
          <a:p>
            <a:pPr indent="0" marL="0">
              <a:buNone/>
            </a:pPr>
            <a:r>
              <a:rPr lang="en-US" sz="4600" b="1" dirty="0">
                <a:solidFill>
                  <a:srgbClr val="C8922A"/>
                </a:solidFill>
              </a:rPr>
              <a:t>480 M€</a:t>
            </a:r>
            <a:endParaRPr lang="en-US" sz="4600" dirty="0"/>
          </a:p>
        </p:txBody>
      </p:sp>
      <p:sp>
        <p:nvSpPr>
          <p:cNvPr id="23" name="Text 17"/>
          <p:cNvSpPr/>
          <p:nvPr/>
        </p:nvSpPr>
        <p:spPr>
          <a:xfrm>
            <a:off x="3840480" y="4434840"/>
            <a:ext cx="7406640" cy="1188720"/>
          </a:xfrm>
          <a:prstGeom prst="rect">
            <a:avLst/>
          </a:prstGeom>
          <a:noFill/>
          <a:ln/>
        </p:spPr>
        <p:txBody>
          <a:bodyPr wrap="square" rtlCol="0" anchor="ctr"/>
          <a:lstStyle/>
          <a:p>
            <a:pPr indent="0" marL="0">
              <a:buNone/>
            </a:pPr>
            <a:r>
              <a:rPr lang="en-US" sz="1600" dirty="0">
                <a:solidFill>
                  <a:srgbClr val="FFFFFF"/>
                </a:solidFill>
              </a:rPr>
              <a:t>mercado servible estimado en España, con más del 80% del sector todavía sin digitalizar con IA.</a:t>
            </a:r>
            <a:endParaRPr lang="en-US" sz="1600" dirty="0"/>
          </a:p>
        </p:txBody>
      </p:sp>
      <p:sp>
        <p:nvSpPr>
          <p:cNvPr id="24" name="Text 18"/>
          <p:cNvSpPr/>
          <p:nvPr/>
        </p:nvSpPr>
        <p:spPr>
          <a:xfrm>
            <a:off x="640080" y="6400800"/>
            <a:ext cx="1828800" cy="274320"/>
          </a:xfrm>
          <a:prstGeom prst="rect">
            <a:avLst/>
          </a:prstGeom>
          <a:noFill/>
          <a:ln/>
        </p:spPr>
        <p:txBody>
          <a:bodyPr wrap="square" rtlCol="0" anchor="ctr"/>
          <a:lstStyle/>
          <a:p>
            <a:pPr indent="0" marL="0">
              <a:buNone/>
            </a:pPr>
            <a:r>
              <a:rPr lang="en-US" sz="1100" b="1" dirty="0">
                <a:solidFill>
                  <a:srgbClr val="6B7280"/>
                </a:solidFill>
              </a:rPr>
              <a:t>TradeFlow</a:t>
            </a:r>
            <a:endParaRPr lang="en-US" sz="1100" dirty="0"/>
          </a:p>
        </p:txBody>
      </p:sp>
      <p:sp>
        <p:nvSpPr>
          <p:cNvPr id="25" name="Text 19"/>
          <p:cNvSpPr/>
          <p:nvPr/>
        </p:nvSpPr>
        <p:spPr>
          <a:xfrm>
            <a:off x="11548872" y="6400800"/>
            <a:ext cx="365760" cy="274320"/>
          </a:xfrm>
          <a:prstGeom prst="rect">
            <a:avLst/>
          </a:prstGeom>
          <a:noFill/>
          <a:ln/>
        </p:spPr>
        <p:txBody>
          <a:bodyPr wrap="square" rtlCol="0" anchor="ctr"/>
          <a:lstStyle/>
          <a:p>
            <a:pPr algn="r" indent="0" marL="0">
              <a:buNone/>
            </a:pPr>
            <a:r>
              <a:rPr lang="en-US" sz="1100" dirty="0">
                <a:solidFill>
                  <a:srgbClr val="6B7280"/>
                </a:solidFill>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94360"/>
            <a:ext cx="685800" cy="685800"/>
          </a:xfrm>
          <a:prstGeom prst="ellipse">
            <a:avLst/>
          </a:prstGeom>
          <a:solidFill>
            <a:srgbClr val="1A5A96"/>
          </a:solidFill>
          <a:ln/>
        </p:spPr>
      </p:sp>
      <p:pic>
        <p:nvPicPr>
          <p:cNvPr id="3" name="Image 0" descr="/home/claude/deck/icons/mic.png">    </p:cNvPr>
          <p:cNvPicPr>
            <a:picLocks noChangeAspect="1"/>
          </p:cNvPicPr>
          <p:nvPr/>
        </p:nvPicPr>
        <p:blipFill>
          <a:blip r:embed="rId1"/>
          <a:stretch>
            <a:fillRect/>
          </a:stretch>
        </p:blipFill>
        <p:spPr>
          <a:xfrm>
            <a:off x="729234" y="683514"/>
            <a:ext cx="507492" cy="507492"/>
          </a:xfrm>
          <a:prstGeom prst="rect">
            <a:avLst/>
          </a:prstGeom>
        </p:spPr>
      </p:pic>
      <p:sp>
        <p:nvSpPr>
          <p:cNvPr id="4" name="Text 1"/>
          <p:cNvSpPr/>
          <p:nvPr/>
        </p:nvSpPr>
        <p:spPr>
          <a:xfrm>
            <a:off x="640080" y="384048"/>
            <a:ext cx="7315200" cy="320040"/>
          </a:xfrm>
          <a:prstGeom prst="rect">
            <a:avLst/>
          </a:prstGeom>
          <a:noFill/>
          <a:ln/>
        </p:spPr>
        <p:txBody>
          <a:bodyPr wrap="square" rtlCol="0" anchor="ctr"/>
          <a:lstStyle/>
          <a:p>
            <a:pPr indent="0" marL="0">
              <a:buNone/>
            </a:pPr>
            <a:r>
              <a:rPr lang="en-US" sz="1300" b="1" spc="200" kern="0" dirty="0">
                <a:solidFill>
                  <a:srgbClr val="1A5A96"/>
                </a:solidFill>
                <a:latin typeface="Calibri" pitchFamily="34" charset="0"/>
                <a:ea typeface="Calibri" pitchFamily="34" charset="-122"/>
                <a:cs typeface="Calibri" pitchFamily="34" charset="-120"/>
              </a:rPr>
              <a:t>05 · NUESTRA SOLUCIÓN</a:t>
            </a:r>
            <a:endParaRPr lang="en-US" sz="1300" dirty="0"/>
          </a:p>
        </p:txBody>
      </p:sp>
      <p:sp>
        <p:nvSpPr>
          <p:cNvPr id="5" name="Text 2"/>
          <p:cNvSpPr/>
          <p:nvPr/>
        </p:nvSpPr>
        <p:spPr>
          <a:xfrm>
            <a:off x="1508760" y="566928"/>
            <a:ext cx="9601200" cy="731520"/>
          </a:xfrm>
          <a:prstGeom prst="rect">
            <a:avLst/>
          </a:prstGeom>
          <a:noFill/>
          <a:ln/>
        </p:spPr>
        <p:txBody>
          <a:bodyPr wrap="square" rtlCol="0" anchor="ctr"/>
          <a:lstStyle/>
          <a:p>
            <a:pPr indent="0" marL="0">
              <a:buNone/>
            </a:pPr>
            <a:r>
              <a:rPr lang="en-US" sz="3200" b="1" dirty="0">
                <a:solidFill>
                  <a:srgbClr val="1C2535"/>
                </a:solidFill>
                <a:latin typeface="Cambria" pitchFamily="34" charset="0"/>
                <a:ea typeface="Cambria" pitchFamily="34" charset="-122"/>
                <a:cs typeface="Cambria" pitchFamily="34" charset="-120"/>
              </a:rPr>
              <a:t>De la voz al presupuesto, en 3 minutos</a:t>
            </a:r>
            <a:endParaRPr lang="en-US" sz="3200" dirty="0"/>
          </a:p>
        </p:txBody>
      </p:sp>
      <p:sp>
        <p:nvSpPr>
          <p:cNvPr id="6" name="Shape 3"/>
          <p:cNvSpPr/>
          <p:nvPr/>
        </p:nvSpPr>
        <p:spPr>
          <a:xfrm>
            <a:off x="640080" y="2011680"/>
            <a:ext cx="2514600" cy="2468880"/>
          </a:xfrm>
          <a:prstGeom prst="roundRect">
            <a:avLst>
              <a:gd name="adj" fmla="val 2963"/>
            </a:avLst>
          </a:prstGeom>
          <a:solidFill>
            <a:srgbClr val="F4F6F8"/>
          </a:solidFill>
          <a:ln/>
          <a:effectLst>
            <a:outerShdw sx="100000" sy="100000" kx="0" ky="0" algn="bl" rotWithShape="0" blurRad="101600" dist="38100" dir="2700000">
              <a:srgbClr val="000000">
                <a:alpha val="12000"/>
              </a:srgbClr>
            </a:outerShdw>
          </a:effectLst>
        </p:spPr>
      </p:sp>
      <p:sp>
        <p:nvSpPr>
          <p:cNvPr id="7" name="Shape 4"/>
          <p:cNvSpPr/>
          <p:nvPr/>
        </p:nvSpPr>
        <p:spPr>
          <a:xfrm>
            <a:off x="1577340" y="2286000"/>
            <a:ext cx="640080" cy="640080"/>
          </a:xfrm>
          <a:prstGeom prst="ellipse">
            <a:avLst/>
          </a:prstGeom>
          <a:solidFill>
            <a:srgbClr val="1A5A96"/>
          </a:solidFill>
          <a:ln/>
        </p:spPr>
      </p:sp>
      <p:pic>
        <p:nvPicPr>
          <p:cNvPr id="8" name="Image 1" descr="/home/claude/deck/icons/mic.png">    </p:cNvPr>
          <p:cNvPicPr>
            <a:picLocks noChangeAspect="1"/>
          </p:cNvPicPr>
          <p:nvPr/>
        </p:nvPicPr>
        <p:blipFill>
          <a:blip r:embed="rId2"/>
          <a:stretch>
            <a:fillRect/>
          </a:stretch>
        </p:blipFill>
        <p:spPr>
          <a:xfrm>
            <a:off x="1660550" y="2369210"/>
            <a:ext cx="473659" cy="473659"/>
          </a:xfrm>
          <a:prstGeom prst="rect">
            <a:avLst/>
          </a:prstGeom>
        </p:spPr>
      </p:pic>
      <p:sp>
        <p:nvSpPr>
          <p:cNvPr id="9" name="Text 5"/>
          <p:cNvSpPr/>
          <p:nvPr/>
        </p:nvSpPr>
        <p:spPr>
          <a:xfrm>
            <a:off x="640080" y="3063240"/>
            <a:ext cx="2514600" cy="365760"/>
          </a:xfrm>
          <a:prstGeom prst="rect">
            <a:avLst/>
          </a:prstGeom>
          <a:noFill/>
          <a:ln/>
        </p:spPr>
        <p:txBody>
          <a:bodyPr wrap="square" rtlCol="0" anchor="ctr"/>
          <a:lstStyle/>
          <a:p>
            <a:pPr algn="ctr" indent="0" marL="0">
              <a:buNone/>
            </a:pPr>
            <a:r>
              <a:rPr lang="en-US" sz="1600" b="1" dirty="0">
                <a:solidFill>
                  <a:srgbClr val="1C2535"/>
                </a:solidFill>
              </a:rPr>
              <a:t>Voz</a:t>
            </a:r>
            <a:endParaRPr lang="en-US" sz="1600" dirty="0"/>
          </a:p>
        </p:txBody>
      </p:sp>
      <p:sp>
        <p:nvSpPr>
          <p:cNvPr id="10" name="Text 6"/>
          <p:cNvSpPr/>
          <p:nvPr/>
        </p:nvSpPr>
        <p:spPr>
          <a:xfrm>
            <a:off x="777240" y="3474720"/>
            <a:ext cx="2240280" cy="914400"/>
          </a:xfrm>
          <a:prstGeom prst="rect">
            <a:avLst/>
          </a:prstGeom>
          <a:noFill/>
          <a:ln/>
        </p:spPr>
        <p:txBody>
          <a:bodyPr wrap="square" rtlCol="0" anchor="ctr"/>
          <a:lstStyle/>
          <a:p>
            <a:pPr algn="ctr" indent="0" marL="0">
              <a:buNone/>
            </a:pPr>
            <a:r>
              <a:rPr lang="en-US" sz="1150" dirty="0">
                <a:solidFill>
                  <a:srgbClr val="6B7280"/>
                </a:solidFill>
              </a:rPr>
              <a:t>El instalador describe el trabajo, hablando, desde la obra</a:t>
            </a:r>
            <a:endParaRPr lang="en-US" sz="1150" dirty="0"/>
          </a:p>
        </p:txBody>
      </p:sp>
      <p:sp>
        <p:nvSpPr>
          <p:cNvPr id="11" name="Text 7"/>
          <p:cNvSpPr/>
          <p:nvPr/>
        </p:nvSpPr>
        <p:spPr>
          <a:xfrm>
            <a:off x="3154680" y="2788920"/>
            <a:ext cx="228600" cy="548640"/>
          </a:xfrm>
          <a:prstGeom prst="rect">
            <a:avLst/>
          </a:prstGeom>
          <a:noFill/>
          <a:ln/>
        </p:spPr>
        <p:txBody>
          <a:bodyPr wrap="square" rtlCol="0" anchor="ctr"/>
          <a:lstStyle/>
          <a:p>
            <a:pPr algn="ctr" indent="0" marL="0">
              <a:buNone/>
            </a:pPr>
            <a:r>
              <a:rPr lang="en-US" sz="2600" b="1" dirty="0">
                <a:solidFill>
                  <a:srgbClr val="C8922A"/>
                </a:solidFill>
                <a:latin typeface="Arial" pitchFamily="34" charset="0"/>
                <a:ea typeface="Arial" pitchFamily="34" charset="-122"/>
                <a:cs typeface="Arial" pitchFamily="34" charset="-120"/>
              </a:rPr>
              <a:t>&gt;</a:t>
            </a:r>
            <a:endParaRPr lang="en-US" sz="2600" dirty="0"/>
          </a:p>
        </p:txBody>
      </p:sp>
      <p:sp>
        <p:nvSpPr>
          <p:cNvPr id="12" name="Shape 8"/>
          <p:cNvSpPr/>
          <p:nvPr/>
        </p:nvSpPr>
        <p:spPr>
          <a:xfrm>
            <a:off x="3383280" y="2011680"/>
            <a:ext cx="2514600" cy="2468880"/>
          </a:xfrm>
          <a:prstGeom prst="roundRect">
            <a:avLst>
              <a:gd name="adj" fmla="val 2963"/>
            </a:avLst>
          </a:prstGeom>
          <a:solidFill>
            <a:srgbClr val="F4F6F8"/>
          </a:solidFill>
          <a:ln/>
          <a:effectLst>
            <a:outerShdw sx="100000" sy="100000" kx="0" ky="0" algn="bl" rotWithShape="0" blurRad="101600" dist="38100" dir="2700000">
              <a:srgbClr val="000000">
                <a:alpha val="12000"/>
              </a:srgbClr>
            </a:outerShdw>
          </a:effectLst>
        </p:spPr>
      </p:sp>
      <p:sp>
        <p:nvSpPr>
          <p:cNvPr id="13" name="Shape 9"/>
          <p:cNvSpPr/>
          <p:nvPr/>
        </p:nvSpPr>
        <p:spPr>
          <a:xfrm>
            <a:off x="4320540" y="2286000"/>
            <a:ext cx="640080" cy="640080"/>
          </a:xfrm>
          <a:prstGeom prst="ellipse">
            <a:avLst/>
          </a:prstGeom>
          <a:solidFill>
            <a:srgbClr val="1A5A96"/>
          </a:solidFill>
          <a:ln/>
        </p:spPr>
      </p:sp>
      <p:pic>
        <p:nvPicPr>
          <p:cNvPr id="14" name="Image 2" descr="/home/claude/deck/icons/brain.png">    </p:cNvPr>
          <p:cNvPicPr>
            <a:picLocks noChangeAspect="1"/>
          </p:cNvPicPr>
          <p:nvPr/>
        </p:nvPicPr>
        <p:blipFill>
          <a:blip r:embed="rId3"/>
          <a:stretch>
            <a:fillRect/>
          </a:stretch>
        </p:blipFill>
        <p:spPr>
          <a:xfrm>
            <a:off x="4403750" y="2369210"/>
            <a:ext cx="473659" cy="473659"/>
          </a:xfrm>
          <a:prstGeom prst="rect">
            <a:avLst/>
          </a:prstGeom>
        </p:spPr>
      </p:pic>
      <p:sp>
        <p:nvSpPr>
          <p:cNvPr id="15" name="Text 10"/>
          <p:cNvSpPr/>
          <p:nvPr/>
        </p:nvSpPr>
        <p:spPr>
          <a:xfrm>
            <a:off x="3383280" y="3063240"/>
            <a:ext cx="2514600" cy="365760"/>
          </a:xfrm>
          <a:prstGeom prst="rect">
            <a:avLst/>
          </a:prstGeom>
          <a:noFill/>
          <a:ln/>
        </p:spPr>
        <p:txBody>
          <a:bodyPr wrap="square" rtlCol="0" anchor="ctr"/>
          <a:lstStyle/>
          <a:p>
            <a:pPr algn="ctr" indent="0" marL="0">
              <a:buNone/>
            </a:pPr>
            <a:r>
              <a:rPr lang="en-US" sz="1600" b="1" dirty="0">
                <a:solidFill>
                  <a:srgbClr val="1C2535"/>
                </a:solidFill>
              </a:rPr>
              <a:t>IA</a:t>
            </a:r>
            <a:endParaRPr lang="en-US" sz="1600" dirty="0"/>
          </a:p>
        </p:txBody>
      </p:sp>
      <p:sp>
        <p:nvSpPr>
          <p:cNvPr id="16" name="Text 11"/>
          <p:cNvSpPr/>
          <p:nvPr/>
        </p:nvSpPr>
        <p:spPr>
          <a:xfrm>
            <a:off x="3520440" y="3474720"/>
            <a:ext cx="2240280" cy="914400"/>
          </a:xfrm>
          <a:prstGeom prst="rect">
            <a:avLst/>
          </a:prstGeom>
          <a:noFill/>
          <a:ln/>
        </p:spPr>
        <p:txBody>
          <a:bodyPr wrap="square" rtlCol="0" anchor="ctr"/>
          <a:lstStyle/>
          <a:p>
            <a:pPr algn="ctr" indent="0" marL="0">
              <a:buNone/>
            </a:pPr>
            <a:r>
              <a:rPr lang="en-US" sz="1150" dirty="0">
                <a:solidFill>
                  <a:srgbClr val="6B7280"/>
                </a:solidFill>
              </a:rPr>
              <a:t>Identifica el oficio y recupera el precio real de mercado</a:t>
            </a:r>
            <a:endParaRPr lang="en-US" sz="1150" dirty="0"/>
          </a:p>
        </p:txBody>
      </p:sp>
      <p:sp>
        <p:nvSpPr>
          <p:cNvPr id="17" name="Text 12"/>
          <p:cNvSpPr/>
          <p:nvPr/>
        </p:nvSpPr>
        <p:spPr>
          <a:xfrm>
            <a:off x="5897880" y="2788920"/>
            <a:ext cx="228600" cy="548640"/>
          </a:xfrm>
          <a:prstGeom prst="rect">
            <a:avLst/>
          </a:prstGeom>
          <a:noFill/>
          <a:ln/>
        </p:spPr>
        <p:txBody>
          <a:bodyPr wrap="square" rtlCol="0" anchor="ctr"/>
          <a:lstStyle/>
          <a:p>
            <a:pPr algn="ctr" indent="0" marL="0">
              <a:buNone/>
            </a:pPr>
            <a:r>
              <a:rPr lang="en-US" sz="2600" b="1" dirty="0">
                <a:solidFill>
                  <a:srgbClr val="C8922A"/>
                </a:solidFill>
                <a:latin typeface="Arial" pitchFamily="34" charset="0"/>
                <a:ea typeface="Arial" pitchFamily="34" charset="-122"/>
                <a:cs typeface="Arial" pitchFamily="34" charset="-120"/>
              </a:rPr>
              <a:t>&gt;</a:t>
            </a:r>
            <a:endParaRPr lang="en-US" sz="2600" dirty="0"/>
          </a:p>
        </p:txBody>
      </p:sp>
      <p:sp>
        <p:nvSpPr>
          <p:cNvPr id="18" name="Shape 13"/>
          <p:cNvSpPr/>
          <p:nvPr/>
        </p:nvSpPr>
        <p:spPr>
          <a:xfrm>
            <a:off x="6126480" y="2011680"/>
            <a:ext cx="2514600" cy="2468880"/>
          </a:xfrm>
          <a:prstGeom prst="roundRect">
            <a:avLst>
              <a:gd name="adj" fmla="val 2963"/>
            </a:avLst>
          </a:prstGeom>
          <a:solidFill>
            <a:srgbClr val="F4F6F8"/>
          </a:solidFill>
          <a:ln/>
          <a:effectLst>
            <a:outerShdw sx="100000" sy="100000" kx="0" ky="0" algn="bl" rotWithShape="0" blurRad="101600" dist="38100" dir="2700000">
              <a:srgbClr val="000000">
                <a:alpha val="12000"/>
              </a:srgbClr>
            </a:outerShdw>
          </a:effectLst>
        </p:spPr>
      </p:sp>
      <p:sp>
        <p:nvSpPr>
          <p:cNvPr id="19" name="Shape 14"/>
          <p:cNvSpPr/>
          <p:nvPr/>
        </p:nvSpPr>
        <p:spPr>
          <a:xfrm>
            <a:off x="7063740" y="2286000"/>
            <a:ext cx="640080" cy="640080"/>
          </a:xfrm>
          <a:prstGeom prst="ellipse">
            <a:avLst/>
          </a:prstGeom>
          <a:solidFill>
            <a:srgbClr val="1A5A96"/>
          </a:solidFill>
          <a:ln/>
        </p:spPr>
      </p:sp>
      <p:pic>
        <p:nvPicPr>
          <p:cNvPr id="20" name="Image 3" descr="/home/claude/deck/icons/layer.png">    </p:cNvPr>
          <p:cNvPicPr>
            <a:picLocks noChangeAspect="1"/>
          </p:cNvPicPr>
          <p:nvPr/>
        </p:nvPicPr>
        <p:blipFill>
          <a:blip r:embed="rId4"/>
          <a:stretch>
            <a:fillRect/>
          </a:stretch>
        </p:blipFill>
        <p:spPr>
          <a:xfrm>
            <a:off x="7146950" y="2369210"/>
            <a:ext cx="473659" cy="473659"/>
          </a:xfrm>
          <a:prstGeom prst="rect">
            <a:avLst/>
          </a:prstGeom>
        </p:spPr>
      </p:pic>
      <p:sp>
        <p:nvSpPr>
          <p:cNvPr id="21" name="Text 15"/>
          <p:cNvSpPr/>
          <p:nvPr/>
        </p:nvSpPr>
        <p:spPr>
          <a:xfrm>
            <a:off x="6126480" y="3063240"/>
            <a:ext cx="2514600" cy="365760"/>
          </a:xfrm>
          <a:prstGeom prst="rect">
            <a:avLst/>
          </a:prstGeom>
          <a:noFill/>
          <a:ln/>
        </p:spPr>
        <p:txBody>
          <a:bodyPr wrap="square" rtlCol="0" anchor="ctr"/>
          <a:lstStyle/>
          <a:p>
            <a:pPr algn="ctr" indent="0" marL="0">
              <a:buNone/>
            </a:pPr>
            <a:r>
              <a:rPr lang="en-US" sz="1600" b="1" dirty="0">
                <a:solidFill>
                  <a:srgbClr val="1C2535"/>
                </a:solidFill>
              </a:rPr>
              <a:t>Presupuesto</a:t>
            </a:r>
            <a:endParaRPr lang="en-US" sz="1600" dirty="0"/>
          </a:p>
        </p:txBody>
      </p:sp>
      <p:sp>
        <p:nvSpPr>
          <p:cNvPr id="22" name="Text 16"/>
          <p:cNvSpPr/>
          <p:nvPr/>
        </p:nvSpPr>
        <p:spPr>
          <a:xfrm>
            <a:off x="6263640" y="3474720"/>
            <a:ext cx="2240280" cy="914400"/>
          </a:xfrm>
          <a:prstGeom prst="rect">
            <a:avLst/>
          </a:prstGeom>
          <a:noFill/>
          <a:ln/>
        </p:spPr>
        <p:txBody>
          <a:bodyPr wrap="square" rtlCol="0" anchor="ctr"/>
          <a:lstStyle/>
          <a:p>
            <a:pPr algn="ctr" indent="0" marL="0">
              <a:buNone/>
            </a:pPr>
            <a:r>
              <a:rPr lang="en-US" sz="1150" dirty="0">
                <a:solidFill>
                  <a:srgbClr val="6B7280"/>
                </a:solidFill>
              </a:rPr>
              <a:t>Documento profesional estructurado, listo en minutos</a:t>
            </a:r>
            <a:endParaRPr lang="en-US" sz="1150" dirty="0"/>
          </a:p>
        </p:txBody>
      </p:sp>
      <p:sp>
        <p:nvSpPr>
          <p:cNvPr id="23" name="Text 17"/>
          <p:cNvSpPr/>
          <p:nvPr/>
        </p:nvSpPr>
        <p:spPr>
          <a:xfrm>
            <a:off x="8641080" y="2788920"/>
            <a:ext cx="228600" cy="548640"/>
          </a:xfrm>
          <a:prstGeom prst="rect">
            <a:avLst/>
          </a:prstGeom>
          <a:noFill/>
          <a:ln/>
        </p:spPr>
        <p:txBody>
          <a:bodyPr wrap="square" rtlCol="0" anchor="ctr"/>
          <a:lstStyle/>
          <a:p>
            <a:pPr algn="ctr" indent="0" marL="0">
              <a:buNone/>
            </a:pPr>
            <a:r>
              <a:rPr lang="en-US" sz="2600" b="1" dirty="0">
                <a:solidFill>
                  <a:srgbClr val="C8922A"/>
                </a:solidFill>
                <a:latin typeface="Arial" pitchFamily="34" charset="0"/>
                <a:ea typeface="Arial" pitchFamily="34" charset="-122"/>
                <a:cs typeface="Arial" pitchFamily="34" charset="-120"/>
              </a:rPr>
              <a:t>&gt;</a:t>
            </a:r>
            <a:endParaRPr lang="en-US" sz="2600" dirty="0"/>
          </a:p>
        </p:txBody>
      </p:sp>
      <p:sp>
        <p:nvSpPr>
          <p:cNvPr id="24" name="Shape 18"/>
          <p:cNvSpPr/>
          <p:nvPr/>
        </p:nvSpPr>
        <p:spPr>
          <a:xfrm>
            <a:off x="8869680" y="2011680"/>
            <a:ext cx="2514600" cy="2468880"/>
          </a:xfrm>
          <a:prstGeom prst="roundRect">
            <a:avLst>
              <a:gd name="adj" fmla="val 2963"/>
            </a:avLst>
          </a:prstGeom>
          <a:solidFill>
            <a:srgbClr val="F4F6F8"/>
          </a:solidFill>
          <a:ln/>
          <a:effectLst>
            <a:outerShdw sx="100000" sy="100000" kx="0" ky="0" algn="bl" rotWithShape="0" blurRad="101600" dist="38100" dir="2700000">
              <a:srgbClr val="000000">
                <a:alpha val="12000"/>
              </a:srgbClr>
            </a:outerShdw>
          </a:effectLst>
        </p:spPr>
      </p:sp>
      <p:sp>
        <p:nvSpPr>
          <p:cNvPr id="25" name="Shape 19"/>
          <p:cNvSpPr/>
          <p:nvPr/>
        </p:nvSpPr>
        <p:spPr>
          <a:xfrm>
            <a:off x="9806940" y="2286000"/>
            <a:ext cx="640080" cy="640080"/>
          </a:xfrm>
          <a:prstGeom prst="ellipse">
            <a:avLst/>
          </a:prstGeom>
          <a:solidFill>
            <a:srgbClr val="1A5A96"/>
          </a:solidFill>
          <a:ln/>
        </p:spPr>
      </p:sp>
      <p:pic>
        <p:nvPicPr>
          <p:cNvPr id="26" name="Image 4" descr="/home/claude/deck/icons/whatsapp.png">    </p:cNvPr>
          <p:cNvPicPr>
            <a:picLocks noChangeAspect="1"/>
          </p:cNvPicPr>
          <p:nvPr/>
        </p:nvPicPr>
        <p:blipFill>
          <a:blip r:embed="rId5"/>
          <a:stretch>
            <a:fillRect/>
          </a:stretch>
        </p:blipFill>
        <p:spPr>
          <a:xfrm>
            <a:off x="9890150" y="2369210"/>
            <a:ext cx="473659" cy="473659"/>
          </a:xfrm>
          <a:prstGeom prst="rect">
            <a:avLst/>
          </a:prstGeom>
        </p:spPr>
      </p:pic>
      <p:sp>
        <p:nvSpPr>
          <p:cNvPr id="27" name="Text 20"/>
          <p:cNvSpPr/>
          <p:nvPr/>
        </p:nvSpPr>
        <p:spPr>
          <a:xfrm>
            <a:off x="8869680" y="3063240"/>
            <a:ext cx="2514600" cy="365760"/>
          </a:xfrm>
          <a:prstGeom prst="rect">
            <a:avLst/>
          </a:prstGeom>
          <a:noFill/>
          <a:ln/>
        </p:spPr>
        <p:txBody>
          <a:bodyPr wrap="square" rtlCol="0" anchor="ctr"/>
          <a:lstStyle/>
          <a:p>
            <a:pPr algn="ctr" indent="0" marL="0">
              <a:buNone/>
            </a:pPr>
            <a:r>
              <a:rPr lang="en-US" sz="1600" b="1" dirty="0">
                <a:solidFill>
                  <a:srgbClr val="1C2535"/>
                </a:solidFill>
              </a:rPr>
              <a:t>Envío y cobro</a:t>
            </a:r>
            <a:endParaRPr lang="en-US" sz="1600" dirty="0"/>
          </a:p>
        </p:txBody>
      </p:sp>
      <p:sp>
        <p:nvSpPr>
          <p:cNvPr id="28" name="Text 21"/>
          <p:cNvSpPr/>
          <p:nvPr/>
        </p:nvSpPr>
        <p:spPr>
          <a:xfrm>
            <a:off x="9006840" y="3474720"/>
            <a:ext cx="2240280" cy="914400"/>
          </a:xfrm>
          <a:prstGeom prst="rect">
            <a:avLst/>
          </a:prstGeom>
          <a:noFill/>
          <a:ln/>
        </p:spPr>
        <p:txBody>
          <a:bodyPr wrap="square" rtlCol="0" anchor="ctr"/>
          <a:lstStyle/>
          <a:p>
            <a:pPr algn="ctr" indent="0" marL="0">
              <a:buNone/>
            </a:pPr>
            <a:r>
              <a:rPr lang="en-US" sz="1150" dirty="0">
                <a:solidFill>
                  <a:srgbClr val="6B7280"/>
                </a:solidFill>
              </a:rPr>
              <a:t>WhatsApp al cliente; factura legal tras la aceptación</a:t>
            </a:r>
            <a:endParaRPr lang="en-US" sz="1150" dirty="0"/>
          </a:p>
        </p:txBody>
      </p:sp>
      <p:sp>
        <p:nvSpPr>
          <p:cNvPr id="29" name="Text 22"/>
          <p:cNvSpPr/>
          <p:nvPr/>
        </p:nvSpPr>
        <p:spPr>
          <a:xfrm>
            <a:off x="640080" y="4846320"/>
            <a:ext cx="10881360" cy="731520"/>
          </a:xfrm>
          <a:prstGeom prst="rect">
            <a:avLst/>
          </a:prstGeom>
          <a:noFill/>
          <a:ln/>
        </p:spPr>
        <p:txBody>
          <a:bodyPr wrap="square" rtlCol="0" anchor="ctr"/>
          <a:lstStyle/>
          <a:p>
            <a:pPr indent="0" marL="0">
              <a:buNone/>
            </a:pPr>
            <a:r>
              <a:rPr lang="en-US" sz="1400" i="1" dirty="0">
                <a:solidFill>
                  <a:srgbClr val="374151"/>
                </a:solidFill>
              </a:rPr>
              <a:t>Sin inventar nunca un precio: el sistema recupera información verificada de una base de conocimiento propia de más de 2.000 actuaciones de oficio.</a:t>
            </a:r>
            <a:endParaRPr lang="en-US" sz="1400" dirty="0"/>
          </a:p>
        </p:txBody>
      </p:sp>
      <p:sp>
        <p:nvSpPr>
          <p:cNvPr id="30" name="Text 23"/>
          <p:cNvSpPr/>
          <p:nvPr/>
        </p:nvSpPr>
        <p:spPr>
          <a:xfrm>
            <a:off x="640080" y="6400800"/>
            <a:ext cx="1828800" cy="274320"/>
          </a:xfrm>
          <a:prstGeom prst="rect">
            <a:avLst/>
          </a:prstGeom>
          <a:noFill/>
          <a:ln/>
        </p:spPr>
        <p:txBody>
          <a:bodyPr wrap="square" rtlCol="0" anchor="ctr"/>
          <a:lstStyle/>
          <a:p>
            <a:pPr indent="0" marL="0">
              <a:buNone/>
            </a:pPr>
            <a:r>
              <a:rPr lang="en-US" sz="1100" b="1" dirty="0">
                <a:solidFill>
                  <a:srgbClr val="6B7280"/>
                </a:solidFill>
              </a:rPr>
              <a:t>TradeFlow</a:t>
            </a:r>
            <a:endParaRPr lang="en-US" sz="1100" dirty="0"/>
          </a:p>
        </p:txBody>
      </p:sp>
      <p:sp>
        <p:nvSpPr>
          <p:cNvPr id="31" name="Text 24"/>
          <p:cNvSpPr/>
          <p:nvPr/>
        </p:nvSpPr>
        <p:spPr>
          <a:xfrm>
            <a:off x="11548872" y="6400800"/>
            <a:ext cx="365760" cy="274320"/>
          </a:xfrm>
          <a:prstGeom prst="rect">
            <a:avLst/>
          </a:prstGeom>
          <a:noFill/>
          <a:ln/>
        </p:spPr>
        <p:txBody>
          <a:bodyPr wrap="square" rtlCol="0" anchor="ctr"/>
          <a:lstStyle/>
          <a:p>
            <a:pPr algn="r" indent="0" marL="0">
              <a:buNone/>
            </a:pPr>
            <a:r>
              <a:rPr lang="en-US" sz="1100" dirty="0">
                <a:solidFill>
                  <a:srgbClr val="6B7280"/>
                </a:solidFill>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94360"/>
            <a:ext cx="685800" cy="685800"/>
          </a:xfrm>
          <a:prstGeom prst="ellipse">
            <a:avLst/>
          </a:prstGeom>
          <a:solidFill>
            <a:srgbClr val="1C2535"/>
          </a:solidFill>
          <a:ln/>
        </p:spPr>
      </p:sp>
      <p:pic>
        <p:nvPicPr>
          <p:cNvPr id="3" name="Image 0" descr="/home/claude/deck/icons/cloud.png">    </p:cNvPr>
          <p:cNvPicPr>
            <a:picLocks noChangeAspect="1"/>
          </p:cNvPicPr>
          <p:nvPr/>
        </p:nvPicPr>
        <p:blipFill>
          <a:blip r:embed="rId1"/>
          <a:stretch>
            <a:fillRect/>
          </a:stretch>
        </p:blipFill>
        <p:spPr>
          <a:xfrm>
            <a:off x="729234" y="683514"/>
            <a:ext cx="507492" cy="507492"/>
          </a:xfrm>
          <a:prstGeom prst="rect">
            <a:avLst/>
          </a:prstGeom>
        </p:spPr>
      </p:pic>
      <p:sp>
        <p:nvSpPr>
          <p:cNvPr id="4" name="Text 1"/>
          <p:cNvSpPr/>
          <p:nvPr/>
        </p:nvSpPr>
        <p:spPr>
          <a:xfrm>
            <a:off x="640080" y="384048"/>
            <a:ext cx="7315200" cy="320040"/>
          </a:xfrm>
          <a:prstGeom prst="rect">
            <a:avLst/>
          </a:prstGeom>
          <a:noFill/>
          <a:ln/>
        </p:spPr>
        <p:txBody>
          <a:bodyPr wrap="square" rtlCol="0" anchor="ctr"/>
          <a:lstStyle/>
          <a:p>
            <a:pPr indent="0" marL="0">
              <a:buNone/>
            </a:pPr>
            <a:r>
              <a:rPr lang="en-US" sz="1300" b="1" spc="200" kern="0" dirty="0">
                <a:solidFill>
                  <a:srgbClr val="1C2535"/>
                </a:solidFill>
                <a:latin typeface="Calibri" pitchFamily="34" charset="0"/>
                <a:ea typeface="Calibri" pitchFamily="34" charset="-122"/>
                <a:cs typeface="Calibri" pitchFamily="34" charset="-120"/>
              </a:rPr>
              <a:t>06 · TECNOLOGÍA</a:t>
            </a:r>
            <a:endParaRPr lang="en-US" sz="1300" dirty="0"/>
          </a:p>
        </p:txBody>
      </p:sp>
      <p:sp>
        <p:nvSpPr>
          <p:cNvPr id="5" name="Text 2"/>
          <p:cNvSpPr/>
          <p:nvPr/>
        </p:nvSpPr>
        <p:spPr>
          <a:xfrm>
            <a:off x="1508760" y="566928"/>
            <a:ext cx="10058400" cy="731520"/>
          </a:xfrm>
          <a:prstGeom prst="rect">
            <a:avLst/>
          </a:prstGeom>
          <a:noFill/>
          <a:ln/>
        </p:spPr>
        <p:txBody>
          <a:bodyPr wrap="square" rtlCol="0" anchor="ctr"/>
          <a:lstStyle/>
          <a:p>
            <a:pPr indent="0" marL="0">
              <a:buNone/>
            </a:pPr>
            <a:r>
              <a:rPr lang="en-US" sz="3000" b="1" dirty="0">
                <a:solidFill>
                  <a:srgbClr val="1C2535"/>
                </a:solidFill>
                <a:latin typeface="Cambria" pitchFamily="34" charset="0"/>
                <a:ea typeface="Cambria" pitchFamily="34" charset="-122"/>
                <a:cs typeface="Cambria" pitchFamily="34" charset="-120"/>
              </a:rPr>
              <a:t>Arquitectura cloud, IA de última generación</a:t>
            </a:r>
            <a:endParaRPr lang="en-US" sz="3000" dirty="0"/>
          </a:p>
        </p:txBody>
      </p:sp>
      <p:sp>
        <p:nvSpPr>
          <p:cNvPr id="6" name="Shape 3"/>
          <p:cNvSpPr/>
          <p:nvPr/>
        </p:nvSpPr>
        <p:spPr>
          <a:xfrm>
            <a:off x="640080" y="1874520"/>
            <a:ext cx="5212080" cy="1691640"/>
          </a:xfrm>
          <a:prstGeom prst="roundRect">
            <a:avLst>
              <a:gd name="adj" fmla="val 4324"/>
            </a:avLst>
          </a:prstGeom>
          <a:solidFill>
            <a:srgbClr val="F4F6F8"/>
          </a:solidFill>
          <a:ln/>
          <a:effectLst>
            <a:outerShdw sx="100000" sy="100000" kx="0" ky="0" algn="bl" rotWithShape="0" blurRad="101600" dist="38100" dir="2700000">
              <a:srgbClr val="000000">
                <a:alpha val="12000"/>
              </a:srgbClr>
            </a:outerShdw>
          </a:effectLst>
        </p:spPr>
      </p:sp>
      <p:sp>
        <p:nvSpPr>
          <p:cNvPr id="7" name="Shape 4"/>
          <p:cNvSpPr/>
          <p:nvPr/>
        </p:nvSpPr>
        <p:spPr>
          <a:xfrm>
            <a:off x="914400" y="2148840"/>
            <a:ext cx="640080" cy="640080"/>
          </a:xfrm>
          <a:prstGeom prst="ellipse">
            <a:avLst/>
          </a:prstGeom>
          <a:solidFill>
            <a:srgbClr val="1A5A96"/>
          </a:solidFill>
          <a:ln/>
        </p:spPr>
      </p:sp>
      <p:pic>
        <p:nvPicPr>
          <p:cNvPr id="8" name="Image 1" descr="/home/claude/deck/icons/network.png">    </p:cNvPr>
          <p:cNvPicPr>
            <a:picLocks noChangeAspect="1"/>
          </p:cNvPicPr>
          <p:nvPr/>
        </p:nvPicPr>
        <p:blipFill>
          <a:blip r:embed="rId2"/>
          <a:stretch>
            <a:fillRect/>
          </a:stretch>
        </p:blipFill>
        <p:spPr>
          <a:xfrm>
            <a:off x="997610" y="2232050"/>
            <a:ext cx="473659" cy="473659"/>
          </a:xfrm>
          <a:prstGeom prst="rect">
            <a:avLst/>
          </a:prstGeom>
        </p:spPr>
      </p:pic>
      <p:sp>
        <p:nvSpPr>
          <p:cNvPr id="9" name="Text 5"/>
          <p:cNvSpPr/>
          <p:nvPr/>
        </p:nvSpPr>
        <p:spPr>
          <a:xfrm>
            <a:off x="1737360" y="2130552"/>
            <a:ext cx="3749040" cy="365760"/>
          </a:xfrm>
          <a:prstGeom prst="rect">
            <a:avLst/>
          </a:prstGeom>
          <a:noFill/>
          <a:ln/>
        </p:spPr>
        <p:txBody>
          <a:bodyPr wrap="square" rtlCol="0" anchor="ctr"/>
          <a:lstStyle/>
          <a:p>
            <a:pPr indent="0" marL="0">
              <a:buNone/>
            </a:pPr>
            <a:r>
              <a:rPr lang="en-US" sz="1600" b="1" dirty="0">
                <a:solidFill>
                  <a:srgbClr val="1C2535"/>
                </a:solidFill>
              </a:rPr>
              <a:t>Interfaz</a:t>
            </a:r>
            <a:endParaRPr lang="en-US" sz="1600" dirty="0"/>
          </a:p>
        </p:txBody>
      </p:sp>
      <p:sp>
        <p:nvSpPr>
          <p:cNvPr id="10" name="Text 6"/>
          <p:cNvSpPr/>
          <p:nvPr/>
        </p:nvSpPr>
        <p:spPr>
          <a:xfrm>
            <a:off x="1737360" y="2532888"/>
            <a:ext cx="3840480" cy="822960"/>
          </a:xfrm>
          <a:prstGeom prst="rect">
            <a:avLst/>
          </a:prstGeom>
          <a:noFill/>
          <a:ln/>
        </p:spPr>
        <p:txBody>
          <a:bodyPr wrap="square" rtlCol="0" anchor="ctr"/>
          <a:lstStyle/>
          <a:p>
            <a:pPr indent="0" marL="0">
              <a:buNone/>
            </a:pPr>
            <a:r>
              <a:rPr lang="en-US" sz="1250" dirty="0">
                <a:solidFill>
                  <a:srgbClr val="6B7280"/>
                </a:solidFill>
              </a:rPr>
              <a:t>React, TypeScript — aplicación web y móvil</a:t>
            </a:r>
            <a:endParaRPr lang="en-US" sz="1250" dirty="0"/>
          </a:p>
        </p:txBody>
      </p:sp>
      <p:sp>
        <p:nvSpPr>
          <p:cNvPr id="11" name="Shape 7"/>
          <p:cNvSpPr/>
          <p:nvPr/>
        </p:nvSpPr>
        <p:spPr>
          <a:xfrm>
            <a:off x="6126480" y="1874520"/>
            <a:ext cx="5212080" cy="1691640"/>
          </a:xfrm>
          <a:prstGeom prst="roundRect">
            <a:avLst>
              <a:gd name="adj" fmla="val 4324"/>
            </a:avLst>
          </a:prstGeom>
          <a:solidFill>
            <a:srgbClr val="F4F6F8"/>
          </a:solidFill>
          <a:ln/>
          <a:effectLst>
            <a:outerShdw sx="100000" sy="100000" kx="0" ky="0" algn="bl" rotWithShape="0" blurRad="101600" dist="38100" dir="2700000">
              <a:srgbClr val="000000">
                <a:alpha val="12000"/>
              </a:srgbClr>
            </a:outerShdw>
          </a:effectLst>
        </p:spPr>
      </p:sp>
      <p:sp>
        <p:nvSpPr>
          <p:cNvPr id="12" name="Shape 8"/>
          <p:cNvSpPr/>
          <p:nvPr/>
        </p:nvSpPr>
        <p:spPr>
          <a:xfrm>
            <a:off x="6400800" y="2148840"/>
            <a:ext cx="640080" cy="640080"/>
          </a:xfrm>
          <a:prstGeom prst="ellipse">
            <a:avLst/>
          </a:prstGeom>
          <a:solidFill>
            <a:srgbClr val="1A5A96"/>
          </a:solidFill>
          <a:ln/>
        </p:spPr>
      </p:sp>
      <p:pic>
        <p:nvPicPr>
          <p:cNvPr id="13" name="Image 2" descr="/home/claude/deck/icons/brain.png">    </p:cNvPr>
          <p:cNvPicPr>
            <a:picLocks noChangeAspect="1"/>
          </p:cNvPicPr>
          <p:nvPr/>
        </p:nvPicPr>
        <p:blipFill>
          <a:blip r:embed="rId3"/>
          <a:stretch>
            <a:fillRect/>
          </a:stretch>
        </p:blipFill>
        <p:spPr>
          <a:xfrm>
            <a:off x="6484010" y="2232050"/>
            <a:ext cx="473659" cy="473659"/>
          </a:xfrm>
          <a:prstGeom prst="rect">
            <a:avLst/>
          </a:prstGeom>
        </p:spPr>
      </p:pic>
      <p:sp>
        <p:nvSpPr>
          <p:cNvPr id="14" name="Text 9"/>
          <p:cNvSpPr/>
          <p:nvPr/>
        </p:nvSpPr>
        <p:spPr>
          <a:xfrm>
            <a:off x="7223760" y="2130552"/>
            <a:ext cx="3749040" cy="365760"/>
          </a:xfrm>
          <a:prstGeom prst="rect">
            <a:avLst/>
          </a:prstGeom>
          <a:noFill/>
          <a:ln/>
        </p:spPr>
        <p:txBody>
          <a:bodyPr wrap="square" rtlCol="0" anchor="ctr"/>
          <a:lstStyle/>
          <a:p>
            <a:pPr indent="0" marL="0">
              <a:buNone/>
            </a:pPr>
            <a:r>
              <a:rPr lang="en-US" sz="1600" b="1" dirty="0">
                <a:solidFill>
                  <a:srgbClr val="1C2535"/>
                </a:solidFill>
              </a:rPr>
              <a:t>Inteligencia artificial</a:t>
            </a:r>
            <a:endParaRPr lang="en-US" sz="1600" dirty="0"/>
          </a:p>
        </p:txBody>
      </p:sp>
      <p:sp>
        <p:nvSpPr>
          <p:cNvPr id="15" name="Text 10"/>
          <p:cNvSpPr/>
          <p:nvPr/>
        </p:nvSpPr>
        <p:spPr>
          <a:xfrm>
            <a:off x="7223760" y="2532888"/>
            <a:ext cx="3840480" cy="822960"/>
          </a:xfrm>
          <a:prstGeom prst="rect">
            <a:avLst/>
          </a:prstGeom>
          <a:noFill/>
          <a:ln/>
        </p:spPr>
        <p:txBody>
          <a:bodyPr wrap="square" rtlCol="0" anchor="ctr"/>
          <a:lstStyle/>
          <a:p>
            <a:pPr indent="0" marL="0">
              <a:buNone/>
            </a:pPr>
            <a:r>
              <a:rPr lang="en-US" sz="1250" dirty="0">
                <a:solidFill>
                  <a:srgbClr val="6B7280"/>
                </a:solidFill>
              </a:rPr>
              <a:t>Modelos Claude (Anthropic) + embeddings semánticos</a:t>
            </a:r>
            <a:endParaRPr lang="en-US" sz="1250" dirty="0"/>
          </a:p>
        </p:txBody>
      </p:sp>
      <p:sp>
        <p:nvSpPr>
          <p:cNvPr id="16" name="Shape 11"/>
          <p:cNvSpPr/>
          <p:nvPr/>
        </p:nvSpPr>
        <p:spPr>
          <a:xfrm>
            <a:off x="640080" y="3840480"/>
            <a:ext cx="5212080" cy="1691640"/>
          </a:xfrm>
          <a:prstGeom prst="roundRect">
            <a:avLst>
              <a:gd name="adj" fmla="val 4324"/>
            </a:avLst>
          </a:prstGeom>
          <a:solidFill>
            <a:srgbClr val="F4F6F8"/>
          </a:solidFill>
          <a:ln/>
          <a:effectLst>
            <a:outerShdw sx="100000" sy="100000" kx="0" ky="0" algn="bl" rotWithShape="0" blurRad="101600" dist="38100" dir="2700000">
              <a:srgbClr val="000000">
                <a:alpha val="12000"/>
              </a:srgbClr>
            </a:outerShdw>
          </a:effectLst>
        </p:spPr>
      </p:sp>
      <p:sp>
        <p:nvSpPr>
          <p:cNvPr id="17" name="Shape 12"/>
          <p:cNvSpPr/>
          <p:nvPr/>
        </p:nvSpPr>
        <p:spPr>
          <a:xfrm>
            <a:off x="914400" y="4114800"/>
            <a:ext cx="640080" cy="640080"/>
          </a:xfrm>
          <a:prstGeom prst="ellipse">
            <a:avLst/>
          </a:prstGeom>
          <a:solidFill>
            <a:srgbClr val="1A5A96"/>
          </a:solidFill>
          <a:ln/>
        </p:spPr>
      </p:sp>
      <p:pic>
        <p:nvPicPr>
          <p:cNvPr id="18" name="Image 3" descr="/home/claude/deck/icons/database.png">    </p:cNvPr>
          <p:cNvPicPr>
            <a:picLocks noChangeAspect="1"/>
          </p:cNvPicPr>
          <p:nvPr/>
        </p:nvPicPr>
        <p:blipFill>
          <a:blip r:embed="rId4"/>
          <a:stretch>
            <a:fillRect/>
          </a:stretch>
        </p:blipFill>
        <p:spPr>
          <a:xfrm>
            <a:off x="997610" y="4198010"/>
            <a:ext cx="473659" cy="473659"/>
          </a:xfrm>
          <a:prstGeom prst="rect">
            <a:avLst/>
          </a:prstGeom>
        </p:spPr>
      </p:pic>
      <p:sp>
        <p:nvSpPr>
          <p:cNvPr id="19" name="Text 13"/>
          <p:cNvSpPr/>
          <p:nvPr/>
        </p:nvSpPr>
        <p:spPr>
          <a:xfrm>
            <a:off x="1737360" y="4096512"/>
            <a:ext cx="3749040" cy="365760"/>
          </a:xfrm>
          <a:prstGeom prst="rect">
            <a:avLst/>
          </a:prstGeom>
          <a:noFill/>
          <a:ln/>
        </p:spPr>
        <p:txBody>
          <a:bodyPr wrap="square" rtlCol="0" anchor="ctr"/>
          <a:lstStyle/>
          <a:p>
            <a:pPr indent="0" marL="0">
              <a:buNone/>
            </a:pPr>
            <a:r>
              <a:rPr lang="en-US" sz="1600" b="1" dirty="0">
                <a:solidFill>
                  <a:srgbClr val="1C2535"/>
                </a:solidFill>
              </a:rPr>
              <a:t>Datos</a:t>
            </a:r>
            <a:endParaRPr lang="en-US" sz="1600" dirty="0"/>
          </a:p>
        </p:txBody>
      </p:sp>
      <p:sp>
        <p:nvSpPr>
          <p:cNvPr id="20" name="Text 14"/>
          <p:cNvSpPr/>
          <p:nvPr/>
        </p:nvSpPr>
        <p:spPr>
          <a:xfrm>
            <a:off x="1737360" y="4498848"/>
            <a:ext cx="3840480" cy="822960"/>
          </a:xfrm>
          <a:prstGeom prst="rect">
            <a:avLst/>
          </a:prstGeom>
          <a:noFill/>
          <a:ln/>
        </p:spPr>
        <p:txBody>
          <a:bodyPr wrap="square" rtlCol="0" anchor="ctr"/>
          <a:lstStyle/>
          <a:p>
            <a:pPr indent="0" marL="0">
              <a:buNone/>
            </a:pPr>
            <a:r>
              <a:rPr lang="en-US" sz="1250" dirty="0">
                <a:solidFill>
                  <a:srgbClr val="6B7280"/>
                </a:solidFill>
              </a:rPr>
              <a:t>Supabase — PostgreSQL y búsqueda vectorial</a:t>
            </a:r>
            <a:endParaRPr lang="en-US" sz="1250" dirty="0"/>
          </a:p>
        </p:txBody>
      </p:sp>
      <p:sp>
        <p:nvSpPr>
          <p:cNvPr id="21" name="Shape 15"/>
          <p:cNvSpPr/>
          <p:nvPr/>
        </p:nvSpPr>
        <p:spPr>
          <a:xfrm>
            <a:off x="6126480" y="3840480"/>
            <a:ext cx="5212080" cy="1691640"/>
          </a:xfrm>
          <a:prstGeom prst="roundRect">
            <a:avLst>
              <a:gd name="adj" fmla="val 4324"/>
            </a:avLst>
          </a:prstGeom>
          <a:solidFill>
            <a:srgbClr val="F4F6F8"/>
          </a:solidFill>
          <a:ln/>
          <a:effectLst>
            <a:outerShdw sx="100000" sy="100000" kx="0" ky="0" algn="bl" rotWithShape="0" blurRad="101600" dist="38100" dir="2700000">
              <a:srgbClr val="000000">
                <a:alpha val="12000"/>
              </a:srgbClr>
            </a:outerShdw>
          </a:effectLst>
        </p:spPr>
      </p:sp>
      <p:sp>
        <p:nvSpPr>
          <p:cNvPr id="22" name="Shape 16"/>
          <p:cNvSpPr/>
          <p:nvPr/>
        </p:nvSpPr>
        <p:spPr>
          <a:xfrm>
            <a:off x="6400800" y="4114800"/>
            <a:ext cx="640080" cy="640080"/>
          </a:xfrm>
          <a:prstGeom prst="ellipse">
            <a:avLst/>
          </a:prstGeom>
          <a:solidFill>
            <a:srgbClr val="1A5A96"/>
          </a:solidFill>
          <a:ln/>
        </p:spPr>
      </p:sp>
      <p:pic>
        <p:nvPicPr>
          <p:cNvPr id="23" name="Image 4" descr="/home/claude/deck/icons/bolt.png">    </p:cNvPr>
          <p:cNvPicPr>
            <a:picLocks noChangeAspect="1"/>
          </p:cNvPicPr>
          <p:nvPr/>
        </p:nvPicPr>
        <p:blipFill>
          <a:blip r:embed="rId5"/>
          <a:stretch>
            <a:fillRect/>
          </a:stretch>
        </p:blipFill>
        <p:spPr>
          <a:xfrm>
            <a:off x="6484010" y="4198010"/>
            <a:ext cx="473659" cy="473659"/>
          </a:xfrm>
          <a:prstGeom prst="rect">
            <a:avLst/>
          </a:prstGeom>
        </p:spPr>
      </p:pic>
      <p:sp>
        <p:nvSpPr>
          <p:cNvPr id="24" name="Text 17"/>
          <p:cNvSpPr/>
          <p:nvPr/>
        </p:nvSpPr>
        <p:spPr>
          <a:xfrm>
            <a:off x="7223760" y="4096512"/>
            <a:ext cx="3749040" cy="365760"/>
          </a:xfrm>
          <a:prstGeom prst="rect">
            <a:avLst/>
          </a:prstGeom>
          <a:noFill/>
          <a:ln/>
        </p:spPr>
        <p:txBody>
          <a:bodyPr wrap="square" rtlCol="0" anchor="ctr"/>
          <a:lstStyle/>
          <a:p>
            <a:pPr indent="0" marL="0">
              <a:buNone/>
            </a:pPr>
            <a:r>
              <a:rPr lang="en-US" sz="1600" b="1" dirty="0">
                <a:solidFill>
                  <a:srgbClr val="1C2535"/>
                </a:solidFill>
              </a:rPr>
              <a:t>Infraestructura</a:t>
            </a:r>
            <a:endParaRPr lang="en-US" sz="1600" dirty="0"/>
          </a:p>
        </p:txBody>
      </p:sp>
      <p:sp>
        <p:nvSpPr>
          <p:cNvPr id="25" name="Text 18"/>
          <p:cNvSpPr/>
          <p:nvPr/>
        </p:nvSpPr>
        <p:spPr>
          <a:xfrm>
            <a:off x="7223760" y="4498848"/>
            <a:ext cx="3840480" cy="822960"/>
          </a:xfrm>
          <a:prstGeom prst="rect">
            <a:avLst/>
          </a:prstGeom>
          <a:noFill/>
          <a:ln/>
        </p:spPr>
        <p:txBody>
          <a:bodyPr wrap="square" rtlCol="0" anchor="ctr"/>
          <a:lstStyle/>
          <a:p>
            <a:pPr indent="0" marL="0">
              <a:buNone/>
            </a:pPr>
            <a:r>
              <a:rPr lang="en-US" sz="1250" dirty="0">
                <a:solidFill>
                  <a:srgbClr val="6B7280"/>
                </a:solidFill>
              </a:rPr>
              <a:t>Funciones serverless, despliegue continuo (Vercel)</a:t>
            </a:r>
            <a:endParaRPr lang="en-US" sz="1250" dirty="0"/>
          </a:p>
        </p:txBody>
      </p:sp>
      <p:sp>
        <p:nvSpPr>
          <p:cNvPr id="26" name="Text 19"/>
          <p:cNvSpPr/>
          <p:nvPr/>
        </p:nvSpPr>
        <p:spPr>
          <a:xfrm>
            <a:off x="640080" y="6400800"/>
            <a:ext cx="1828800" cy="274320"/>
          </a:xfrm>
          <a:prstGeom prst="rect">
            <a:avLst/>
          </a:prstGeom>
          <a:noFill/>
          <a:ln/>
        </p:spPr>
        <p:txBody>
          <a:bodyPr wrap="square" rtlCol="0" anchor="ctr"/>
          <a:lstStyle/>
          <a:p>
            <a:pPr indent="0" marL="0">
              <a:buNone/>
            </a:pPr>
            <a:r>
              <a:rPr lang="en-US" sz="1100" b="1" dirty="0">
                <a:solidFill>
                  <a:srgbClr val="6B7280"/>
                </a:solidFill>
              </a:rPr>
              <a:t>TradeFlow</a:t>
            </a:r>
            <a:endParaRPr lang="en-US" sz="1100" dirty="0"/>
          </a:p>
        </p:txBody>
      </p:sp>
      <p:sp>
        <p:nvSpPr>
          <p:cNvPr id="27" name="Text 20"/>
          <p:cNvSpPr/>
          <p:nvPr/>
        </p:nvSpPr>
        <p:spPr>
          <a:xfrm>
            <a:off x="11548872" y="6400800"/>
            <a:ext cx="365760" cy="274320"/>
          </a:xfrm>
          <a:prstGeom prst="rect">
            <a:avLst/>
          </a:prstGeom>
          <a:noFill/>
          <a:ln/>
        </p:spPr>
        <p:txBody>
          <a:bodyPr wrap="square" rtlCol="0" anchor="ctr"/>
          <a:lstStyle/>
          <a:p>
            <a:pPr algn="r" indent="0" marL="0">
              <a:buNone/>
            </a:pPr>
            <a:r>
              <a:rPr lang="en-US" sz="1100" dirty="0">
                <a:solidFill>
                  <a:srgbClr val="6B7280"/>
                </a:solidFill>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94360"/>
            <a:ext cx="685800" cy="685800"/>
          </a:xfrm>
          <a:prstGeom prst="ellipse">
            <a:avLst/>
          </a:prstGeom>
          <a:solidFill>
            <a:srgbClr val="C8922A"/>
          </a:solidFill>
          <a:ln/>
        </p:spPr>
      </p:sp>
      <p:pic>
        <p:nvPicPr>
          <p:cNvPr id="3" name="Image 0" descr="/home/claude/deck/icons/brain.png">    </p:cNvPr>
          <p:cNvPicPr>
            <a:picLocks noChangeAspect="1"/>
          </p:cNvPicPr>
          <p:nvPr/>
        </p:nvPicPr>
        <p:blipFill>
          <a:blip r:embed="rId1"/>
          <a:stretch>
            <a:fillRect/>
          </a:stretch>
        </p:blipFill>
        <p:spPr>
          <a:xfrm>
            <a:off x="729234" y="683514"/>
            <a:ext cx="507492" cy="507492"/>
          </a:xfrm>
          <a:prstGeom prst="rect">
            <a:avLst/>
          </a:prstGeom>
        </p:spPr>
      </p:pic>
      <p:sp>
        <p:nvSpPr>
          <p:cNvPr id="4" name="Text 1"/>
          <p:cNvSpPr/>
          <p:nvPr/>
        </p:nvSpPr>
        <p:spPr>
          <a:xfrm>
            <a:off x="640080" y="384048"/>
            <a:ext cx="7315200" cy="320040"/>
          </a:xfrm>
          <a:prstGeom prst="rect">
            <a:avLst/>
          </a:prstGeom>
          <a:noFill/>
          <a:ln/>
        </p:spPr>
        <p:txBody>
          <a:bodyPr wrap="square" rtlCol="0" anchor="ctr"/>
          <a:lstStyle/>
          <a:p>
            <a:pPr indent="0" marL="0">
              <a:buNone/>
            </a:pPr>
            <a:r>
              <a:rPr lang="en-US" sz="1300" b="1" spc="200" kern="0" dirty="0">
                <a:solidFill>
                  <a:srgbClr val="C8922A"/>
                </a:solidFill>
                <a:latin typeface="Calibri" pitchFamily="34" charset="0"/>
                <a:ea typeface="Calibri" pitchFamily="34" charset="-122"/>
                <a:cs typeface="Calibri" pitchFamily="34" charset="-120"/>
              </a:rPr>
              <a:t>07 · INNOVACIÓN</a:t>
            </a:r>
            <a:endParaRPr lang="en-US" sz="1300" dirty="0"/>
          </a:p>
        </p:txBody>
      </p:sp>
      <p:sp>
        <p:nvSpPr>
          <p:cNvPr id="5" name="Text 2"/>
          <p:cNvSpPr/>
          <p:nvPr/>
        </p:nvSpPr>
        <p:spPr>
          <a:xfrm>
            <a:off x="1508760" y="566928"/>
            <a:ext cx="9144000" cy="731520"/>
          </a:xfrm>
          <a:prstGeom prst="rect">
            <a:avLst/>
          </a:prstGeom>
          <a:noFill/>
          <a:ln/>
        </p:spPr>
        <p:txBody>
          <a:bodyPr wrap="square" rtlCol="0" anchor="ctr"/>
          <a:lstStyle/>
          <a:p>
            <a:pPr indent="0" marL="0">
              <a:buNone/>
            </a:pPr>
            <a:r>
              <a:rPr lang="en-US" sz="3200" b="1" dirty="0">
                <a:solidFill>
                  <a:srgbClr val="1C2535"/>
                </a:solidFill>
                <a:latin typeface="Cambria" pitchFamily="34" charset="0"/>
                <a:ea typeface="Cambria" pitchFamily="34" charset="-122"/>
                <a:cs typeface="Cambria" pitchFamily="34" charset="-120"/>
              </a:rPr>
              <a:t>Qué hace único al proyecto</a:t>
            </a:r>
            <a:endParaRPr lang="en-US" sz="3200" dirty="0"/>
          </a:p>
        </p:txBody>
      </p:sp>
      <p:sp>
        <p:nvSpPr>
          <p:cNvPr id="6" name="Shape 3"/>
          <p:cNvSpPr/>
          <p:nvPr/>
        </p:nvSpPr>
        <p:spPr>
          <a:xfrm>
            <a:off x="640080" y="1965960"/>
            <a:ext cx="594360" cy="594360"/>
          </a:xfrm>
          <a:prstGeom prst="ellipse">
            <a:avLst/>
          </a:prstGeom>
          <a:solidFill>
            <a:srgbClr val="FBF1E1"/>
          </a:solidFill>
          <a:ln/>
        </p:spPr>
      </p:sp>
      <p:pic>
        <p:nvPicPr>
          <p:cNvPr id="7" name="Image 1" descr="/home/claude/deck/icons/shield_gold.png">    </p:cNvPr>
          <p:cNvPicPr>
            <a:picLocks noChangeAspect="1"/>
          </p:cNvPicPr>
          <p:nvPr/>
        </p:nvPicPr>
        <p:blipFill>
          <a:blip r:embed="rId2"/>
          <a:stretch>
            <a:fillRect/>
          </a:stretch>
        </p:blipFill>
        <p:spPr>
          <a:xfrm>
            <a:off x="717347" y="2043227"/>
            <a:ext cx="439826" cy="439826"/>
          </a:xfrm>
          <a:prstGeom prst="rect">
            <a:avLst/>
          </a:prstGeom>
        </p:spPr>
      </p:pic>
      <p:sp>
        <p:nvSpPr>
          <p:cNvPr id="8" name="Text 4"/>
          <p:cNvSpPr/>
          <p:nvPr/>
        </p:nvSpPr>
        <p:spPr>
          <a:xfrm>
            <a:off x="1417320" y="1874520"/>
            <a:ext cx="4480560" cy="640080"/>
          </a:xfrm>
          <a:prstGeom prst="rect">
            <a:avLst/>
          </a:prstGeom>
          <a:noFill/>
          <a:ln/>
        </p:spPr>
        <p:txBody>
          <a:bodyPr wrap="square" rtlCol="0" anchor="ctr"/>
          <a:lstStyle/>
          <a:p>
            <a:pPr indent="0" marL="0">
              <a:buNone/>
            </a:pPr>
            <a:r>
              <a:rPr lang="en-US" sz="1550" b="1" dirty="0">
                <a:solidFill>
                  <a:srgbClr val="1C2535"/>
                </a:solidFill>
              </a:rPr>
              <a:t>IA gobernada, no generativa libre</a:t>
            </a:r>
            <a:endParaRPr lang="en-US" sz="1550" dirty="0"/>
          </a:p>
        </p:txBody>
      </p:sp>
      <p:sp>
        <p:nvSpPr>
          <p:cNvPr id="9" name="Text 5"/>
          <p:cNvSpPr/>
          <p:nvPr/>
        </p:nvSpPr>
        <p:spPr>
          <a:xfrm>
            <a:off x="640080" y="2743200"/>
            <a:ext cx="5120640" cy="822960"/>
          </a:xfrm>
          <a:prstGeom prst="rect">
            <a:avLst/>
          </a:prstGeom>
          <a:noFill/>
          <a:ln/>
        </p:spPr>
        <p:txBody>
          <a:bodyPr wrap="square" rtlCol="0" anchor="ctr"/>
          <a:lstStyle/>
          <a:p>
            <a:pPr indent="0" marL="0">
              <a:buNone/>
            </a:pPr>
            <a:r>
              <a:rPr lang="en-US" sz="1250" dirty="0">
                <a:solidFill>
                  <a:srgbClr val="6B7280"/>
                </a:solidFill>
              </a:rPr>
              <a:t>Recupera información verificada; nunca inventa un precio o una partida.</a:t>
            </a:r>
            <a:endParaRPr lang="en-US" sz="1250" dirty="0"/>
          </a:p>
        </p:txBody>
      </p:sp>
      <p:sp>
        <p:nvSpPr>
          <p:cNvPr id="10" name="Shape 6"/>
          <p:cNvSpPr/>
          <p:nvPr/>
        </p:nvSpPr>
        <p:spPr>
          <a:xfrm>
            <a:off x="6126480" y="1965960"/>
            <a:ext cx="594360" cy="594360"/>
          </a:xfrm>
          <a:prstGeom prst="ellipse">
            <a:avLst/>
          </a:prstGeom>
          <a:solidFill>
            <a:srgbClr val="FBF1E1"/>
          </a:solidFill>
          <a:ln/>
        </p:spPr>
      </p:sp>
      <p:pic>
        <p:nvPicPr>
          <p:cNvPr id="11" name="Image 2" descr="/home/claude/deck/icons/layer_gold.png">    </p:cNvPr>
          <p:cNvPicPr>
            <a:picLocks noChangeAspect="1"/>
          </p:cNvPicPr>
          <p:nvPr/>
        </p:nvPicPr>
        <p:blipFill>
          <a:blip r:embed="rId3"/>
          <a:stretch>
            <a:fillRect/>
          </a:stretch>
        </p:blipFill>
        <p:spPr>
          <a:xfrm>
            <a:off x="6203747" y="2043227"/>
            <a:ext cx="439826" cy="439826"/>
          </a:xfrm>
          <a:prstGeom prst="rect">
            <a:avLst/>
          </a:prstGeom>
        </p:spPr>
      </p:pic>
      <p:sp>
        <p:nvSpPr>
          <p:cNvPr id="12" name="Text 7"/>
          <p:cNvSpPr/>
          <p:nvPr/>
        </p:nvSpPr>
        <p:spPr>
          <a:xfrm>
            <a:off x="6903720" y="1874520"/>
            <a:ext cx="4480560" cy="640080"/>
          </a:xfrm>
          <a:prstGeom prst="rect">
            <a:avLst/>
          </a:prstGeom>
          <a:noFill/>
          <a:ln/>
        </p:spPr>
        <p:txBody>
          <a:bodyPr wrap="square" rtlCol="0" anchor="ctr"/>
          <a:lstStyle/>
          <a:p>
            <a:pPr indent="0" marL="0">
              <a:buNone/>
            </a:pPr>
            <a:r>
              <a:rPr lang="en-US" sz="1550" b="1" dirty="0">
                <a:solidFill>
                  <a:srgbClr val="1C2535"/>
                </a:solidFill>
              </a:rPr>
              <a:t>Base de conocimiento propia</a:t>
            </a:r>
            <a:endParaRPr lang="en-US" sz="1550" dirty="0"/>
          </a:p>
        </p:txBody>
      </p:sp>
      <p:sp>
        <p:nvSpPr>
          <p:cNvPr id="13" name="Text 8"/>
          <p:cNvSpPr/>
          <p:nvPr/>
        </p:nvSpPr>
        <p:spPr>
          <a:xfrm>
            <a:off x="6126480" y="2743200"/>
            <a:ext cx="5120640" cy="822960"/>
          </a:xfrm>
          <a:prstGeom prst="rect">
            <a:avLst/>
          </a:prstGeom>
          <a:noFill/>
          <a:ln/>
        </p:spPr>
        <p:txBody>
          <a:bodyPr wrap="square" rtlCol="0" anchor="ctr"/>
          <a:lstStyle/>
          <a:p>
            <a:pPr indent="0" marL="0">
              <a:buNone/>
            </a:pPr>
            <a:r>
              <a:rPr lang="en-US" sz="1250" dirty="0">
                <a:solidFill>
                  <a:srgbClr val="6B7280"/>
                </a:solidFill>
              </a:rPr>
              <a:t>Más de 2.000 actuaciones normalizadas en 20 oficios técnicos.</a:t>
            </a:r>
            <a:endParaRPr lang="en-US" sz="1250" dirty="0"/>
          </a:p>
        </p:txBody>
      </p:sp>
      <p:sp>
        <p:nvSpPr>
          <p:cNvPr id="14" name="Shape 9"/>
          <p:cNvSpPr/>
          <p:nvPr/>
        </p:nvSpPr>
        <p:spPr>
          <a:xfrm>
            <a:off x="640080" y="3931920"/>
            <a:ext cx="594360" cy="594360"/>
          </a:xfrm>
          <a:prstGeom prst="ellipse">
            <a:avLst/>
          </a:prstGeom>
          <a:solidFill>
            <a:srgbClr val="FBF1E1"/>
          </a:solidFill>
          <a:ln/>
        </p:spPr>
      </p:sp>
      <p:pic>
        <p:nvPicPr>
          <p:cNvPr id="15" name="Image 3" descr="/home/claude/deck/icons/whatsapp_gold.png">    </p:cNvPr>
          <p:cNvPicPr>
            <a:picLocks noChangeAspect="1"/>
          </p:cNvPicPr>
          <p:nvPr/>
        </p:nvPicPr>
        <p:blipFill>
          <a:blip r:embed="rId4"/>
          <a:stretch>
            <a:fillRect/>
          </a:stretch>
        </p:blipFill>
        <p:spPr>
          <a:xfrm>
            <a:off x="717347" y="4009187"/>
            <a:ext cx="439826" cy="439826"/>
          </a:xfrm>
          <a:prstGeom prst="rect">
            <a:avLst/>
          </a:prstGeom>
        </p:spPr>
      </p:pic>
      <p:sp>
        <p:nvSpPr>
          <p:cNvPr id="16" name="Text 10"/>
          <p:cNvSpPr/>
          <p:nvPr/>
        </p:nvSpPr>
        <p:spPr>
          <a:xfrm>
            <a:off x="1417320" y="3840480"/>
            <a:ext cx="4480560" cy="640080"/>
          </a:xfrm>
          <a:prstGeom prst="rect">
            <a:avLst/>
          </a:prstGeom>
          <a:noFill/>
          <a:ln/>
        </p:spPr>
        <p:txBody>
          <a:bodyPr wrap="square" rtlCol="0" anchor="ctr"/>
          <a:lstStyle/>
          <a:p>
            <a:pPr indent="0" marL="0">
              <a:buNone/>
            </a:pPr>
            <a:r>
              <a:rPr lang="en-US" sz="1550" b="1" dirty="0">
                <a:solidFill>
                  <a:srgbClr val="1C2535"/>
                </a:solidFill>
              </a:rPr>
              <a:t>El canal que ya usa el instalador</a:t>
            </a:r>
            <a:endParaRPr lang="en-US" sz="1550" dirty="0"/>
          </a:p>
        </p:txBody>
      </p:sp>
      <p:sp>
        <p:nvSpPr>
          <p:cNvPr id="17" name="Text 11"/>
          <p:cNvSpPr/>
          <p:nvPr/>
        </p:nvSpPr>
        <p:spPr>
          <a:xfrm>
            <a:off x="640080" y="4709160"/>
            <a:ext cx="5120640" cy="822960"/>
          </a:xfrm>
          <a:prstGeom prst="rect">
            <a:avLst/>
          </a:prstGeom>
          <a:noFill/>
          <a:ln/>
        </p:spPr>
        <p:txBody>
          <a:bodyPr wrap="square" rtlCol="0" anchor="ctr"/>
          <a:lstStyle/>
          <a:p>
            <a:pPr indent="0" marL="0">
              <a:buNone/>
            </a:pPr>
            <a:r>
              <a:rPr lang="en-US" sz="1250" dirty="0">
                <a:solidFill>
                  <a:srgbClr val="6B7280"/>
                </a:solidFill>
              </a:rPr>
              <a:t>Flujo completo integrado en WhatsApp, sin curva de aprendizaje.</a:t>
            </a:r>
            <a:endParaRPr lang="en-US" sz="1250" dirty="0"/>
          </a:p>
        </p:txBody>
      </p:sp>
      <p:sp>
        <p:nvSpPr>
          <p:cNvPr id="18" name="Shape 12"/>
          <p:cNvSpPr/>
          <p:nvPr/>
        </p:nvSpPr>
        <p:spPr>
          <a:xfrm>
            <a:off x="6126480" y="3931920"/>
            <a:ext cx="594360" cy="594360"/>
          </a:xfrm>
          <a:prstGeom prst="ellipse">
            <a:avLst/>
          </a:prstGeom>
          <a:solidFill>
            <a:srgbClr val="FBF1E1"/>
          </a:solidFill>
          <a:ln/>
        </p:spPr>
      </p:sp>
      <p:pic>
        <p:nvPicPr>
          <p:cNvPr id="19" name="Image 4" descr="/home/claude/deck/icons/check_gold.png">    </p:cNvPr>
          <p:cNvPicPr>
            <a:picLocks noChangeAspect="1"/>
          </p:cNvPicPr>
          <p:nvPr/>
        </p:nvPicPr>
        <p:blipFill>
          <a:blip r:embed="rId5"/>
          <a:stretch>
            <a:fillRect/>
          </a:stretch>
        </p:blipFill>
        <p:spPr>
          <a:xfrm>
            <a:off x="6203747" y="4009187"/>
            <a:ext cx="439826" cy="439826"/>
          </a:xfrm>
          <a:prstGeom prst="rect">
            <a:avLst/>
          </a:prstGeom>
        </p:spPr>
      </p:pic>
      <p:sp>
        <p:nvSpPr>
          <p:cNvPr id="20" name="Text 13"/>
          <p:cNvSpPr/>
          <p:nvPr/>
        </p:nvSpPr>
        <p:spPr>
          <a:xfrm>
            <a:off x="6903720" y="3840480"/>
            <a:ext cx="4480560" cy="640080"/>
          </a:xfrm>
          <a:prstGeom prst="rect">
            <a:avLst/>
          </a:prstGeom>
          <a:noFill/>
          <a:ln/>
        </p:spPr>
        <p:txBody>
          <a:bodyPr wrap="square" rtlCol="0" anchor="ctr"/>
          <a:lstStyle/>
          <a:p>
            <a:pPr indent="0" marL="0">
              <a:buNone/>
            </a:pPr>
            <a:r>
              <a:rPr lang="en-US" sz="1550" b="1" dirty="0">
                <a:solidFill>
                  <a:srgbClr val="1C2535"/>
                </a:solidFill>
              </a:rPr>
              <a:t>Cumplimiento normativo de origen</a:t>
            </a:r>
            <a:endParaRPr lang="en-US" sz="1550" dirty="0"/>
          </a:p>
        </p:txBody>
      </p:sp>
      <p:sp>
        <p:nvSpPr>
          <p:cNvPr id="21" name="Text 14"/>
          <p:cNvSpPr/>
          <p:nvPr/>
        </p:nvSpPr>
        <p:spPr>
          <a:xfrm>
            <a:off x="6126480" y="4709160"/>
            <a:ext cx="5120640" cy="822960"/>
          </a:xfrm>
          <a:prstGeom prst="rect">
            <a:avLst/>
          </a:prstGeom>
          <a:noFill/>
          <a:ln/>
        </p:spPr>
        <p:txBody>
          <a:bodyPr wrap="square" rtlCol="0" anchor="ctr"/>
          <a:lstStyle/>
          <a:p>
            <a:pPr indent="0" marL="0">
              <a:buNone/>
            </a:pPr>
            <a:r>
              <a:rPr lang="en-US" sz="1250" dirty="0">
                <a:solidFill>
                  <a:srgbClr val="6B7280"/>
                </a:solidFill>
              </a:rPr>
              <a:t>Diseñado desde el inicio para la facturación VeriFactu.</a:t>
            </a:r>
            <a:endParaRPr lang="en-US" sz="1250" dirty="0"/>
          </a:p>
        </p:txBody>
      </p:sp>
      <p:sp>
        <p:nvSpPr>
          <p:cNvPr id="22" name="Text 15"/>
          <p:cNvSpPr/>
          <p:nvPr/>
        </p:nvSpPr>
        <p:spPr>
          <a:xfrm>
            <a:off x="640080" y="5943600"/>
            <a:ext cx="10881360" cy="365760"/>
          </a:xfrm>
          <a:prstGeom prst="rect">
            <a:avLst/>
          </a:prstGeom>
          <a:noFill/>
          <a:ln/>
        </p:spPr>
        <p:txBody>
          <a:bodyPr wrap="square" rtlCol="0" anchor="ctr"/>
          <a:lstStyle/>
          <a:p>
            <a:pPr indent="0" marL="0">
              <a:buNone/>
            </a:pPr>
            <a:r>
              <a:rPr lang="en-US" sz="1300" b="1" i="1" dirty="0">
                <a:solidFill>
                  <a:srgbClr val="1A5A96"/>
                </a:solidFill>
              </a:rPr>
              <a:t>93% de precisión validada · 400 consultas de prueba · 20 oficios distintos</a:t>
            </a:r>
            <a:endParaRPr lang="en-US" sz="1300" dirty="0"/>
          </a:p>
        </p:txBody>
      </p:sp>
      <p:sp>
        <p:nvSpPr>
          <p:cNvPr id="23" name="Text 16"/>
          <p:cNvSpPr/>
          <p:nvPr/>
        </p:nvSpPr>
        <p:spPr>
          <a:xfrm>
            <a:off x="640080" y="6400800"/>
            <a:ext cx="1828800" cy="274320"/>
          </a:xfrm>
          <a:prstGeom prst="rect">
            <a:avLst/>
          </a:prstGeom>
          <a:noFill/>
          <a:ln/>
        </p:spPr>
        <p:txBody>
          <a:bodyPr wrap="square" rtlCol="0" anchor="ctr"/>
          <a:lstStyle/>
          <a:p>
            <a:pPr indent="0" marL="0">
              <a:buNone/>
            </a:pPr>
            <a:r>
              <a:rPr lang="en-US" sz="1100" b="1" dirty="0">
                <a:solidFill>
                  <a:srgbClr val="6B7280"/>
                </a:solidFill>
              </a:rPr>
              <a:t>TradeFlow</a:t>
            </a:r>
            <a:endParaRPr lang="en-US" sz="1100" dirty="0"/>
          </a:p>
        </p:txBody>
      </p:sp>
      <p:sp>
        <p:nvSpPr>
          <p:cNvPr id="24" name="Text 17"/>
          <p:cNvSpPr/>
          <p:nvPr/>
        </p:nvSpPr>
        <p:spPr>
          <a:xfrm>
            <a:off x="11548872" y="6400800"/>
            <a:ext cx="365760" cy="274320"/>
          </a:xfrm>
          <a:prstGeom prst="rect">
            <a:avLst/>
          </a:prstGeom>
          <a:noFill/>
          <a:ln/>
        </p:spPr>
        <p:txBody>
          <a:bodyPr wrap="square" rtlCol="0" anchor="ctr"/>
          <a:lstStyle/>
          <a:p>
            <a:pPr algn="r" indent="0" marL="0">
              <a:buNone/>
            </a:pPr>
            <a:r>
              <a:rPr lang="en-US" sz="1100" dirty="0">
                <a:solidFill>
                  <a:srgbClr val="6B7280"/>
                </a:solidFill>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94360"/>
            <a:ext cx="685800" cy="685800"/>
          </a:xfrm>
          <a:prstGeom prst="ellipse">
            <a:avLst/>
          </a:prstGeom>
          <a:solidFill>
            <a:srgbClr val="4A6741"/>
          </a:solidFill>
          <a:ln/>
        </p:spPr>
      </p:sp>
      <p:pic>
        <p:nvPicPr>
          <p:cNvPr id="3" name="Image 0" descr="/home/claude/deck/icons/globe.png">    </p:cNvPr>
          <p:cNvPicPr>
            <a:picLocks noChangeAspect="1"/>
          </p:cNvPicPr>
          <p:nvPr/>
        </p:nvPicPr>
        <p:blipFill>
          <a:blip r:embed="rId1"/>
          <a:stretch>
            <a:fillRect/>
          </a:stretch>
        </p:blipFill>
        <p:spPr>
          <a:xfrm>
            <a:off x="729234" y="683514"/>
            <a:ext cx="507492" cy="507492"/>
          </a:xfrm>
          <a:prstGeom prst="rect">
            <a:avLst/>
          </a:prstGeom>
        </p:spPr>
      </p:pic>
      <p:sp>
        <p:nvSpPr>
          <p:cNvPr id="4" name="Text 1"/>
          <p:cNvSpPr/>
          <p:nvPr/>
        </p:nvSpPr>
        <p:spPr>
          <a:xfrm>
            <a:off x="640080" y="384048"/>
            <a:ext cx="7315200" cy="320040"/>
          </a:xfrm>
          <a:prstGeom prst="rect">
            <a:avLst/>
          </a:prstGeom>
          <a:noFill/>
          <a:ln/>
        </p:spPr>
        <p:txBody>
          <a:bodyPr wrap="square" rtlCol="0" anchor="ctr"/>
          <a:lstStyle/>
          <a:p>
            <a:pPr indent="0" marL="0">
              <a:buNone/>
            </a:pPr>
            <a:r>
              <a:rPr lang="en-US" sz="1300" b="1" spc="200" kern="0" dirty="0">
                <a:solidFill>
                  <a:srgbClr val="4A6741"/>
                </a:solidFill>
                <a:latin typeface="Calibri" pitchFamily="34" charset="0"/>
                <a:ea typeface="Calibri" pitchFamily="34" charset="-122"/>
                <a:cs typeface="Calibri" pitchFamily="34" charset="-120"/>
              </a:rPr>
              <a:t>08 · MERCADO</a:t>
            </a:r>
            <a:endParaRPr lang="en-US" sz="1300" dirty="0"/>
          </a:p>
        </p:txBody>
      </p:sp>
      <p:sp>
        <p:nvSpPr>
          <p:cNvPr id="5" name="Text 2"/>
          <p:cNvSpPr/>
          <p:nvPr/>
        </p:nvSpPr>
        <p:spPr>
          <a:xfrm>
            <a:off x="1508760" y="566928"/>
            <a:ext cx="9144000" cy="731520"/>
          </a:xfrm>
          <a:prstGeom prst="rect">
            <a:avLst/>
          </a:prstGeom>
          <a:noFill/>
          <a:ln/>
        </p:spPr>
        <p:txBody>
          <a:bodyPr wrap="square" rtlCol="0" anchor="ctr"/>
          <a:lstStyle/>
          <a:p>
            <a:pPr indent="0" marL="0">
              <a:buNone/>
            </a:pPr>
            <a:r>
              <a:rPr lang="en-US" sz="3200" b="1" dirty="0">
                <a:solidFill>
                  <a:srgbClr val="1C2535"/>
                </a:solidFill>
                <a:latin typeface="Cambria" pitchFamily="34" charset="0"/>
                <a:ea typeface="Cambria" pitchFamily="34" charset="-122"/>
                <a:cs typeface="Cambria" pitchFamily="34" charset="-120"/>
              </a:rPr>
              <a:t>Un mercado grande, mal servido</a:t>
            </a:r>
            <a:endParaRPr lang="en-US" sz="3200" dirty="0"/>
          </a:p>
        </p:txBody>
      </p:sp>
      <p:graphicFrame>
        <p:nvGraphicFramePr>
          <p:cNvPr id="6" name="Chart 0" descr=""/>
          <p:cNvGraphicFramePr/>
          <p:nvPr/>
        </p:nvGraphicFramePr>
        <p:xfrm>
          <a:off x="640080" y="2103120"/>
          <a:ext cx="5760720" cy="3017520"/>
        </p:xfrm>
        <a:graphic xmlns:a="http://schemas.openxmlformats.org/drawingml/2006/main">
          <a:graphicData uri="http://schemas.openxmlformats.org/drawingml/2006/chart">
            <c:chart xmlns:c="http://schemas.openxmlformats.org/drawingml/2006/chart" r:id="rId2"/>
          </a:graphicData>
        </a:graphic>
      </p:graphicFrame>
      <p:sp>
        <p:nvSpPr>
          <p:cNvPr id="7" name="Text 3"/>
          <p:cNvSpPr/>
          <p:nvPr/>
        </p:nvSpPr>
        <p:spPr>
          <a:xfrm>
            <a:off x="640080" y="5349240"/>
            <a:ext cx="5760720" cy="640080"/>
          </a:xfrm>
          <a:prstGeom prst="rect">
            <a:avLst/>
          </a:prstGeom>
          <a:noFill/>
          <a:ln/>
        </p:spPr>
        <p:txBody>
          <a:bodyPr wrap="square" rtlCol="0" anchor="ctr"/>
          <a:lstStyle/>
          <a:p>
            <a:pPr indent="0" marL="0">
              <a:buNone/>
            </a:pPr>
            <a:r>
              <a:rPr lang="en-US" sz="1050" i="1" dirty="0">
                <a:solidFill>
                  <a:srgbClr val="6B7280"/>
                </a:solidFill>
              </a:rPr>
              <a:t>El SOM (objetivo a 3 años) se muestra en la tarjeta inferior: es intencionadamente una fracción muy pequeña del TAM/SAM, coherente con un plan de crecimiento realista.</a:t>
            </a:r>
            <a:endParaRPr lang="en-US" sz="1050" dirty="0"/>
          </a:p>
        </p:txBody>
      </p:sp>
      <p:sp>
        <p:nvSpPr>
          <p:cNvPr id="8" name="Shape 4"/>
          <p:cNvSpPr/>
          <p:nvPr/>
        </p:nvSpPr>
        <p:spPr>
          <a:xfrm>
            <a:off x="6720840" y="1920240"/>
            <a:ext cx="4800600" cy="1188720"/>
          </a:xfrm>
          <a:prstGeom prst="roundRect">
            <a:avLst>
              <a:gd name="adj" fmla="val 6154"/>
            </a:avLst>
          </a:prstGeom>
          <a:solidFill>
            <a:srgbClr val="F4F6F8"/>
          </a:solidFill>
          <a:ln/>
          <a:effectLst>
            <a:outerShdw sx="100000" sy="100000" kx="0" ky="0" algn="bl" rotWithShape="0" blurRad="101600" dist="38100" dir="2700000">
              <a:srgbClr val="000000">
                <a:alpha val="12000"/>
              </a:srgbClr>
            </a:outerShdw>
          </a:effectLst>
        </p:spPr>
      </p:sp>
      <p:sp>
        <p:nvSpPr>
          <p:cNvPr id="9" name="Text 5"/>
          <p:cNvSpPr/>
          <p:nvPr/>
        </p:nvSpPr>
        <p:spPr>
          <a:xfrm>
            <a:off x="6949440" y="2029968"/>
            <a:ext cx="1097280" cy="457200"/>
          </a:xfrm>
          <a:prstGeom prst="rect">
            <a:avLst/>
          </a:prstGeom>
          <a:noFill/>
          <a:ln/>
        </p:spPr>
        <p:txBody>
          <a:bodyPr wrap="square" rtlCol="0" anchor="ctr"/>
          <a:lstStyle/>
          <a:p>
            <a:pPr indent="0" marL="0">
              <a:buNone/>
            </a:pPr>
            <a:r>
              <a:rPr lang="en-US" sz="2000" b="1" dirty="0">
                <a:solidFill>
                  <a:srgbClr val="1A5A96"/>
                </a:solidFill>
              </a:rPr>
              <a:t>TAM</a:t>
            </a:r>
            <a:endParaRPr lang="en-US" sz="2000" dirty="0"/>
          </a:p>
        </p:txBody>
      </p:sp>
      <p:sp>
        <p:nvSpPr>
          <p:cNvPr id="10" name="Text 6"/>
          <p:cNvSpPr/>
          <p:nvPr/>
        </p:nvSpPr>
        <p:spPr>
          <a:xfrm>
            <a:off x="6949440" y="2450592"/>
            <a:ext cx="4389120" cy="320040"/>
          </a:xfrm>
          <a:prstGeom prst="rect">
            <a:avLst/>
          </a:prstGeom>
          <a:noFill/>
          <a:ln/>
        </p:spPr>
        <p:txBody>
          <a:bodyPr wrap="square" rtlCol="0" anchor="ctr"/>
          <a:lstStyle/>
          <a:p>
            <a:pPr indent="0" marL="0">
              <a:buNone/>
            </a:pPr>
            <a:r>
              <a:rPr lang="en-US" sz="1400" b="1" dirty="0">
                <a:solidFill>
                  <a:srgbClr val="1C2535"/>
                </a:solidFill>
              </a:rPr>
              <a:t>2,75 M instaladores</a:t>
            </a:r>
            <a:endParaRPr lang="en-US" sz="1400" dirty="0"/>
          </a:p>
        </p:txBody>
      </p:sp>
      <p:sp>
        <p:nvSpPr>
          <p:cNvPr id="11" name="Text 7"/>
          <p:cNvSpPr/>
          <p:nvPr/>
        </p:nvSpPr>
        <p:spPr>
          <a:xfrm>
            <a:off x="6949440" y="2761488"/>
            <a:ext cx="4389120" cy="320040"/>
          </a:xfrm>
          <a:prstGeom prst="rect">
            <a:avLst/>
          </a:prstGeom>
          <a:noFill/>
          <a:ln/>
        </p:spPr>
        <p:txBody>
          <a:bodyPr wrap="square" rtlCol="0" anchor="ctr"/>
          <a:lstStyle/>
          <a:p>
            <a:pPr indent="0" marL="0">
              <a:buNone/>
            </a:pPr>
            <a:r>
              <a:rPr lang="en-US" sz="1100" dirty="0">
                <a:solidFill>
                  <a:srgbClr val="6B7280"/>
                </a:solidFill>
              </a:rPr>
              <a:t>España + LATAM objetivo (México, Colombia, Chile)</a:t>
            </a:r>
            <a:endParaRPr lang="en-US" sz="1100" dirty="0"/>
          </a:p>
        </p:txBody>
      </p:sp>
      <p:sp>
        <p:nvSpPr>
          <p:cNvPr id="12" name="Shape 8"/>
          <p:cNvSpPr/>
          <p:nvPr/>
        </p:nvSpPr>
        <p:spPr>
          <a:xfrm>
            <a:off x="6720840" y="3337560"/>
            <a:ext cx="4800600" cy="1188720"/>
          </a:xfrm>
          <a:prstGeom prst="roundRect">
            <a:avLst>
              <a:gd name="adj" fmla="val 6154"/>
            </a:avLst>
          </a:prstGeom>
          <a:solidFill>
            <a:srgbClr val="F4F6F8"/>
          </a:solidFill>
          <a:ln/>
          <a:effectLst>
            <a:outerShdw sx="100000" sy="100000" kx="0" ky="0" algn="bl" rotWithShape="0" blurRad="101600" dist="38100" dir="2700000">
              <a:srgbClr val="000000">
                <a:alpha val="12000"/>
              </a:srgbClr>
            </a:outerShdw>
          </a:effectLst>
        </p:spPr>
      </p:sp>
      <p:sp>
        <p:nvSpPr>
          <p:cNvPr id="13" name="Text 9"/>
          <p:cNvSpPr/>
          <p:nvPr/>
        </p:nvSpPr>
        <p:spPr>
          <a:xfrm>
            <a:off x="6949440" y="3447288"/>
            <a:ext cx="1097280" cy="457200"/>
          </a:xfrm>
          <a:prstGeom prst="rect">
            <a:avLst/>
          </a:prstGeom>
          <a:noFill/>
          <a:ln/>
        </p:spPr>
        <p:txBody>
          <a:bodyPr wrap="square" rtlCol="0" anchor="ctr"/>
          <a:lstStyle/>
          <a:p>
            <a:pPr indent="0" marL="0">
              <a:buNone/>
            </a:pPr>
            <a:r>
              <a:rPr lang="en-US" sz="2000" b="1" dirty="0">
                <a:solidFill>
                  <a:srgbClr val="1A5A96"/>
                </a:solidFill>
              </a:rPr>
              <a:t>SAM</a:t>
            </a:r>
            <a:endParaRPr lang="en-US" sz="2000" dirty="0"/>
          </a:p>
        </p:txBody>
      </p:sp>
      <p:sp>
        <p:nvSpPr>
          <p:cNvPr id="14" name="Text 10"/>
          <p:cNvSpPr/>
          <p:nvPr/>
        </p:nvSpPr>
        <p:spPr>
          <a:xfrm>
            <a:off x="6949440" y="3867912"/>
            <a:ext cx="4389120" cy="320040"/>
          </a:xfrm>
          <a:prstGeom prst="rect">
            <a:avLst/>
          </a:prstGeom>
          <a:noFill/>
          <a:ln/>
        </p:spPr>
        <p:txBody>
          <a:bodyPr wrap="square" rtlCol="0" anchor="ctr"/>
          <a:lstStyle/>
          <a:p>
            <a:pPr indent="0" marL="0">
              <a:buNone/>
            </a:pPr>
            <a:r>
              <a:rPr lang="en-US" sz="1400" b="1" dirty="0">
                <a:solidFill>
                  <a:srgbClr val="1C2535"/>
                </a:solidFill>
              </a:rPr>
              <a:t>650.000+ / 480 M€</a:t>
            </a:r>
            <a:endParaRPr lang="en-US" sz="1400" dirty="0"/>
          </a:p>
        </p:txBody>
      </p:sp>
      <p:sp>
        <p:nvSpPr>
          <p:cNvPr id="15" name="Text 11"/>
          <p:cNvSpPr/>
          <p:nvPr/>
        </p:nvSpPr>
        <p:spPr>
          <a:xfrm>
            <a:off x="6949440" y="4178808"/>
            <a:ext cx="4389120" cy="320040"/>
          </a:xfrm>
          <a:prstGeom prst="rect">
            <a:avLst/>
          </a:prstGeom>
          <a:noFill/>
          <a:ln/>
        </p:spPr>
        <p:txBody>
          <a:bodyPr wrap="square" rtlCol="0" anchor="ctr"/>
          <a:lstStyle/>
          <a:p>
            <a:pPr indent="0" marL="0">
              <a:buNone/>
            </a:pPr>
            <a:r>
              <a:rPr lang="en-US" sz="1100" dirty="0">
                <a:solidFill>
                  <a:srgbClr val="6B7280"/>
                </a:solidFill>
              </a:rPr>
              <a:t>Instaladores y microempresas en España</a:t>
            </a:r>
            <a:endParaRPr lang="en-US" sz="1100" dirty="0"/>
          </a:p>
        </p:txBody>
      </p:sp>
      <p:sp>
        <p:nvSpPr>
          <p:cNvPr id="16" name="Shape 12"/>
          <p:cNvSpPr/>
          <p:nvPr/>
        </p:nvSpPr>
        <p:spPr>
          <a:xfrm>
            <a:off x="6720840" y="4754880"/>
            <a:ext cx="4800600" cy="1188720"/>
          </a:xfrm>
          <a:prstGeom prst="roundRect">
            <a:avLst>
              <a:gd name="adj" fmla="val 6154"/>
            </a:avLst>
          </a:prstGeom>
          <a:solidFill>
            <a:srgbClr val="F4F6F8"/>
          </a:solidFill>
          <a:ln/>
          <a:effectLst>
            <a:outerShdw sx="100000" sy="100000" kx="0" ky="0" algn="bl" rotWithShape="0" blurRad="101600" dist="38100" dir="2700000">
              <a:srgbClr val="000000">
                <a:alpha val="12000"/>
              </a:srgbClr>
            </a:outerShdw>
          </a:effectLst>
        </p:spPr>
      </p:sp>
      <p:sp>
        <p:nvSpPr>
          <p:cNvPr id="17" name="Text 13"/>
          <p:cNvSpPr/>
          <p:nvPr/>
        </p:nvSpPr>
        <p:spPr>
          <a:xfrm>
            <a:off x="6949440" y="4864608"/>
            <a:ext cx="1097280" cy="457200"/>
          </a:xfrm>
          <a:prstGeom prst="rect">
            <a:avLst/>
          </a:prstGeom>
          <a:noFill/>
          <a:ln/>
        </p:spPr>
        <p:txBody>
          <a:bodyPr wrap="square" rtlCol="0" anchor="ctr"/>
          <a:lstStyle/>
          <a:p>
            <a:pPr indent="0" marL="0">
              <a:buNone/>
            </a:pPr>
            <a:r>
              <a:rPr lang="en-US" sz="2000" b="1" dirty="0">
                <a:solidFill>
                  <a:srgbClr val="1A5A96"/>
                </a:solidFill>
              </a:rPr>
              <a:t>SOM</a:t>
            </a:r>
            <a:endParaRPr lang="en-US" sz="2000" dirty="0"/>
          </a:p>
        </p:txBody>
      </p:sp>
      <p:sp>
        <p:nvSpPr>
          <p:cNvPr id="18" name="Text 14"/>
          <p:cNvSpPr/>
          <p:nvPr/>
        </p:nvSpPr>
        <p:spPr>
          <a:xfrm>
            <a:off x="6949440" y="5285232"/>
            <a:ext cx="4389120" cy="320040"/>
          </a:xfrm>
          <a:prstGeom prst="rect">
            <a:avLst/>
          </a:prstGeom>
          <a:noFill/>
          <a:ln/>
        </p:spPr>
        <p:txBody>
          <a:bodyPr wrap="square" rtlCol="0" anchor="ctr"/>
          <a:lstStyle/>
          <a:p>
            <a:pPr indent="0" marL="0">
              <a:buNone/>
            </a:pPr>
            <a:r>
              <a:rPr lang="en-US" sz="1400" b="1" dirty="0">
                <a:solidFill>
                  <a:srgbClr val="1C2535"/>
                </a:solidFill>
              </a:rPr>
              <a:t>541 clientes / 318.000 €</a:t>
            </a:r>
            <a:endParaRPr lang="en-US" sz="1400" dirty="0"/>
          </a:p>
        </p:txBody>
      </p:sp>
      <p:sp>
        <p:nvSpPr>
          <p:cNvPr id="19" name="Text 15"/>
          <p:cNvSpPr/>
          <p:nvPr/>
        </p:nvSpPr>
        <p:spPr>
          <a:xfrm>
            <a:off x="6949440" y="5596128"/>
            <a:ext cx="4389120" cy="320040"/>
          </a:xfrm>
          <a:prstGeom prst="rect">
            <a:avLst/>
          </a:prstGeom>
          <a:noFill/>
          <a:ln/>
        </p:spPr>
        <p:txBody>
          <a:bodyPr wrap="square" rtlCol="0" anchor="ctr"/>
          <a:lstStyle/>
          <a:p>
            <a:pPr indent="0" marL="0">
              <a:buNone/>
            </a:pPr>
            <a:r>
              <a:rPr lang="en-US" sz="1100" dirty="0">
                <a:solidFill>
                  <a:srgbClr val="6B7280"/>
                </a:solidFill>
              </a:rPr>
              <a:t>Objetivo a 3 años, escenario base del modelo financiero</a:t>
            </a:r>
            <a:endParaRPr lang="en-US" sz="1100" dirty="0"/>
          </a:p>
        </p:txBody>
      </p:sp>
      <p:sp>
        <p:nvSpPr>
          <p:cNvPr id="20" name="Text 16"/>
          <p:cNvSpPr/>
          <p:nvPr/>
        </p:nvSpPr>
        <p:spPr>
          <a:xfrm>
            <a:off x="640080" y="6400800"/>
            <a:ext cx="1828800" cy="274320"/>
          </a:xfrm>
          <a:prstGeom prst="rect">
            <a:avLst/>
          </a:prstGeom>
          <a:noFill/>
          <a:ln/>
        </p:spPr>
        <p:txBody>
          <a:bodyPr wrap="square" rtlCol="0" anchor="ctr"/>
          <a:lstStyle/>
          <a:p>
            <a:pPr indent="0" marL="0">
              <a:buNone/>
            </a:pPr>
            <a:r>
              <a:rPr lang="en-US" sz="1100" b="1" dirty="0">
                <a:solidFill>
                  <a:srgbClr val="6B7280"/>
                </a:solidFill>
              </a:rPr>
              <a:t>TradeFlow</a:t>
            </a:r>
            <a:endParaRPr lang="en-US" sz="1100" dirty="0"/>
          </a:p>
        </p:txBody>
      </p:sp>
      <p:sp>
        <p:nvSpPr>
          <p:cNvPr id="21" name="Text 17"/>
          <p:cNvSpPr/>
          <p:nvPr/>
        </p:nvSpPr>
        <p:spPr>
          <a:xfrm>
            <a:off x="11548872" y="6400800"/>
            <a:ext cx="365760" cy="274320"/>
          </a:xfrm>
          <a:prstGeom prst="rect">
            <a:avLst/>
          </a:prstGeom>
          <a:noFill/>
          <a:ln/>
        </p:spPr>
        <p:txBody>
          <a:bodyPr wrap="square" rtlCol="0" anchor="ctr"/>
          <a:lstStyle/>
          <a:p>
            <a:pPr algn="r" indent="0" marL="0">
              <a:buNone/>
            </a:pPr>
            <a:r>
              <a:rPr lang="en-US" sz="1100" dirty="0">
                <a:solidFill>
                  <a:srgbClr val="6B7280"/>
                </a:solidFill>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94360"/>
            <a:ext cx="685800" cy="685800"/>
          </a:xfrm>
          <a:prstGeom prst="ellipse">
            <a:avLst/>
          </a:prstGeom>
          <a:solidFill>
            <a:srgbClr val="1A5A96"/>
          </a:solidFill>
          <a:ln/>
        </p:spPr>
      </p:sp>
      <p:pic>
        <p:nvPicPr>
          <p:cNvPr id="3" name="Image 0" descr="/home/claude/deck/icons/euro.png">    </p:cNvPr>
          <p:cNvPicPr>
            <a:picLocks noChangeAspect="1"/>
          </p:cNvPicPr>
          <p:nvPr/>
        </p:nvPicPr>
        <p:blipFill>
          <a:blip r:embed="rId1"/>
          <a:stretch>
            <a:fillRect/>
          </a:stretch>
        </p:blipFill>
        <p:spPr>
          <a:xfrm>
            <a:off x="729234" y="683514"/>
            <a:ext cx="507492" cy="507492"/>
          </a:xfrm>
          <a:prstGeom prst="rect">
            <a:avLst/>
          </a:prstGeom>
        </p:spPr>
      </p:pic>
      <p:sp>
        <p:nvSpPr>
          <p:cNvPr id="4" name="Text 1"/>
          <p:cNvSpPr/>
          <p:nvPr/>
        </p:nvSpPr>
        <p:spPr>
          <a:xfrm>
            <a:off x="640080" y="384048"/>
            <a:ext cx="7315200" cy="320040"/>
          </a:xfrm>
          <a:prstGeom prst="rect">
            <a:avLst/>
          </a:prstGeom>
          <a:noFill/>
          <a:ln/>
        </p:spPr>
        <p:txBody>
          <a:bodyPr wrap="square" rtlCol="0" anchor="ctr"/>
          <a:lstStyle/>
          <a:p>
            <a:pPr indent="0" marL="0">
              <a:buNone/>
            </a:pPr>
            <a:r>
              <a:rPr lang="en-US" sz="1300" b="1" spc="200" kern="0" dirty="0">
                <a:solidFill>
                  <a:srgbClr val="1A5A96"/>
                </a:solidFill>
                <a:latin typeface="Calibri" pitchFamily="34" charset="0"/>
                <a:ea typeface="Calibri" pitchFamily="34" charset="-122"/>
                <a:cs typeface="Calibri" pitchFamily="34" charset="-120"/>
              </a:rPr>
              <a:t>09 · MODELO DE NEGOCIO</a:t>
            </a:r>
            <a:endParaRPr lang="en-US" sz="1300" dirty="0"/>
          </a:p>
        </p:txBody>
      </p:sp>
      <p:sp>
        <p:nvSpPr>
          <p:cNvPr id="5" name="Text 2"/>
          <p:cNvSpPr/>
          <p:nvPr/>
        </p:nvSpPr>
        <p:spPr>
          <a:xfrm>
            <a:off x="1508760" y="566928"/>
            <a:ext cx="10058400" cy="731520"/>
          </a:xfrm>
          <a:prstGeom prst="rect">
            <a:avLst/>
          </a:prstGeom>
          <a:noFill/>
          <a:ln/>
        </p:spPr>
        <p:txBody>
          <a:bodyPr wrap="square" rtlCol="0" anchor="ctr"/>
          <a:lstStyle/>
          <a:p>
            <a:pPr indent="0" marL="0">
              <a:buNone/>
            </a:pPr>
            <a:r>
              <a:rPr lang="en-US" sz="2800" b="1" dirty="0">
                <a:solidFill>
                  <a:srgbClr val="1C2535"/>
                </a:solidFill>
                <a:latin typeface="Cambria" pitchFamily="34" charset="0"/>
                <a:ea typeface="Cambria" pitchFamily="34" charset="-122"/>
                <a:cs typeface="Cambria" pitchFamily="34" charset="-120"/>
              </a:rPr>
              <a:t>SaaS recurrente, con recorrido de expansión</a:t>
            </a:r>
            <a:endParaRPr lang="en-US" sz="2800" dirty="0"/>
          </a:p>
        </p:txBody>
      </p:sp>
      <p:sp>
        <p:nvSpPr>
          <p:cNvPr id="6" name="Shape 3"/>
          <p:cNvSpPr/>
          <p:nvPr/>
        </p:nvSpPr>
        <p:spPr>
          <a:xfrm>
            <a:off x="640080" y="1874520"/>
            <a:ext cx="3429000" cy="1828800"/>
          </a:xfrm>
          <a:prstGeom prst="roundRect">
            <a:avLst>
              <a:gd name="adj" fmla="val 4000"/>
            </a:avLst>
          </a:prstGeom>
          <a:solidFill>
            <a:srgbClr val="F4F6F8"/>
          </a:solidFill>
          <a:ln/>
          <a:effectLst>
            <a:outerShdw sx="100000" sy="100000" kx="0" ky="0" algn="bl" rotWithShape="0" blurRad="101600" dist="38100" dir="2700000">
              <a:srgbClr val="000000">
                <a:alpha val="12000"/>
              </a:srgbClr>
            </a:outerShdw>
          </a:effectLst>
        </p:spPr>
      </p:sp>
      <p:sp>
        <p:nvSpPr>
          <p:cNvPr id="7" name="Text 4"/>
          <p:cNvSpPr/>
          <p:nvPr/>
        </p:nvSpPr>
        <p:spPr>
          <a:xfrm>
            <a:off x="868680" y="2057400"/>
            <a:ext cx="3017520" cy="365760"/>
          </a:xfrm>
          <a:prstGeom prst="rect">
            <a:avLst/>
          </a:prstGeom>
          <a:noFill/>
          <a:ln/>
        </p:spPr>
        <p:txBody>
          <a:bodyPr wrap="square" rtlCol="0" anchor="ctr"/>
          <a:lstStyle/>
          <a:p>
            <a:pPr indent="0" marL="0">
              <a:buNone/>
            </a:pPr>
            <a:r>
              <a:rPr lang="en-US" sz="1500" b="1" dirty="0">
                <a:solidFill>
                  <a:srgbClr val="1C2535"/>
                </a:solidFill>
              </a:rPr>
              <a:t>Profesional</a:t>
            </a:r>
            <a:endParaRPr lang="en-US" sz="1500" dirty="0"/>
          </a:p>
        </p:txBody>
      </p:sp>
      <p:sp>
        <p:nvSpPr>
          <p:cNvPr id="8" name="Text 5"/>
          <p:cNvSpPr/>
          <p:nvPr/>
        </p:nvSpPr>
        <p:spPr>
          <a:xfrm>
            <a:off x="868680" y="2423160"/>
            <a:ext cx="3017520" cy="502920"/>
          </a:xfrm>
          <a:prstGeom prst="rect">
            <a:avLst/>
          </a:prstGeom>
          <a:noFill/>
          <a:ln/>
        </p:spPr>
        <p:txBody>
          <a:bodyPr wrap="square" rtlCol="0" anchor="ctr"/>
          <a:lstStyle/>
          <a:p>
            <a:pPr indent="0" marL="0">
              <a:buNone/>
            </a:pPr>
            <a:r>
              <a:rPr lang="en-US" sz="2600" b="1" dirty="0">
                <a:solidFill>
                  <a:srgbClr val="1A5A96"/>
                </a:solidFill>
              </a:rPr>
              <a:t>49€/mes</a:t>
            </a:r>
            <a:endParaRPr lang="en-US" sz="2600" dirty="0"/>
          </a:p>
        </p:txBody>
      </p:sp>
      <p:sp>
        <p:nvSpPr>
          <p:cNvPr id="9" name="Text 6"/>
          <p:cNvSpPr/>
          <p:nvPr/>
        </p:nvSpPr>
        <p:spPr>
          <a:xfrm>
            <a:off x="868680" y="3063240"/>
            <a:ext cx="3017520" cy="548640"/>
          </a:xfrm>
          <a:prstGeom prst="rect">
            <a:avLst/>
          </a:prstGeom>
          <a:noFill/>
          <a:ln/>
        </p:spPr>
        <p:txBody>
          <a:bodyPr wrap="square" rtlCol="0" anchor="ctr"/>
          <a:lstStyle/>
          <a:p>
            <a:pPr indent="0" marL="0">
              <a:buNone/>
            </a:pPr>
            <a:r>
              <a:rPr lang="en-US" sz="1150" dirty="0">
                <a:solidFill>
                  <a:srgbClr val="6B7280"/>
                </a:solidFill>
              </a:rPr>
              <a:t>Presupuestos ilimitados, facturación, 1 usuario</a:t>
            </a:r>
            <a:endParaRPr lang="en-US" sz="1150" dirty="0"/>
          </a:p>
        </p:txBody>
      </p:sp>
      <p:sp>
        <p:nvSpPr>
          <p:cNvPr id="10" name="Shape 7"/>
          <p:cNvSpPr/>
          <p:nvPr/>
        </p:nvSpPr>
        <p:spPr>
          <a:xfrm>
            <a:off x="4343400" y="1874520"/>
            <a:ext cx="3429000" cy="1828800"/>
          </a:xfrm>
          <a:prstGeom prst="roundRect">
            <a:avLst>
              <a:gd name="adj" fmla="val 4000"/>
            </a:avLst>
          </a:prstGeom>
          <a:solidFill>
            <a:srgbClr val="1C2535"/>
          </a:solidFill>
          <a:ln/>
          <a:effectLst>
            <a:outerShdw sx="100000" sy="100000" kx="0" ky="0" algn="bl" rotWithShape="0" blurRad="101600" dist="38100" dir="2700000">
              <a:srgbClr val="000000">
                <a:alpha val="12000"/>
              </a:srgbClr>
            </a:outerShdw>
          </a:effectLst>
        </p:spPr>
      </p:sp>
      <p:sp>
        <p:nvSpPr>
          <p:cNvPr id="11" name="Text 8"/>
          <p:cNvSpPr/>
          <p:nvPr/>
        </p:nvSpPr>
        <p:spPr>
          <a:xfrm>
            <a:off x="4572000" y="2057400"/>
            <a:ext cx="3017520" cy="365760"/>
          </a:xfrm>
          <a:prstGeom prst="rect">
            <a:avLst/>
          </a:prstGeom>
          <a:noFill/>
          <a:ln/>
        </p:spPr>
        <p:txBody>
          <a:bodyPr wrap="square" rtlCol="0" anchor="ctr"/>
          <a:lstStyle/>
          <a:p>
            <a:pPr indent="0" marL="0">
              <a:buNone/>
            </a:pPr>
            <a:r>
              <a:rPr lang="en-US" sz="1500" b="1" dirty="0">
                <a:solidFill>
                  <a:srgbClr val="FFFFFF"/>
                </a:solidFill>
              </a:rPr>
              <a:t>Empresa</a:t>
            </a:r>
            <a:endParaRPr lang="en-US" sz="1500" dirty="0"/>
          </a:p>
        </p:txBody>
      </p:sp>
      <p:sp>
        <p:nvSpPr>
          <p:cNvPr id="12" name="Text 9"/>
          <p:cNvSpPr/>
          <p:nvPr/>
        </p:nvSpPr>
        <p:spPr>
          <a:xfrm>
            <a:off x="4572000" y="2423160"/>
            <a:ext cx="3017520" cy="502920"/>
          </a:xfrm>
          <a:prstGeom prst="rect">
            <a:avLst/>
          </a:prstGeom>
          <a:noFill/>
          <a:ln/>
        </p:spPr>
        <p:txBody>
          <a:bodyPr wrap="square" rtlCol="0" anchor="ctr"/>
          <a:lstStyle/>
          <a:p>
            <a:pPr indent="0" marL="0">
              <a:buNone/>
            </a:pPr>
            <a:r>
              <a:rPr lang="en-US" sz="2600" b="1" dirty="0">
                <a:solidFill>
                  <a:srgbClr val="C8922A"/>
                </a:solidFill>
              </a:rPr>
              <a:t>89€/mes</a:t>
            </a:r>
            <a:endParaRPr lang="en-US" sz="2600" dirty="0"/>
          </a:p>
        </p:txBody>
      </p:sp>
      <p:sp>
        <p:nvSpPr>
          <p:cNvPr id="13" name="Text 10"/>
          <p:cNvSpPr/>
          <p:nvPr/>
        </p:nvSpPr>
        <p:spPr>
          <a:xfrm>
            <a:off x="4572000" y="3063240"/>
            <a:ext cx="3017520" cy="548640"/>
          </a:xfrm>
          <a:prstGeom prst="rect">
            <a:avLst/>
          </a:prstGeom>
          <a:noFill/>
          <a:ln/>
        </p:spPr>
        <p:txBody>
          <a:bodyPr wrap="square" rtlCol="0" anchor="ctr"/>
          <a:lstStyle/>
          <a:p>
            <a:pPr indent="0" marL="0">
              <a:buNone/>
            </a:pPr>
            <a:r>
              <a:rPr lang="en-US" sz="1150" dirty="0">
                <a:solidFill>
                  <a:srgbClr val="CBD5E1"/>
                </a:solidFill>
              </a:rPr>
              <a:t>Hasta 5 usuarios, soporte prioritario</a:t>
            </a:r>
            <a:endParaRPr lang="en-US" sz="1150" dirty="0"/>
          </a:p>
        </p:txBody>
      </p:sp>
      <p:sp>
        <p:nvSpPr>
          <p:cNvPr id="14" name="Shape 11"/>
          <p:cNvSpPr/>
          <p:nvPr/>
        </p:nvSpPr>
        <p:spPr>
          <a:xfrm>
            <a:off x="8046720" y="1874520"/>
            <a:ext cx="3429000" cy="1828800"/>
          </a:xfrm>
          <a:prstGeom prst="roundRect">
            <a:avLst>
              <a:gd name="adj" fmla="val 4000"/>
            </a:avLst>
          </a:prstGeom>
          <a:solidFill>
            <a:srgbClr val="F4F6F8"/>
          </a:solidFill>
          <a:ln/>
          <a:effectLst>
            <a:outerShdw sx="100000" sy="100000" kx="0" ky="0" algn="bl" rotWithShape="0" blurRad="101600" dist="38100" dir="2700000">
              <a:srgbClr val="000000">
                <a:alpha val="12000"/>
              </a:srgbClr>
            </a:outerShdw>
          </a:effectLst>
        </p:spPr>
      </p:sp>
      <p:sp>
        <p:nvSpPr>
          <p:cNvPr id="15" name="Text 12"/>
          <p:cNvSpPr/>
          <p:nvPr/>
        </p:nvSpPr>
        <p:spPr>
          <a:xfrm>
            <a:off x="8275320" y="2057400"/>
            <a:ext cx="3017520" cy="365760"/>
          </a:xfrm>
          <a:prstGeom prst="rect">
            <a:avLst/>
          </a:prstGeom>
          <a:noFill/>
          <a:ln/>
        </p:spPr>
        <p:txBody>
          <a:bodyPr wrap="square" rtlCol="0" anchor="ctr"/>
          <a:lstStyle/>
          <a:p>
            <a:pPr indent="0" marL="0">
              <a:buNone/>
            </a:pPr>
            <a:r>
              <a:rPr lang="en-US" sz="1500" b="1" dirty="0">
                <a:solidFill>
                  <a:srgbClr val="1C2535"/>
                </a:solidFill>
              </a:rPr>
              <a:t>Empresa+</a:t>
            </a:r>
            <a:endParaRPr lang="en-US" sz="1500" dirty="0"/>
          </a:p>
        </p:txBody>
      </p:sp>
      <p:sp>
        <p:nvSpPr>
          <p:cNvPr id="16" name="Text 13"/>
          <p:cNvSpPr/>
          <p:nvPr/>
        </p:nvSpPr>
        <p:spPr>
          <a:xfrm>
            <a:off x="8275320" y="2423160"/>
            <a:ext cx="3017520" cy="502920"/>
          </a:xfrm>
          <a:prstGeom prst="rect">
            <a:avLst/>
          </a:prstGeom>
          <a:noFill/>
          <a:ln/>
        </p:spPr>
        <p:txBody>
          <a:bodyPr wrap="square" rtlCol="0" anchor="ctr"/>
          <a:lstStyle/>
          <a:p>
            <a:pPr indent="0" marL="0">
              <a:buNone/>
            </a:pPr>
            <a:r>
              <a:rPr lang="en-US" sz="2600" b="1" dirty="0">
                <a:solidFill>
                  <a:srgbClr val="1A5A96"/>
                </a:solidFill>
              </a:rPr>
              <a:t>179€/mes</a:t>
            </a:r>
            <a:endParaRPr lang="en-US" sz="2600" dirty="0"/>
          </a:p>
        </p:txBody>
      </p:sp>
      <p:sp>
        <p:nvSpPr>
          <p:cNvPr id="17" name="Text 14"/>
          <p:cNvSpPr/>
          <p:nvPr/>
        </p:nvSpPr>
        <p:spPr>
          <a:xfrm>
            <a:off x="8275320" y="3063240"/>
            <a:ext cx="3017520" cy="548640"/>
          </a:xfrm>
          <a:prstGeom prst="rect">
            <a:avLst/>
          </a:prstGeom>
          <a:noFill/>
          <a:ln/>
        </p:spPr>
        <p:txBody>
          <a:bodyPr wrap="square" rtlCol="0" anchor="ctr"/>
          <a:lstStyle/>
          <a:p>
            <a:pPr indent="0" marL="0">
              <a:buNone/>
            </a:pPr>
            <a:r>
              <a:rPr lang="en-US" sz="1150" dirty="0">
                <a:solidFill>
                  <a:srgbClr val="6B7280"/>
                </a:solidFill>
              </a:rPr>
              <a:t>Hasta 15 usuarios, funcionalidades avanzadas</a:t>
            </a:r>
            <a:endParaRPr lang="en-US" sz="1150" dirty="0"/>
          </a:p>
        </p:txBody>
      </p:sp>
      <p:sp>
        <p:nvSpPr>
          <p:cNvPr id="18" name="Text 15"/>
          <p:cNvSpPr/>
          <p:nvPr/>
        </p:nvSpPr>
        <p:spPr>
          <a:xfrm>
            <a:off x="640080" y="3977640"/>
            <a:ext cx="7315200" cy="365760"/>
          </a:xfrm>
          <a:prstGeom prst="rect">
            <a:avLst/>
          </a:prstGeom>
          <a:noFill/>
          <a:ln/>
        </p:spPr>
        <p:txBody>
          <a:bodyPr wrap="square" rtlCol="0" anchor="ctr"/>
          <a:lstStyle/>
          <a:p>
            <a:pPr indent="0" marL="0">
              <a:buNone/>
            </a:pPr>
            <a:r>
              <a:rPr lang="en-US" sz="1600" b="1" dirty="0">
                <a:solidFill>
                  <a:srgbClr val="1C2535"/>
                </a:solidFill>
              </a:rPr>
              <a:t>Vías de expansión de ingresos</a:t>
            </a:r>
            <a:endParaRPr lang="en-US" sz="1600" dirty="0"/>
          </a:p>
        </p:txBody>
      </p:sp>
      <p:sp>
        <p:nvSpPr>
          <p:cNvPr id="19" name="Text 16"/>
          <p:cNvSpPr/>
          <p:nvPr/>
        </p:nvSpPr>
        <p:spPr>
          <a:xfrm>
            <a:off x="640080" y="4389120"/>
            <a:ext cx="7498080" cy="1280160"/>
          </a:xfrm>
          <a:prstGeom prst="rect">
            <a:avLst/>
          </a:prstGeom>
          <a:noFill/>
          <a:ln/>
        </p:spPr>
        <p:txBody>
          <a:bodyPr wrap="square" rtlCol="0" anchor="ctr"/>
          <a:lstStyle/>
          <a:p>
            <a:pPr marL="342900" indent="-342900">
              <a:spcAft>
                <a:spcPts val="600"/>
              </a:spcAft>
              <a:buSzPct val="100000"/>
              <a:buChar char="•"/>
            </a:pPr>
            <a:r>
              <a:rPr lang="en-US" sz="1400" dirty="0">
                <a:solidFill>
                  <a:srgbClr val="374151"/>
                </a:solidFill>
              </a:rPr>
              <a:t>Comisión de marketplace de proveedores integrados</a:t>
            </a:r>
            <a:endParaRPr lang="en-US" sz="1400" dirty="0"/>
          </a:p>
          <a:p>
            <a:pPr marL="342900" indent="-342900">
              <a:spcAft>
                <a:spcPts val="600"/>
              </a:spcAft>
              <a:buSzPct val="100000"/>
              <a:buChar char="•"/>
            </a:pPr>
            <a:r>
              <a:rPr lang="en-US" sz="1400" dirty="0">
                <a:solidFill>
                  <a:srgbClr val="374151"/>
                </a:solidFill>
              </a:rPr>
              <a:t>Financiación embebida para compra de materiales</a:t>
            </a:r>
            <a:endParaRPr lang="en-US" sz="1400" dirty="0"/>
          </a:p>
          <a:p>
            <a:pPr marL="342900" indent="-342900">
              <a:spcAft>
                <a:spcPts val="600"/>
              </a:spcAft>
              <a:buSzPct val="100000"/>
              <a:buChar char="•"/>
            </a:pPr>
            <a:r>
              <a:rPr lang="en-US" sz="1400" dirty="0">
                <a:solidFill>
                  <a:srgbClr val="374151"/>
                </a:solidFill>
              </a:rPr>
              <a:t>Módulos premium de automatización e integraciones ERP</a:t>
            </a:r>
            <a:endParaRPr lang="en-US" sz="1400" dirty="0"/>
          </a:p>
        </p:txBody>
      </p:sp>
      <p:sp>
        <p:nvSpPr>
          <p:cNvPr id="20" name="Shape 17"/>
          <p:cNvSpPr/>
          <p:nvPr/>
        </p:nvSpPr>
        <p:spPr>
          <a:xfrm>
            <a:off x="9052560" y="4114800"/>
            <a:ext cx="1920240" cy="1920240"/>
          </a:xfrm>
          <a:prstGeom prst="ellipse">
            <a:avLst/>
          </a:prstGeom>
          <a:solidFill>
            <a:srgbClr val="EAF1F8"/>
          </a:solidFill>
          <a:ln/>
        </p:spPr>
      </p:sp>
      <p:pic>
        <p:nvPicPr>
          <p:cNvPr id="21" name="Image 1" descr="/home/claude/deck/icons/layer_blue.png">    </p:cNvPr>
          <p:cNvPicPr>
            <a:picLocks noChangeAspect="1"/>
          </p:cNvPicPr>
          <p:nvPr/>
        </p:nvPicPr>
        <p:blipFill>
          <a:blip r:embed="rId2"/>
          <a:stretch>
            <a:fillRect/>
          </a:stretch>
        </p:blipFill>
        <p:spPr>
          <a:xfrm>
            <a:off x="9302191" y="4364431"/>
            <a:ext cx="1420978" cy="1420978"/>
          </a:xfrm>
          <a:prstGeom prst="rect">
            <a:avLst/>
          </a:prstGeom>
        </p:spPr>
      </p:pic>
      <p:sp>
        <p:nvSpPr>
          <p:cNvPr id="22" name="Text 18"/>
          <p:cNvSpPr/>
          <p:nvPr/>
        </p:nvSpPr>
        <p:spPr>
          <a:xfrm>
            <a:off x="640080" y="6400800"/>
            <a:ext cx="1828800" cy="274320"/>
          </a:xfrm>
          <a:prstGeom prst="rect">
            <a:avLst/>
          </a:prstGeom>
          <a:noFill/>
          <a:ln/>
        </p:spPr>
        <p:txBody>
          <a:bodyPr wrap="square" rtlCol="0" anchor="ctr"/>
          <a:lstStyle/>
          <a:p>
            <a:pPr indent="0" marL="0">
              <a:buNone/>
            </a:pPr>
            <a:r>
              <a:rPr lang="en-US" sz="1100" b="1" dirty="0">
                <a:solidFill>
                  <a:srgbClr val="6B7280"/>
                </a:solidFill>
              </a:rPr>
              <a:t>TradeFlow</a:t>
            </a:r>
            <a:endParaRPr lang="en-US" sz="1100" dirty="0"/>
          </a:p>
        </p:txBody>
      </p:sp>
      <p:sp>
        <p:nvSpPr>
          <p:cNvPr id="23" name="Text 19"/>
          <p:cNvSpPr/>
          <p:nvPr/>
        </p:nvSpPr>
        <p:spPr>
          <a:xfrm>
            <a:off x="11548872" y="6400800"/>
            <a:ext cx="365760" cy="274320"/>
          </a:xfrm>
          <a:prstGeom prst="rect">
            <a:avLst/>
          </a:prstGeom>
          <a:noFill/>
          <a:ln/>
        </p:spPr>
        <p:txBody>
          <a:bodyPr wrap="square" rtlCol="0" anchor="ctr"/>
          <a:lstStyle/>
          <a:p>
            <a:pPr algn="r" indent="0" marL="0">
              <a:buNone/>
            </a:pPr>
            <a:r>
              <a:rPr lang="en-US" sz="1100" dirty="0">
                <a:solidFill>
                  <a:srgbClr val="6B7280"/>
                </a:solidFill>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94360"/>
            <a:ext cx="685800" cy="685800"/>
          </a:xfrm>
          <a:prstGeom prst="ellipse">
            <a:avLst/>
          </a:prstGeom>
          <a:solidFill>
            <a:srgbClr val="B84E35"/>
          </a:solidFill>
          <a:ln/>
        </p:spPr>
      </p:sp>
      <p:pic>
        <p:nvPicPr>
          <p:cNvPr id="3" name="Image 0" descr="/home/claude/deck/icons/road.png">    </p:cNvPr>
          <p:cNvPicPr>
            <a:picLocks noChangeAspect="1"/>
          </p:cNvPicPr>
          <p:nvPr/>
        </p:nvPicPr>
        <p:blipFill>
          <a:blip r:embed="rId1"/>
          <a:stretch>
            <a:fillRect/>
          </a:stretch>
        </p:blipFill>
        <p:spPr>
          <a:xfrm>
            <a:off x="729234" y="683514"/>
            <a:ext cx="507492" cy="507492"/>
          </a:xfrm>
          <a:prstGeom prst="rect">
            <a:avLst/>
          </a:prstGeom>
        </p:spPr>
      </p:pic>
      <p:sp>
        <p:nvSpPr>
          <p:cNvPr id="4" name="Text 1"/>
          <p:cNvSpPr/>
          <p:nvPr/>
        </p:nvSpPr>
        <p:spPr>
          <a:xfrm>
            <a:off x="640080" y="384048"/>
            <a:ext cx="7315200" cy="320040"/>
          </a:xfrm>
          <a:prstGeom prst="rect">
            <a:avLst/>
          </a:prstGeom>
          <a:noFill/>
          <a:ln/>
        </p:spPr>
        <p:txBody>
          <a:bodyPr wrap="square" rtlCol="0" anchor="ctr"/>
          <a:lstStyle/>
          <a:p>
            <a:pPr indent="0" marL="0">
              <a:buNone/>
            </a:pPr>
            <a:r>
              <a:rPr lang="en-US" sz="1300" b="1" spc="200" kern="0" dirty="0">
                <a:solidFill>
                  <a:srgbClr val="B84E35"/>
                </a:solidFill>
                <a:latin typeface="Calibri" pitchFamily="34" charset="0"/>
                <a:ea typeface="Calibri" pitchFamily="34" charset="-122"/>
                <a:cs typeface="Calibri" pitchFamily="34" charset="-120"/>
              </a:rPr>
              <a:t>10 · ROADMAP</a:t>
            </a:r>
            <a:endParaRPr lang="en-US" sz="1300" dirty="0"/>
          </a:p>
        </p:txBody>
      </p:sp>
      <p:sp>
        <p:nvSpPr>
          <p:cNvPr id="5" name="Text 2"/>
          <p:cNvSpPr/>
          <p:nvPr/>
        </p:nvSpPr>
        <p:spPr>
          <a:xfrm>
            <a:off x="1508760" y="566928"/>
            <a:ext cx="9144000" cy="731520"/>
          </a:xfrm>
          <a:prstGeom prst="rect">
            <a:avLst/>
          </a:prstGeom>
          <a:noFill/>
          <a:ln/>
        </p:spPr>
        <p:txBody>
          <a:bodyPr wrap="square" rtlCol="0" anchor="ctr"/>
          <a:lstStyle/>
          <a:p>
            <a:pPr indent="0" marL="0">
              <a:buNone/>
            </a:pPr>
            <a:r>
              <a:rPr lang="en-US" sz="3200" b="1" dirty="0">
                <a:solidFill>
                  <a:srgbClr val="1C2535"/>
                </a:solidFill>
                <a:latin typeface="Cambria" pitchFamily="34" charset="0"/>
                <a:ea typeface="Cambria" pitchFamily="34" charset="-122"/>
                <a:cs typeface="Cambria" pitchFamily="34" charset="-120"/>
              </a:rPr>
              <a:t>Roadmap de escalado</a:t>
            </a:r>
            <a:endParaRPr lang="en-US" sz="3200" dirty="0"/>
          </a:p>
        </p:txBody>
      </p:sp>
      <p:sp>
        <p:nvSpPr>
          <p:cNvPr id="6" name="Shape 3"/>
          <p:cNvSpPr/>
          <p:nvPr/>
        </p:nvSpPr>
        <p:spPr>
          <a:xfrm>
            <a:off x="640080" y="3017520"/>
            <a:ext cx="10881360" cy="0"/>
          </a:xfrm>
          <a:prstGeom prst="line">
            <a:avLst/>
          </a:prstGeom>
          <a:noFill/>
          <a:ln w="25400">
            <a:solidFill>
              <a:srgbClr val="D1D5DB"/>
            </a:solidFill>
            <a:prstDash val="solid"/>
          </a:ln>
        </p:spPr>
      </p:sp>
      <p:sp>
        <p:nvSpPr>
          <p:cNvPr id="7" name="Shape 4"/>
          <p:cNvSpPr/>
          <p:nvPr/>
        </p:nvSpPr>
        <p:spPr>
          <a:xfrm>
            <a:off x="1472184" y="2761488"/>
            <a:ext cx="512064" cy="512064"/>
          </a:xfrm>
          <a:prstGeom prst="ellipse">
            <a:avLst/>
          </a:prstGeom>
          <a:solidFill>
            <a:srgbClr val="C8922A"/>
          </a:solidFill>
          <a:ln/>
        </p:spPr>
      </p:sp>
      <p:sp>
        <p:nvSpPr>
          <p:cNvPr id="8" name="Text 5"/>
          <p:cNvSpPr/>
          <p:nvPr/>
        </p:nvSpPr>
        <p:spPr>
          <a:xfrm>
            <a:off x="1472184" y="2761488"/>
            <a:ext cx="512064" cy="512064"/>
          </a:xfrm>
          <a:prstGeom prst="rect">
            <a:avLst/>
          </a:prstGeom>
          <a:noFill/>
          <a:ln/>
        </p:spPr>
        <p:txBody>
          <a:bodyPr wrap="square" rtlCol="0" anchor="ctr"/>
          <a:lstStyle/>
          <a:p>
            <a:pPr algn="ctr" indent="0" marL="0">
              <a:buNone/>
            </a:pPr>
            <a:r>
              <a:rPr lang="en-US" sz="1600" b="1" dirty="0">
                <a:solidFill>
                  <a:srgbClr val="FFFFFF"/>
                </a:solidFill>
              </a:rPr>
              <a:t>1</a:t>
            </a:r>
            <a:endParaRPr lang="en-US" sz="1600" dirty="0"/>
          </a:p>
        </p:txBody>
      </p:sp>
      <p:sp>
        <p:nvSpPr>
          <p:cNvPr id="9" name="Text 6"/>
          <p:cNvSpPr/>
          <p:nvPr/>
        </p:nvSpPr>
        <p:spPr>
          <a:xfrm>
            <a:off x="731520" y="3429000"/>
            <a:ext cx="1993392" cy="365760"/>
          </a:xfrm>
          <a:prstGeom prst="rect">
            <a:avLst/>
          </a:prstGeom>
          <a:noFill/>
          <a:ln/>
        </p:spPr>
        <p:txBody>
          <a:bodyPr wrap="square" rtlCol="0" anchor="ctr"/>
          <a:lstStyle/>
          <a:p>
            <a:pPr algn="ctr" indent="0" marL="0">
              <a:buNone/>
            </a:pPr>
            <a:r>
              <a:rPr lang="en-US" sz="1400" b="1" dirty="0">
                <a:solidFill>
                  <a:srgbClr val="1C2535"/>
                </a:solidFill>
              </a:rPr>
              <a:t>España</a:t>
            </a:r>
            <a:endParaRPr lang="en-US" sz="1400" dirty="0"/>
          </a:p>
        </p:txBody>
      </p:sp>
      <p:sp>
        <p:nvSpPr>
          <p:cNvPr id="10" name="Text 7"/>
          <p:cNvSpPr/>
          <p:nvPr/>
        </p:nvSpPr>
        <p:spPr>
          <a:xfrm>
            <a:off x="731520" y="3840480"/>
            <a:ext cx="1993392" cy="1097280"/>
          </a:xfrm>
          <a:prstGeom prst="rect">
            <a:avLst/>
          </a:prstGeom>
          <a:noFill/>
          <a:ln/>
        </p:spPr>
        <p:txBody>
          <a:bodyPr wrap="square" rtlCol="0" anchor="ctr"/>
          <a:lstStyle/>
          <a:p>
            <a:pPr algn="ctr" indent="0" marL="0">
              <a:buNone/>
            </a:pPr>
            <a:r>
              <a:rPr lang="en-US" sz="1100" dirty="0">
                <a:solidFill>
                  <a:srgbClr val="6B7280"/>
                </a:solidFill>
              </a:rPr>
              <a:t>Product-Market Fit, beta con instaladores reales</a:t>
            </a:r>
            <a:endParaRPr lang="en-US" sz="1100" dirty="0"/>
          </a:p>
        </p:txBody>
      </p:sp>
      <p:sp>
        <p:nvSpPr>
          <p:cNvPr id="11" name="Shape 8"/>
          <p:cNvSpPr/>
          <p:nvPr/>
        </p:nvSpPr>
        <p:spPr>
          <a:xfrm>
            <a:off x="3648456" y="2761488"/>
            <a:ext cx="512064" cy="512064"/>
          </a:xfrm>
          <a:prstGeom prst="ellipse">
            <a:avLst/>
          </a:prstGeom>
          <a:solidFill>
            <a:srgbClr val="1A5A96"/>
          </a:solidFill>
          <a:ln/>
        </p:spPr>
      </p:sp>
      <p:sp>
        <p:nvSpPr>
          <p:cNvPr id="12" name="Text 9"/>
          <p:cNvSpPr/>
          <p:nvPr/>
        </p:nvSpPr>
        <p:spPr>
          <a:xfrm>
            <a:off x="3648456" y="2761488"/>
            <a:ext cx="512064" cy="512064"/>
          </a:xfrm>
          <a:prstGeom prst="rect">
            <a:avLst/>
          </a:prstGeom>
          <a:noFill/>
          <a:ln/>
        </p:spPr>
        <p:txBody>
          <a:bodyPr wrap="square" rtlCol="0" anchor="ctr"/>
          <a:lstStyle/>
          <a:p>
            <a:pPr algn="ctr" indent="0" marL="0">
              <a:buNone/>
            </a:pPr>
            <a:r>
              <a:rPr lang="en-US" sz="1600" b="1" dirty="0">
                <a:solidFill>
                  <a:srgbClr val="FFFFFF"/>
                </a:solidFill>
              </a:rPr>
              <a:t>2</a:t>
            </a:r>
            <a:endParaRPr lang="en-US" sz="1600" dirty="0"/>
          </a:p>
        </p:txBody>
      </p:sp>
      <p:sp>
        <p:nvSpPr>
          <p:cNvPr id="13" name="Text 10"/>
          <p:cNvSpPr/>
          <p:nvPr/>
        </p:nvSpPr>
        <p:spPr>
          <a:xfrm>
            <a:off x="2907792" y="3429000"/>
            <a:ext cx="1993392" cy="365760"/>
          </a:xfrm>
          <a:prstGeom prst="rect">
            <a:avLst/>
          </a:prstGeom>
          <a:noFill/>
          <a:ln/>
        </p:spPr>
        <p:txBody>
          <a:bodyPr wrap="square" rtlCol="0" anchor="ctr"/>
          <a:lstStyle/>
          <a:p>
            <a:pPr algn="ctr" indent="0" marL="0">
              <a:buNone/>
            </a:pPr>
            <a:r>
              <a:rPr lang="en-US" sz="1400" b="1" dirty="0">
                <a:solidFill>
                  <a:srgbClr val="1C2535"/>
                </a:solidFill>
              </a:rPr>
              <a:t>Asociaciones</a:t>
            </a:r>
            <a:endParaRPr lang="en-US" sz="1400" dirty="0"/>
          </a:p>
        </p:txBody>
      </p:sp>
      <p:sp>
        <p:nvSpPr>
          <p:cNvPr id="14" name="Text 11"/>
          <p:cNvSpPr/>
          <p:nvPr/>
        </p:nvSpPr>
        <p:spPr>
          <a:xfrm>
            <a:off x="2907792" y="3840480"/>
            <a:ext cx="1993392" cy="1097280"/>
          </a:xfrm>
          <a:prstGeom prst="rect">
            <a:avLst/>
          </a:prstGeom>
          <a:noFill/>
          <a:ln/>
        </p:spPr>
        <p:txBody>
          <a:bodyPr wrap="square" rtlCol="0" anchor="ctr"/>
          <a:lstStyle/>
          <a:p>
            <a:pPr algn="ctr" indent="0" marL="0">
              <a:buNone/>
            </a:pPr>
            <a:r>
              <a:rPr lang="en-US" sz="1100" dirty="0">
                <a:solidFill>
                  <a:srgbClr val="6B7280"/>
                </a:solidFill>
              </a:rPr>
              <a:t>CONAIF y FENIE como canal de confianza</a:t>
            </a:r>
            <a:endParaRPr lang="en-US" sz="1100" dirty="0"/>
          </a:p>
        </p:txBody>
      </p:sp>
      <p:sp>
        <p:nvSpPr>
          <p:cNvPr id="15" name="Shape 12"/>
          <p:cNvSpPr/>
          <p:nvPr/>
        </p:nvSpPr>
        <p:spPr>
          <a:xfrm>
            <a:off x="5824728" y="2761488"/>
            <a:ext cx="512064" cy="512064"/>
          </a:xfrm>
          <a:prstGeom prst="ellipse">
            <a:avLst/>
          </a:prstGeom>
          <a:solidFill>
            <a:srgbClr val="1A5A96"/>
          </a:solidFill>
          <a:ln/>
        </p:spPr>
      </p:sp>
      <p:sp>
        <p:nvSpPr>
          <p:cNvPr id="16" name="Text 13"/>
          <p:cNvSpPr/>
          <p:nvPr/>
        </p:nvSpPr>
        <p:spPr>
          <a:xfrm>
            <a:off x="5824728" y="2761488"/>
            <a:ext cx="512064" cy="512064"/>
          </a:xfrm>
          <a:prstGeom prst="rect">
            <a:avLst/>
          </a:prstGeom>
          <a:noFill/>
          <a:ln/>
        </p:spPr>
        <p:txBody>
          <a:bodyPr wrap="square" rtlCol="0" anchor="ctr"/>
          <a:lstStyle/>
          <a:p>
            <a:pPr algn="ctr" indent="0" marL="0">
              <a:buNone/>
            </a:pPr>
            <a:r>
              <a:rPr lang="en-US" sz="1600" b="1" dirty="0">
                <a:solidFill>
                  <a:srgbClr val="FFFFFF"/>
                </a:solidFill>
              </a:rPr>
              <a:t>3</a:t>
            </a:r>
            <a:endParaRPr lang="en-US" sz="1600" dirty="0"/>
          </a:p>
        </p:txBody>
      </p:sp>
      <p:sp>
        <p:nvSpPr>
          <p:cNvPr id="17" name="Text 14"/>
          <p:cNvSpPr/>
          <p:nvPr/>
        </p:nvSpPr>
        <p:spPr>
          <a:xfrm>
            <a:off x="5084064" y="3429000"/>
            <a:ext cx="1993392" cy="365760"/>
          </a:xfrm>
          <a:prstGeom prst="rect">
            <a:avLst/>
          </a:prstGeom>
          <a:noFill/>
          <a:ln/>
        </p:spPr>
        <p:txBody>
          <a:bodyPr wrap="square" rtlCol="0" anchor="ctr"/>
          <a:lstStyle/>
          <a:p>
            <a:pPr algn="ctr" indent="0" marL="0">
              <a:buNone/>
            </a:pPr>
            <a:r>
              <a:rPr lang="en-US" sz="1400" b="1" dirty="0">
                <a:solidFill>
                  <a:srgbClr val="1C2535"/>
                </a:solidFill>
              </a:rPr>
              <a:t>Marketplace</a:t>
            </a:r>
            <a:endParaRPr lang="en-US" sz="1400" dirty="0"/>
          </a:p>
        </p:txBody>
      </p:sp>
      <p:sp>
        <p:nvSpPr>
          <p:cNvPr id="18" name="Text 15"/>
          <p:cNvSpPr/>
          <p:nvPr/>
        </p:nvSpPr>
        <p:spPr>
          <a:xfrm>
            <a:off x="5084064" y="3840480"/>
            <a:ext cx="1993392" cy="1097280"/>
          </a:xfrm>
          <a:prstGeom prst="rect">
            <a:avLst/>
          </a:prstGeom>
          <a:noFill/>
          <a:ln/>
        </p:spPr>
        <p:txBody>
          <a:bodyPr wrap="square" rtlCol="0" anchor="ctr"/>
          <a:lstStyle/>
          <a:p>
            <a:pPr algn="ctr" indent="0" marL="0">
              <a:buNone/>
            </a:pPr>
            <a:r>
              <a:rPr lang="en-US" sz="1100" dirty="0">
                <a:solidFill>
                  <a:srgbClr val="6B7280"/>
                </a:solidFill>
              </a:rPr>
              <a:t>Proveedores integrados, financiación embebida</a:t>
            </a:r>
            <a:endParaRPr lang="en-US" sz="1100" dirty="0"/>
          </a:p>
        </p:txBody>
      </p:sp>
      <p:sp>
        <p:nvSpPr>
          <p:cNvPr id="19" name="Shape 16"/>
          <p:cNvSpPr/>
          <p:nvPr/>
        </p:nvSpPr>
        <p:spPr>
          <a:xfrm>
            <a:off x="8001000" y="2761488"/>
            <a:ext cx="512064" cy="512064"/>
          </a:xfrm>
          <a:prstGeom prst="ellipse">
            <a:avLst/>
          </a:prstGeom>
          <a:solidFill>
            <a:srgbClr val="1A5A96"/>
          </a:solidFill>
          <a:ln/>
        </p:spPr>
      </p:sp>
      <p:sp>
        <p:nvSpPr>
          <p:cNvPr id="20" name="Text 17"/>
          <p:cNvSpPr/>
          <p:nvPr/>
        </p:nvSpPr>
        <p:spPr>
          <a:xfrm>
            <a:off x="8001000" y="2761488"/>
            <a:ext cx="512064" cy="512064"/>
          </a:xfrm>
          <a:prstGeom prst="rect">
            <a:avLst/>
          </a:prstGeom>
          <a:noFill/>
          <a:ln/>
        </p:spPr>
        <p:txBody>
          <a:bodyPr wrap="square" rtlCol="0" anchor="ctr"/>
          <a:lstStyle/>
          <a:p>
            <a:pPr algn="ctr" indent="0" marL="0">
              <a:buNone/>
            </a:pPr>
            <a:r>
              <a:rPr lang="en-US" sz="1600" b="1" dirty="0">
                <a:solidFill>
                  <a:srgbClr val="FFFFFF"/>
                </a:solidFill>
              </a:rPr>
              <a:t>4</a:t>
            </a:r>
            <a:endParaRPr lang="en-US" sz="1600" dirty="0"/>
          </a:p>
        </p:txBody>
      </p:sp>
      <p:sp>
        <p:nvSpPr>
          <p:cNvPr id="21" name="Text 18"/>
          <p:cNvSpPr/>
          <p:nvPr/>
        </p:nvSpPr>
        <p:spPr>
          <a:xfrm>
            <a:off x="7260336" y="3429000"/>
            <a:ext cx="1993392" cy="365760"/>
          </a:xfrm>
          <a:prstGeom prst="rect">
            <a:avLst/>
          </a:prstGeom>
          <a:noFill/>
          <a:ln/>
        </p:spPr>
        <p:txBody>
          <a:bodyPr wrap="square" rtlCol="0" anchor="ctr"/>
          <a:lstStyle/>
          <a:p>
            <a:pPr algn="ctr" indent="0" marL="0">
              <a:buNone/>
            </a:pPr>
            <a:r>
              <a:rPr lang="en-US" sz="1400" b="1" dirty="0">
                <a:solidFill>
                  <a:srgbClr val="1C2535"/>
                </a:solidFill>
              </a:rPr>
              <a:t>LATAM</a:t>
            </a:r>
            <a:endParaRPr lang="en-US" sz="1400" dirty="0"/>
          </a:p>
        </p:txBody>
      </p:sp>
      <p:sp>
        <p:nvSpPr>
          <p:cNvPr id="22" name="Text 19"/>
          <p:cNvSpPr/>
          <p:nvPr/>
        </p:nvSpPr>
        <p:spPr>
          <a:xfrm>
            <a:off x="7260336" y="3840480"/>
            <a:ext cx="1993392" cy="1097280"/>
          </a:xfrm>
          <a:prstGeom prst="rect">
            <a:avLst/>
          </a:prstGeom>
          <a:noFill/>
          <a:ln/>
        </p:spPr>
        <p:txBody>
          <a:bodyPr wrap="square" rtlCol="0" anchor="ctr"/>
          <a:lstStyle/>
          <a:p>
            <a:pPr algn="ctr" indent="0" marL="0">
              <a:buNone/>
            </a:pPr>
            <a:r>
              <a:rPr lang="en-US" sz="1100" dirty="0">
                <a:solidFill>
                  <a:srgbClr val="6B7280"/>
                </a:solidFill>
              </a:rPr>
              <a:t>México, Colombia, Chile</a:t>
            </a:r>
            <a:endParaRPr lang="en-US" sz="1100" dirty="0"/>
          </a:p>
        </p:txBody>
      </p:sp>
      <p:sp>
        <p:nvSpPr>
          <p:cNvPr id="23" name="Shape 20"/>
          <p:cNvSpPr/>
          <p:nvPr/>
        </p:nvSpPr>
        <p:spPr>
          <a:xfrm>
            <a:off x="10177272" y="2761488"/>
            <a:ext cx="512064" cy="512064"/>
          </a:xfrm>
          <a:prstGeom prst="ellipse">
            <a:avLst/>
          </a:prstGeom>
          <a:solidFill>
            <a:srgbClr val="1A5A96"/>
          </a:solidFill>
          <a:ln/>
        </p:spPr>
      </p:sp>
      <p:sp>
        <p:nvSpPr>
          <p:cNvPr id="24" name="Text 21"/>
          <p:cNvSpPr/>
          <p:nvPr/>
        </p:nvSpPr>
        <p:spPr>
          <a:xfrm>
            <a:off x="10177272" y="2761488"/>
            <a:ext cx="512064" cy="512064"/>
          </a:xfrm>
          <a:prstGeom prst="rect">
            <a:avLst/>
          </a:prstGeom>
          <a:noFill/>
          <a:ln/>
        </p:spPr>
        <p:txBody>
          <a:bodyPr wrap="square" rtlCol="0" anchor="ctr"/>
          <a:lstStyle/>
          <a:p>
            <a:pPr algn="ctr" indent="0" marL="0">
              <a:buNone/>
            </a:pPr>
            <a:r>
              <a:rPr lang="en-US" sz="1600" b="1" dirty="0">
                <a:solidFill>
                  <a:srgbClr val="FFFFFF"/>
                </a:solidFill>
              </a:rPr>
              <a:t>5</a:t>
            </a:r>
            <a:endParaRPr lang="en-US" sz="1600" dirty="0"/>
          </a:p>
        </p:txBody>
      </p:sp>
      <p:sp>
        <p:nvSpPr>
          <p:cNvPr id="25" name="Text 22"/>
          <p:cNvSpPr/>
          <p:nvPr/>
        </p:nvSpPr>
        <p:spPr>
          <a:xfrm>
            <a:off x="9436608" y="3429000"/>
            <a:ext cx="1993392" cy="365760"/>
          </a:xfrm>
          <a:prstGeom prst="rect">
            <a:avLst/>
          </a:prstGeom>
          <a:noFill/>
          <a:ln/>
        </p:spPr>
        <p:txBody>
          <a:bodyPr wrap="square" rtlCol="0" anchor="ctr"/>
          <a:lstStyle/>
          <a:p>
            <a:pPr algn="ctr" indent="0" marL="0">
              <a:buNone/>
            </a:pPr>
            <a:r>
              <a:rPr lang="en-US" sz="1400" b="1" dirty="0">
                <a:solidFill>
                  <a:srgbClr val="1C2535"/>
                </a:solidFill>
              </a:rPr>
              <a:t>Infraestructura</a:t>
            </a:r>
            <a:endParaRPr lang="en-US" sz="1400" dirty="0"/>
          </a:p>
        </p:txBody>
      </p:sp>
      <p:sp>
        <p:nvSpPr>
          <p:cNvPr id="26" name="Text 23"/>
          <p:cNvSpPr/>
          <p:nvPr/>
        </p:nvSpPr>
        <p:spPr>
          <a:xfrm>
            <a:off x="9436608" y="3840480"/>
            <a:ext cx="1993392" cy="1097280"/>
          </a:xfrm>
          <a:prstGeom prst="rect">
            <a:avLst/>
          </a:prstGeom>
          <a:noFill/>
          <a:ln/>
        </p:spPr>
        <p:txBody>
          <a:bodyPr wrap="square" rtlCol="0" anchor="ctr"/>
          <a:lstStyle/>
          <a:p>
            <a:pPr algn="ctr" indent="0" marL="0">
              <a:buNone/>
            </a:pPr>
            <a:r>
              <a:rPr lang="en-US" sz="1100" dirty="0">
                <a:solidFill>
                  <a:srgbClr val="6B7280"/>
                </a:solidFill>
              </a:rPr>
              <a:t>Licencia a verticales adyacentes</a:t>
            </a:r>
            <a:endParaRPr lang="en-US" sz="1100" dirty="0"/>
          </a:p>
        </p:txBody>
      </p:sp>
      <p:sp>
        <p:nvSpPr>
          <p:cNvPr id="27" name="Text 24"/>
          <p:cNvSpPr/>
          <p:nvPr/>
        </p:nvSpPr>
        <p:spPr>
          <a:xfrm>
            <a:off x="640080" y="5303520"/>
            <a:ext cx="10881360" cy="548640"/>
          </a:xfrm>
          <a:prstGeom prst="rect">
            <a:avLst/>
          </a:prstGeom>
          <a:noFill/>
          <a:ln/>
        </p:spPr>
        <p:txBody>
          <a:bodyPr wrap="square" rtlCol="0" anchor="ctr"/>
          <a:lstStyle/>
          <a:p>
            <a:pPr indent="0" marL="0">
              <a:buNone/>
            </a:pPr>
            <a:r>
              <a:rPr lang="en-US" sz="1350" i="1" dirty="0">
                <a:solidFill>
                  <a:srgbClr val="374151"/>
                </a:solidFill>
              </a:rPr>
              <a:t>Indicador North Star: tiempo hasta el primer presupuesto enviado — objetivo: bajar de 10 a menos de 3 minutos.</a:t>
            </a:r>
            <a:endParaRPr lang="en-US" sz="1350" dirty="0"/>
          </a:p>
        </p:txBody>
      </p:sp>
      <p:sp>
        <p:nvSpPr>
          <p:cNvPr id="28" name="Text 25"/>
          <p:cNvSpPr/>
          <p:nvPr/>
        </p:nvSpPr>
        <p:spPr>
          <a:xfrm>
            <a:off x="640080" y="6400800"/>
            <a:ext cx="1828800" cy="274320"/>
          </a:xfrm>
          <a:prstGeom prst="rect">
            <a:avLst/>
          </a:prstGeom>
          <a:noFill/>
          <a:ln/>
        </p:spPr>
        <p:txBody>
          <a:bodyPr wrap="square" rtlCol="0" anchor="ctr"/>
          <a:lstStyle/>
          <a:p>
            <a:pPr indent="0" marL="0">
              <a:buNone/>
            </a:pPr>
            <a:r>
              <a:rPr lang="en-US" sz="1100" b="1" dirty="0">
                <a:solidFill>
                  <a:srgbClr val="6B7280"/>
                </a:solidFill>
              </a:rPr>
              <a:t>TradeFlow</a:t>
            </a:r>
            <a:endParaRPr lang="en-US" sz="1100" dirty="0"/>
          </a:p>
        </p:txBody>
      </p:sp>
      <p:sp>
        <p:nvSpPr>
          <p:cNvPr id="29" name="Text 26"/>
          <p:cNvSpPr/>
          <p:nvPr/>
        </p:nvSpPr>
        <p:spPr>
          <a:xfrm>
            <a:off x="11548872" y="6400800"/>
            <a:ext cx="365760" cy="274320"/>
          </a:xfrm>
          <a:prstGeom prst="rect">
            <a:avLst/>
          </a:prstGeom>
          <a:noFill/>
          <a:ln/>
        </p:spPr>
        <p:txBody>
          <a:bodyPr wrap="square" rtlCol="0" anchor="ctr"/>
          <a:lstStyle/>
          <a:p>
            <a:pPr algn="r" indent="0" marL="0">
              <a:buNone/>
            </a:pPr>
            <a:r>
              <a:rPr lang="en-US" sz="1100" dirty="0">
                <a:solidFill>
                  <a:srgbClr val="6B7280"/>
                </a:solidFill>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94360"/>
            <a:ext cx="685800" cy="685800"/>
          </a:xfrm>
          <a:prstGeom prst="ellipse">
            <a:avLst/>
          </a:prstGeom>
          <a:solidFill>
            <a:srgbClr val="4A6741"/>
          </a:solidFill>
          <a:ln/>
        </p:spPr>
      </p:sp>
      <p:pic>
        <p:nvPicPr>
          <p:cNvPr id="3" name="Image 0" descr="/home/claude/deck/icons/hands.png">    </p:cNvPr>
          <p:cNvPicPr>
            <a:picLocks noChangeAspect="1"/>
          </p:cNvPicPr>
          <p:nvPr/>
        </p:nvPicPr>
        <p:blipFill>
          <a:blip r:embed="rId1"/>
          <a:stretch>
            <a:fillRect/>
          </a:stretch>
        </p:blipFill>
        <p:spPr>
          <a:xfrm>
            <a:off x="729234" y="683514"/>
            <a:ext cx="507492" cy="507492"/>
          </a:xfrm>
          <a:prstGeom prst="rect">
            <a:avLst/>
          </a:prstGeom>
        </p:spPr>
      </p:pic>
      <p:sp>
        <p:nvSpPr>
          <p:cNvPr id="4" name="Text 1"/>
          <p:cNvSpPr/>
          <p:nvPr/>
        </p:nvSpPr>
        <p:spPr>
          <a:xfrm>
            <a:off x="640080" y="384048"/>
            <a:ext cx="7315200" cy="320040"/>
          </a:xfrm>
          <a:prstGeom prst="rect">
            <a:avLst/>
          </a:prstGeom>
          <a:noFill/>
          <a:ln/>
        </p:spPr>
        <p:txBody>
          <a:bodyPr wrap="square" rtlCol="0" anchor="ctr"/>
          <a:lstStyle/>
          <a:p>
            <a:pPr indent="0" marL="0">
              <a:buNone/>
            </a:pPr>
            <a:r>
              <a:rPr lang="en-US" sz="1300" b="1" spc="200" kern="0" dirty="0">
                <a:solidFill>
                  <a:srgbClr val="4A6741"/>
                </a:solidFill>
                <a:latin typeface="Calibri" pitchFamily="34" charset="0"/>
                <a:ea typeface="Calibri" pitchFamily="34" charset="-122"/>
                <a:cs typeface="Calibri" pitchFamily="34" charset="-120"/>
              </a:rPr>
              <a:t>11 · IMPACTO ESPERADO</a:t>
            </a:r>
            <a:endParaRPr lang="en-US" sz="1300" dirty="0"/>
          </a:p>
        </p:txBody>
      </p:sp>
      <p:sp>
        <p:nvSpPr>
          <p:cNvPr id="5" name="Text 2"/>
          <p:cNvSpPr/>
          <p:nvPr/>
        </p:nvSpPr>
        <p:spPr>
          <a:xfrm>
            <a:off x="1508760" y="566928"/>
            <a:ext cx="9144000" cy="731520"/>
          </a:xfrm>
          <a:prstGeom prst="rect">
            <a:avLst/>
          </a:prstGeom>
          <a:noFill/>
          <a:ln/>
        </p:spPr>
        <p:txBody>
          <a:bodyPr wrap="square" rtlCol="0" anchor="ctr"/>
          <a:lstStyle/>
          <a:p>
            <a:pPr indent="0" marL="0">
              <a:buNone/>
            </a:pPr>
            <a:r>
              <a:rPr lang="en-US" sz="3200" b="1" dirty="0">
                <a:solidFill>
                  <a:srgbClr val="1C2535"/>
                </a:solidFill>
                <a:latin typeface="Cambria" pitchFamily="34" charset="0"/>
                <a:ea typeface="Cambria" pitchFamily="34" charset="-122"/>
                <a:cs typeface="Cambria" pitchFamily="34" charset="-120"/>
              </a:rPr>
              <a:t>Impacto más allá del negocio</a:t>
            </a:r>
            <a:endParaRPr lang="en-US" sz="3200" dirty="0"/>
          </a:p>
        </p:txBody>
      </p:sp>
      <p:sp>
        <p:nvSpPr>
          <p:cNvPr id="6" name="Shape 3"/>
          <p:cNvSpPr/>
          <p:nvPr/>
        </p:nvSpPr>
        <p:spPr>
          <a:xfrm>
            <a:off x="640080" y="1874520"/>
            <a:ext cx="2514600" cy="3108960"/>
          </a:xfrm>
          <a:prstGeom prst="roundRect">
            <a:avLst>
              <a:gd name="adj" fmla="val 2909"/>
            </a:avLst>
          </a:prstGeom>
          <a:solidFill>
            <a:srgbClr val="F4F6F8"/>
          </a:solidFill>
          <a:ln/>
          <a:effectLst>
            <a:outerShdw sx="100000" sy="100000" kx="0" ky="0" algn="bl" rotWithShape="0" blurRad="101600" dist="38100" dir="2700000">
              <a:srgbClr val="000000">
                <a:alpha val="12000"/>
              </a:srgbClr>
            </a:outerShdw>
          </a:effectLst>
        </p:spPr>
      </p:sp>
      <p:sp>
        <p:nvSpPr>
          <p:cNvPr id="7" name="Shape 4"/>
          <p:cNvSpPr/>
          <p:nvPr/>
        </p:nvSpPr>
        <p:spPr>
          <a:xfrm>
            <a:off x="1600200" y="2148840"/>
            <a:ext cx="594360" cy="594360"/>
          </a:xfrm>
          <a:prstGeom prst="ellipse">
            <a:avLst/>
          </a:prstGeom>
          <a:solidFill>
            <a:srgbClr val="1A5A96"/>
          </a:solidFill>
          <a:ln/>
        </p:spPr>
      </p:sp>
      <p:pic>
        <p:nvPicPr>
          <p:cNvPr id="8" name="Image 1" descr="/home/claude/deck/icons/briefcase.png">    </p:cNvPr>
          <p:cNvPicPr>
            <a:picLocks noChangeAspect="1"/>
          </p:cNvPicPr>
          <p:nvPr/>
        </p:nvPicPr>
        <p:blipFill>
          <a:blip r:embed="rId2"/>
          <a:stretch>
            <a:fillRect/>
          </a:stretch>
        </p:blipFill>
        <p:spPr>
          <a:xfrm>
            <a:off x="1677467" y="2226107"/>
            <a:ext cx="439826" cy="439826"/>
          </a:xfrm>
          <a:prstGeom prst="rect">
            <a:avLst/>
          </a:prstGeom>
        </p:spPr>
      </p:pic>
      <p:sp>
        <p:nvSpPr>
          <p:cNvPr id="9" name="Text 5"/>
          <p:cNvSpPr/>
          <p:nvPr/>
        </p:nvSpPr>
        <p:spPr>
          <a:xfrm>
            <a:off x="640080" y="2971800"/>
            <a:ext cx="2514600" cy="594360"/>
          </a:xfrm>
          <a:prstGeom prst="rect">
            <a:avLst/>
          </a:prstGeom>
          <a:noFill/>
          <a:ln/>
        </p:spPr>
        <p:txBody>
          <a:bodyPr wrap="square" rtlCol="0" anchor="ctr"/>
          <a:lstStyle/>
          <a:p>
            <a:pPr algn="ctr" indent="0" marL="0">
              <a:buNone/>
            </a:pPr>
            <a:r>
              <a:rPr lang="en-US" sz="2800" b="1" dirty="0">
                <a:solidFill>
                  <a:srgbClr val="1C2535"/>
                </a:solidFill>
              </a:rPr>
              <a:t>4-6</a:t>
            </a:r>
            <a:endParaRPr lang="en-US" sz="2800" dirty="0"/>
          </a:p>
        </p:txBody>
      </p:sp>
      <p:sp>
        <p:nvSpPr>
          <p:cNvPr id="10" name="Text 6"/>
          <p:cNvSpPr/>
          <p:nvPr/>
        </p:nvSpPr>
        <p:spPr>
          <a:xfrm>
            <a:off x="640080" y="3566160"/>
            <a:ext cx="2514600" cy="320040"/>
          </a:xfrm>
          <a:prstGeom prst="rect">
            <a:avLst/>
          </a:prstGeom>
          <a:noFill/>
          <a:ln/>
        </p:spPr>
        <p:txBody>
          <a:bodyPr wrap="square" rtlCol="0" anchor="ctr"/>
          <a:lstStyle/>
          <a:p>
            <a:pPr algn="ctr" indent="0" marL="0">
              <a:buNone/>
            </a:pPr>
            <a:r>
              <a:rPr lang="en-US" sz="1300" b="1" dirty="0">
                <a:solidFill>
                  <a:srgbClr val="1A5A96"/>
                </a:solidFill>
              </a:rPr>
              <a:t>Empleo</a:t>
            </a:r>
            <a:endParaRPr lang="en-US" sz="1300" dirty="0"/>
          </a:p>
        </p:txBody>
      </p:sp>
      <p:sp>
        <p:nvSpPr>
          <p:cNvPr id="11" name="Text 7"/>
          <p:cNvSpPr/>
          <p:nvPr/>
        </p:nvSpPr>
        <p:spPr>
          <a:xfrm>
            <a:off x="822960" y="3931920"/>
            <a:ext cx="2148840" cy="822960"/>
          </a:xfrm>
          <a:prstGeom prst="rect">
            <a:avLst/>
          </a:prstGeom>
          <a:noFill/>
          <a:ln/>
        </p:spPr>
        <p:txBody>
          <a:bodyPr wrap="square" rtlCol="0" anchor="ctr"/>
          <a:lstStyle/>
          <a:p>
            <a:pPr algn="ctr" indent="0" marL="0">
              <a:buNone/>
            </a:pPr>
            <a:r>
              <a:rPr lang="en-US" sz="1100" dirty="0">
                <a:solidFill>
                  <a:srgbClr val="6B7280"/>
                </a:solidFill>
              </a:rPr>
              <a:t>empleos cualificados directos a 36 meses</a:t>
            </a:r>
            <a:endParaRPr lang="en-US" sz="1100" dirty="0"/>
          </a:p>
        </p:txBody>
      </p:sp>
      <p:sp>
        <p:nvSpPr>
          <p:cNvPr id="12" name="Shape 8"/>
          <p:cNvSpPr/>
          <p:nvPr/>
        </p:nvSpPr>
        <p:spPr>
          <a:xfrm>
            <a:off x="3364992" y="1874520"/>
            <a:ext cx="2514600" cy="3108960"/>
          </a:xfrm>
          <a:prstGeom prst="roundRect">
            <a:avLst>
              <a:gd name="adj" fmla="val 2909"/>
            </a:avLst>
          </a:prstGeom>
          <a:solidFill>
            <a:srgbClr val="F4F6F8"/>
          </a:solidFill>
          <a:ln/>
          <a:effectLst>
            <a:outerShdw sx="100000" sy="100000" kx="0" ky="0" algn="bl" rotWithShape="0" blurRad="101600" dist="38100" dir="2700000">
              <a:srgbClr val="000000">
                <a:alpha val="12000"/>
              </a:srgbClr>
            </a:outerShdw>
          </a:effectLst>
        </p:spPr>
      </p:sp>
      <p:sp>
        <p:nvSpPr>
          <p:cNvPr id="13" name="Shape 9"/>
          <p:cNvSpPr/>
          <p:nvPr/>
        </p:nvSpPr>
        <p:spPr>
          <a:xfrm>
            <a:off x="4325112" y="2148840"/>
            <a:ext cx="594360" cy="594360"/>
          </a:xfrm>
          <a:prstGeom prst="ellipse">
            <a:avLst/>
          </a:prstGeom>
          <a:solidFill>
            <a:srgbClr val="1A5A96"/>
          </a:solidFill>
          <a:ln/>
        </p:spPr>
      </p:sp>
      <p:pic>
        <p:nvPicPr>
          <p:cNvPr id="14" name="Image 2" descr="/home/claude/deck/icons/network.png">    </p:cNvPr>
          <p:cNvPicPr>
            <a:picLocks noChangeAspect="1"/>
          </p:cNvPicPr>
          <p:nvPr/>
        </p:nvPicPr>
        <p:blipFill>
          <a:blip r:embed="rId3"/>
          <a:stretch>
            <a:fillRect/>
          </a:stretch>
        </p:blipFill>
        <p:spPr>
          <a:xfrm>
            <a:off x="4402379" y="2226107"/>
            <a:ext cx="439826" cy="439826"/>
          </a:xfrm>
          <a:prstGeom prst="rect">
            <a:avLst/>
          </a:prstGeom>
        </p:spPr>
      </p:pic>
      <p:sp>
        <p:nvSpPr>
          <p:cNvPr id="15" name="Text 10"/>
          <p:cNvSpPr/>
          <p:nvPr/>
        </p:nvSpPr>
        <p:spPr>
          <a:xfrm>
            <a:off x="3364992" y="2971800"/>
            <a:ext cx="2514600" cy="594360"/>
          </a:xfrm>
          <a:prstGeom prst="rect">
            <a:avLst/>
          </a:prstGeom>
          <a:noFill/>
          <a:ln/>
        </p:spPr>
        <p:txBody>
          <a:bodyPr wrap="square" rtlCol="0" anchor="ctr"/>
          <a:lstStyle/>
          <a:p>
            <a:pPr algn="ctr" indent="0" marL="0">
              <a:buNone/>
            </a:pPr>
            <a:r>
              <a:rPr lang="en-US" sz="2800" b="1" dirty="0">
                <a:solidFill>
                  <a:srgbClr val="1C2535"/>
                </a:solidFill>
              </a:rPr>
              <a:t>500+</a:t>
            </a:r>
            <a:endParaRPr lang="en-US" sz="2800" dirty="0"/>
          </a:p>
        </p:txBody>
      </p:sp>
      <p:sp>
        <p:nvSpPr>
          <p:cNvPr id="16" name="Text 11"/>
          <p:cNvSpPr/>
          <p:nvPr/>
        </p:nvSpPr>
        <p:spPr>
          <a:xfrm>
            <a:off x="3364992" y="3566160"/>
            <a:ext cx="2514600" cy="320040"/>
          </a:xfrm>
          <a:prstGeom prst="rect">
            <a:avLst/>
          </a:prstGeom>
          <a:noFill/>
          <a:ln/>
        </p:spPr>
        <p:txBody>
          <a:bodyPr wrap="square" rtlCol="0" anchor="ctr"/>
          <a:lstStyle/>
          <a:p>
            <a:pPr algn="ctr" indent="0" marL="0">
              <a:buNone/>
            </a:pPr>
            <a:r>
              <a:rPr lang="en-US" sz="1300" b="1" dirty="0">
                <a:solidFill>
                  <a:srgbClr val="1A5A96"/>
                </a:solidFill>
              </a:rPr>
              <a:t>Digitalización</a:t>
            </a:r>
            <a:endParaRPr lang="en-US" sz="1300" dirty="0"/>
          </a:p>
        </p:txBody>
      </p:sp>
      <p:sp>
        <p:nvSpPr>
          <p:cNvPr id="17" name="Text 12"/>
          <p:cNvSpPr/>
          <p:nvPr/>
        </p:nvSpPr>
        <p:spPr>
          <a:xfrm>
            <a:off x="3547872" y="3931920"/>
            <a:ext cx="2148840" cy="822960"/>
          </a:xfrm>
          <a:prstGeom prst="rect">
            <a:avLst/>
          </a:prstGeom>
          <a:noFill/>
          <a:ln/>
        </p:spPr>
        <p:txBody>
          <a:bodyPr wrap="square" rtlCol="0" anchor="ctr"/>
          <a:lstStyle/>
          <a:p>
            <a:pPr algn="ctr" indent="0" marL="0">
              <a:buNone/>
            </a:pPr>
            <a:r>
              <a:rPr lang="en-US" sz="1100" dirty="0">
                <a:solidFill>
                  <a:srgbClr val="6B7280"/>
                </a:solidFill>
              </a:rPr>
              <a:t>pymes y autónomos digitalizados (objetivo)</a:t>
            </a:r>
            <a:endParaRPr lang="en-US" sz="1100" dirty="0"/>
          </a:p>
        </p:txBody>
      </p:sp>
      <p:sp>
        <p:nvSpPr>
          <p:cNvPr id="18" name="Shape 13"/>
          <p:cNvSpPr/>
          <p:nvPr/>
        </p:nvSpPr>
        <p:spPr>
          <a:xfrm>
            <a:off x="6089904" y="1874520"/>
            <a:ext cx="2514600" cy="3108960"/>
          </a:xfrm>
          <a:prstGeom prst="roundRect">
            <a:avLst>
              <a:gd name="adj" fmla="val 2909"/>
            </a:avLst>
          </a:prstGeom>
          <a:solidFill>
            <a:srgbClr val="F4F6F8"/>
          </a:solidFill>
          <a:ln/>
          <a:effectLst>
            <a:outerShdw sx="100000" sy="100000" kx="0" ky="0" algn="bl" rotWithShape="0" blurRad="101600" dist="38100" dir="2700000">
              <a:srgbClr val="000000">
                <a:alpha val="12000"/>
              </a:srgbClr>
            </a:outerShdw>
          </a:effectLst>
        </p:spPr>
      </p:sp>
      <p:sp>
        <p:nvSpPr>
          <p:cNvPr id="19" name="Shape 14"/>
          <p:cNvSpPr/>
          <p:nvPr/>
        </p:nvSpPr>
        <p:spPr>
          <a:xfrm>
            <a:off x="7050024" y="2148840"/>
            <a:ext cx="594360" cy="594360"/>
          </a:xfrm>
          <a:prstGeom prst="ellipse">
            <a:avLst/>
          </a:prstGeom>
          <a:solidFill>
            <a:srgbClr val="1A5A96"/>
          </a:solidFill>
          <a:ln/>
        </p:spPr>
      </p:sp>
      <p:pic>
        <p:nvPicPr>
          <p:cNvPr id="20" name="Image 3" descr="/home/claude/deck/icons/globe.png">    </p:cNvPr>
          <p:cNvPicPr>
            <a:picLocks noChangeAspect="1"/>
          </p:cNvPicPr>
          <p:nvPr/>
        </p:nvPicPr>
        <p:blipFill>
          <a:blip r:embed="rId4"/>
          <a:stretch>
            <a:fillRect/>
          </a:stretch>
        </p:blipFill>
        <p:spPr>
          <a:xfrm>
            <a:off x="7127291" y="2226107"/>
            <a:ext cx="439826" cy="439826"/>
          </a:xfrm>
          <a:prstGeom prst="rect">
            <a:avLst/>
          </a:prstGeom>
        </p:spPr>
      </p:pic>
      <p:sp>
        <p:nvSpPr>
          <p:cNvPr id="21" name="Text 15"/>
          <p:cNvSpPr/>
          <p:nvPr/>
        </p:nvSpPr>
        <p:spPr>
          <a:xfrm>
            <a:off x="6089904" y="2971800"/>
            <a:ext cx="2514600" cy="594360"/>
          </a:xfrm>
          <a:prstGeom prst="rect">
            <a:avLst/>
          </a:prstGeom>
          <a:noFill/>
          <a:ln/>
        </p:spPr>
        <p:txBody>
          <a:bodyPr wrap="square" rtlCol="0" anchor="ctr"/>
          <a:lstStyle/>
          <a:p>
            <a:pPr algn="ctr" indent="0" marL="0">
              <a:buNone/>
            </a:pPr>
            <a:r>
              <a:rPr lang="en-US" sz="2800" b="1" dirty="0">
                <a:solidFill>
                  <a:srgbClr val="1C2535"/>
                </a:solidFill>
              </a:rPr>
              <a:t>2,1 M</a:t>
            </a:r>
            <a:endParaRPr lang="en-US" sz="2800" dirty="0"/>
          </a:p>
        </p:txBody>
      </p:sp>
      <p:sp>
        <p:nvSpPr>
          <p:cNvPr id="22" name="Text 16"/>
          <p:cNvSpPr/>
          <p:nvPr/>
        </p:nvSpPr>
        <p:spPr>
          <a:xfrm>
            <a:off x="6089904" y="3566160"/>
            <a:ext cx="2514600" cy="320040"/>
          </a:xfrm>
          <a:prstGeom prst="rect">
            <a:avLst/>
          </a:prstGeom>
          <a:noFill/>
          <a:ln/>
        </p:spPr>
        <p:txBody>
          <a:bodyPr wrap="square" rtlCol="0" anchor="ctr"/>
          <a:lstStyle/>
          <a:p>
            <a:pPr algn="ctr" indent="0" marL="0">
              <a:buNone/>
            </a:pPr>
            <a:r>
              <a:rPr lang="en-US" sz="1300" b="1" dirty="0">
                <a:solidFill>
                  <a:srgbClr val="1A5A96"/>
                </a:solidFill>
              </a:rPr>
              <a:t>Exportación</a:t>
            </a:r>
            <a:endParaRPr lang="en-US" sz="1300" dirty="0"/>
          </a:p>
        </p:txBody>
      </p:sp>
      <p:sp>
        <p:nvSpPr>
          <p:cNvPr id="23" name="Text 17"/>
          <p:cNvSpPr/>
          <p:nvPr/>
        </p:nvSpPr>
        <p:spPr>
          <a:xfrm>
            <a:off x="6272784" y="3931920"/>
            <a:ext cx="2148840" cy="822960"/>
          </a:xfrm>
          <a:prstGeom prst="rect">
            <a:avLst/>
          </a:prstGeom>
          <a:noFill/>
          <a:ln/>
        </p:spPr>
        <p:txBody>
          <a:bodyPr wrap="square" rtlCol="0" anchor="ctr"/>
          <a:lstStyle/>
          <a:p>
            <a:pPr algn="ctr" indent="0" marL="0">
              <a:buNone/>
            </a:pPr>
            <a:r>
              <a:rPr lang="en-US" sz="1100" dirty="0">
                <a:solidFill>
                  <a:srgbClr val="6B7280"/>
                </a:solidFill>
              </a:rPr>
              <a:t>instaladores potenciales en LATAM</a:t>
            </a:r>
            <a:endParaRPr lang="en-US" sz="1100" dirty="0"/>
          </a:p>
        </p:txBody>
      </p:sp>
      <p:sp>
        <p:nvSpPr>
          <p:cNvPr id="24" name="Shape 18"/>
          <p:cNvSpPr/>
          <p:nvPr/>
        </p:nvSpPr>
        <p:spPr>
          <a:xfrm>
            <a:off x="8814816" y="1874520"/>
            <a:ext cx="2514600" cy="3108960"/>
          </a:xfrm>
          <a:prstGeom prst="roundRect">
            <a:avLst>
              <a:gd name="adj" fmla="val 2909"/>
            </a:avLst>
          </a:prstGeom>
          <a:solidFill>
            <a:srgbClr val="F4F6F8"/>
          </a:solidFill>
          <a:ln/>
          <a:effectLst>
            <a:outerShdw sx="100000" sy="100000" kx="0" ky="0" algn="bl" rotWithShape="0" blurRad="101600" dist="38100" dir="2700000">
              <a:srgbClr val="000000">
                <a:alpha val="12000"/>
              </a:srgbClr>
            </a:outerShdw>
          </a:effectLst>
        </p:spPr>
      </p:sp>
      <p:sp>
        <p:nvSpPr>
          <p:cNvPr id="25" name="Shape 19"/>
          <p:cNvSpPr/>
          <p:nvPr/>
        </p:nvSpPr>
        <p:spPr>
          <a:xfrm>
            <a:off x="9774936" y="2148840"/>
            <a:ext cx="594360" cy="594360"/>
          </a:xfrm>
          <a:prstGeom prst="ellipse">
            <a:avLst/>
          </a:prstGeom>
          <a:solidFill>
            <a:srgbClr val="1A5A96"/>
          </a:solidFill>
          <a:ln/>
        </p:spPr>
      </p:sp>
      <p:pic>
        <p:nvPicPr>
          <p:cNvPr id="26" name="Image 4" descr="/home/claude/deck/icons/brain.png">    </p:cNvPr>
          <p:cNvPicPr>
            <a:picLocks noChangeAspect="1"/>
          </p:cNvPicPr>
          <p:nvPr/>
        </p:nvPicPr>
        <p:blipFill>
          <a:blip r:embed="rId5"/>
          <a:stretch>
            <a:fillRect/>
          </a:stretch>
        </p:blipFill>
        <p:spPr>
          <a:xfrm>
            <a:off x="9852203" y="2226107"/>
            <a:ext cx="439826" cy="439826"/>
          </a:xfrm>
          <a:prstGeom prst="rect">
            <a:avLst/>
          </a:prstGeom>
        </p:spPr>
      </p:pic>
      <p:sp>
        <p:nvSpPr>
          <p:cNvPr id="27" name="Text 20"/>
          <p:cNvSpPr/>
          <p:nvPr/>
        </p:nvSpPr>
        <p:spPr>
          <a:xfrm>
            <a:off x="8814816" y="2971800"/>
            <a:ext cx="2514600" cy="594360"/>
          </a:xfrm>
          <a:prstGeom prst="rect">
            <a:avLst/>
          </a:prstGeom>
          <a:noFill/>
          <a:ln/>
        </p:spPr>
        <p:txBody>
          <a:bodyPr wrap="square" rtlCol="0" anchor="ctr"/>
          <a:lstStyle/>
          <a:p>
            <a:pPr algn="ctr" indent="0" marL="0">
              <a:buNone/>
            </a:pPr>
            <a:r>
              <a:rPr lang="en-US" sz="2800" b="1" dirty="0">
                <a:solidFill>
                  <a:srgbClr val="1C2535"/>
                </a:solidFill>
              </a:rPr>
              <a:t>93%</a:t>
            </a:r>
            <a:endParaRPr lang="en-US" sz="2800" dirty="0"/>
          </a:p>
        </p:txBody>
      </p:sp>
      <p:sp>
        <p:nvSpPr>
          <p:cNvPr id="28" name="Text 21"/>
          <p:cNvSpPr/>
          <p:nvPr/>
        </p:nvSpPr>
        <p:spPr>
          <a:xfrm>
            <a:off x="8814816" y="3566160"/>
            <a:ext cx="2514600" cy="320040"/>
          </a:xfrm>
          <a:prstGeom prst="rect">
            <a:avLst/>
          </a:prstGeom>
          <a:noFill/>
          <a:ln/>
        </p:spPr>
        <p:txBody>
          <a:bodyPr wrap="square" rtlCol="0" anchor="ctr"/>
          <a:lstStyle/>
          <a:p>
            <a:pPr algn="ctr" indent="0" marL="0">
              <a:buNone/>
            </a:pPr>
            <a:r>
              <a:rPr lang="en-US" sz="1300" b="1" dirty="0">
                <a:solidFill>
                  <a:srgbClr val="1A5A96"/>
                </a:solidFill>
              </a:rPr>
              <a:t>IA aplicada</a:t>
            </a:r>
            <a:endParaRPr lang="en-US" sz="1300" dirty="0"/>
          </a:p>
        </p:txBody>
      </p:sp>
      <p:sp>
        <p:nvSpPr>
          <p:cNvPr id="29" name="Text 22"/>
          <p:cNvSpPr/>
          <p:nvPr/>
        </p:nvSpPr>
        <p:spPr>
          <a:xfrm>
            <a:off x="8997696" y="3931920"/>
            <a:ext cx="2148840" cy="822960"/>
          </a:xfrm>
          <a:prstGeom prst="rect">
            <a:avLst/>
          </a:prstGeom>
          <a:noFill/>
          <a:ln/>
        </p:spPr>
        <p:txBody>
          <a:bodyPr wrap="square" rtlCol="0" anchor="ctr"/>
          <a:lstStyle/>
          <a:p>
            <a:pPr algn="ctr" indent="0" marL="0">
              <a:buNone/>
            </a:pPr>
            <a:r>
              <a:rPr lang="en-US" sz="1100" dirty="0">
                <a:solidFill>
                  <a:srgbClr val="6B7280"/>
                </a:solidFill>
              </a:rPr>
              <a:t>precisión del motor, ya validada</a:t>
            </a:r>
            <a:endParaRPr lang="en-US" sz="1100" dirty="0"/>
          </a:p>
        </p:txBody>
      </p:sp>
      <p:sp>
        <p:nvSpPr>
          <p:cNvPr id="30" name="Text 23"/>
          <p:cNvSpPr/>
          <p:nvPr/>
        </p:nvSpPr>
        <p:spPr>
          <a:xfrm>
            <a:off x="640080" y="6400800"/>
            <a:ext cx="1828800" cy="274320"/>
          </a:xfrm>
          <a:prstGeom prst="rect">
            <a:avLst/>
          </a:prstGeom>
          <a:noFill/>
          <a:ln/>
        </p:spPr>
        <p:txBody>
          <a:bodyPr wrap="square" rtlCol="0" anchor="ctr"/>
          <a:lstStyle/>
          <a:p>
            <a:pPr indent="0" marL="0">
              <a:buNone/>
            </a:pPr>
            <a:r>
              <a:rPr lang="en-US" sz="1100" b="1" dirty="0">
                <a:solidFill>
                  <a:srgbClr val="6B7280"/>
                </a:solidFill>
              </a:rPr>
              <a:t>TradeFlow</a:t>
            </a:r>
            <a:endParaRPr lang="en-US" sz="1100" dirty="0"/>
          </a:p>
        </p:txBody>
      </p:sp>
      <p:sp>
        <p:nvSpPr>
          <p:cNvPr id="31" name="Text 24"/>
          <p:cNvSpPr/>
          <p:nvPr/>
        </p:nvSpPr>
        <p:spPr>
          <a:xfrm>
            <a:off x="11548872" y="6400800"/>
            <a:ext cx="365760" cy="274320"/>
          </a:xfrm>
          <a:prstGeom prst="rect">
            <a:avLst/>
          </a:prstGeom>
          <a:noFill/>
          <a:ln/>
        </p:spPr>
        <p:txBody>
          <a:bodyPr wrap="square" rtlCol="0" anchor="ctr"/>
          <a:lstStyle/>
          <a:p>
            <a:pPr algn="r" indent="0" marL="0">
              <a:buNone/>
            </a:pPr>
            <a:r>
              <a:rPr lang="en-US" sz="1100" dirty="0">
                <a:solidFill>
                  <a:srgbClr val="6B7280"/>
                </a:solidFill>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94360"/>
            <a:ext cx="685800" cy="685800"/>
          </a:xfrm>
          <a:prstGeom prst="ellipse">
            <a:avLst/>
          </a:prstGeom>
          <a:solidFill>
            <a:srgbClr val="C8922A"/>
          </a:solidFill>
          <a:ln/>
        </p:spPr>
      </p:sp>
      <p:pic>
        <p:nvPicPr>
          <p:cNvPr id="3" name="Image 0" descr="/home/claude/deck/icons/coins.png">    </p:cNvPr>
          <p:cNvPicPr>
            <a:picLocks noChangeAspect="1"/>
          </p:cNvPicPr>
          <p:nvPr/>
        </p:nvPicPr>
        <p:blipFill>
          <a:blip r:embed="rId1"/>
          <a:stretch>
            <a:fillRect/>
          </a:stretch>
        </p:blipFill>
        <p:spPr>
          <a:xfrm>
            <a:off x="729234" y="683514"/>
            <a:ext cx="507492" cy="507492"/>
          </a:xfrm>
          <a:prstGeom prst="rect">
            <a:avLst/>
          </a:prstGeom>
        </p:spPr>
      </p:pic>
      <p:sp>
        <p:nvSpPr>
          <p:cNvPr id="4" name="Text 1"/>
          <p:cNvSpPr/>
          <p:nvPr/>
        </p:nvSpPr>
        <p:spPr>
          <a:xfrm>
            <a:off x="640080" y="384048"/>
            <a:ext cx="7315200" cy="320040"/>
          </a:xfrm>
          <a:prstGeom prst="rect">
            <a:avLst/>
          </a:prstGeom>
          <a:noFill/>
          <a:ln/>
        </p:spPr>
        <p:txBody>
          <a:bodyPr wrap="square" rtlCol="0" anchor="ctr"/>
          <a:lstStyle/>
          <a:p>
            <a:pPr indent="0" marL="0">
              <a:buNone/>
            </a:pPr>
            <a:r>
              <a:rPr lang="en-US" sz="1300" b="1" spc="200" kern="0" dirty="0">
                <a:solidFill>
                  <a:srgbClr val="C8922A"/>
                </a:solidFill>
                <a:latin typeface="Calibri" pitchFamily="34" charset="0"/>
                <a:ea typeface="Calibri" pitchFamily="34" charset="-122"/>
                <a:cs typeface="Calibri" pitchFamily="34" charset="-120"/>
              </a:rPr>
              <a:t>12 · NECESIDADES DE FINANCIACIÓN</a:t>
            </a:r>
            <a:endParaRPr lang="en-US" sz="1300" dirty="0"/>
          </a:p>
        </p:txBody>
      </p:sp>
      <p:sp>
        <p:nvSpPr>
          <p:cNvPr id="5" name="Text 2"/>
          <p:cNvSpPr/>
          <p:nvPr/>
        </p:nvSpPr>
        <p:spPr>
          <a:xfrm>
            <a:off x="1508760" y="566928"/>
            <a:ext cx="10058400" cy="731520"/>
          </a:xfrm>
          <a:prstGeom prst="rect">
            <a:avLst/>
          </a:prstGeom>
          <a:noFill/>
          <a:ln/>
        </p:spPr>
        <p:txBody>
          <a:bodyPr wrap="square" rtlCol="0" anchor="ctr"/>
          <a:lstStyle/>
          <a:p>
            <a:pPr indent="0" marL="0">
              <a:buNone/>
            </a:pPr>
            <a:r>
              <a:rPr lang="en-US" sz="2600" b="1" dirty="0">
                <a:solidFill>
                  <a:srgbClr val="1C2535"/>
                </a:solidFill>
                <a:latin typeface="Cambria" pitchFamily="34" charset="0"/>
                <a:ea typeface="Cambria" pitchFamily="34" charset="-122"/>
                <a:cs typeface="Cambria" pitchFamily="34" charset="-120"/>
              </a:rPr>
              <a:t>Qué queremos construir con apoyo institucional</a:t>
            </a:r>
            <a:endParaRPr lang="en-US" sz="2600" dirty="0"/>
          </a:p>
        </p:txBody>
      </p:sp>
      <p:sp>
        <p:nvSpPr>
          <p:cNvPr id="6" name="Text 3"/>
          <p:cNvSpPr/>
          <p:nvPr/>
        </p:nvSpPr>
        <p:spPr>
          <a:xfrm>
            <a:off x="640080" y="1737360"/>
            <a:ext cx="5486400" cy="548640"/>
          </a:xfrm>
          <a:prstGeom prst="rect">
            <a:avLst/>
          </a:prstGeom>
          <a:noFill/>
          <a:ln/>
        </p:spPr>
        <p:txBody>
          <a:bodyPr wrap="square" rtlCol="0" anchor="ctr"/>
          <a:lstStyle/>
          <a:p>
            <a:pPr indent="0" marL="0">
              <a:buNone/>
            </a:pPr>
            <a:r>
              <a:rPr lang="en-US" sz="2600" b="1" dirty="0">
                <a:solidFill>
                  <a:srgbClr val="1A5A96"/>
                </a:solidFill>
              </a:rPr>
              <a:t>150.000 € – 250.000 €</a:t>
            </a:r>
            <a:endParaRPr lang="en-US" sz="2600" dirty="0"/>
          </a:p>
        </p:txBody>
      </p:sp>
      <p:sp>
        <p:nvSpPr>
          <p:cNvPr id="7" name="Text 4"/>
          <p:cNvSpPr/>
          <p:nvPr/>
        </p:nvSpPr>
        <p:spPr>
          <a:xfrm>
            <a:off x="640080" y="2240280"/>
            <a:ext cx="5486400" cy="457200"/>
          </a:xfrm>
          <a:prstGeom prst="rect">
            <a:avLst/>
          </a:prstGeom>
          <a:noFill/>
          <a:ln/>
        </p:spPr>
        <p:txBody>
          <a:bodyPr wrap="square" rtlCol="0" anchor="ctr"/>
          <a:lstStyle/>
          <a:p>
            <a:pPr indent="0" marL="0">
              <a:buNone/>
            </a:pPr>
            <a:r>
              <a:rPr lang="en-US" sz="1300" dirty="0">
                <a:solidFill>
                  <a:srgbClr val="6B7280"/>
                </a:solidFill>
              </a:rPr>
              <a:t>necesidad estimada para la primera fase de aceleración (12-18 meses)</a:t>
            </a:r>
            <a:endParaRPr lang="en-US" sz="1300" dirty="0"/>
          </a:p>
        </p:txBody>
      </p:sp>
      <p:graphicFrame>
        <p:nvGraphicFramePr>
          <p:cNvPr id="8" name="Chart 0" descr=""/>
          <p:cNvGraphicFramePr/>
          <p:nvPr/>
        </p:nvGraphicFramePr>
        <p:xfrm>
          <a:off x="548640" y="2697480"/>
          <a:ext cx="4206240" cy="356616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120640" y="2697480"/>
            <a:ext cx="6400800" cy="1051560"/>
          </a:xfrm>
          <a:prstGeom prst="roundRect">
            <a:avLst>
              <a:gd name="adj" fmla="val 6957"/>
            </a:avLst>
          </a:prstGeom>
          <a:solidFill>
            <a:srgbClr val="F4F6F8"/>
          </a:solidFill>
          <a:ln/>
          <a:effectLst>
            <a:outerShdw sx="100000" sy="100000" kx="0" ky="0" algn="bl" rotWithShape="0" blurRad="101600" dist="38100" dir="2700000">
              <a:srgbClr val="000000">
                <a:alpha val="12000"/>
              </a:srgbClr>
            </a:outerShdw>
          </a:effectLst>
        </p:spPr>
      </p:sp>
      <p:sp>
        <p:nvSpPr>
          <p:cNvPr id="10" name="Text 6"/>
          <p:cNvSpPr/>
          <p:nvPr/>
        </p:nvSpPr>
        <p:spPr>
          <a:xfrm>
            <a:off x="5349240" y="2788920"/>
            <a:ext cx="5943600" cy="365760"/>
          </a:xfrm>
          <a:prstGeom prst="rect">
            <a:avLst/>
          </a:prstGeom>
          <a:noFill/>
          <a:ln/>
        </p:spPr>
        <p:txBody>
          <a:bodyPr wrap="square" rtlCol="0" anchor="ctr"/>
          <a:lstStyle/>
          <a:p>
            <a:pPr indent="0" marL="0">
              <a:buNone/>
            </a:pPr>
            <a:r>
              <a:rPr lang="en-US" sz="1400" b="1" dirty="0">
                <a:solidFill>
                  <a:srgbClr val="1C2535"/>
                </a:solidFill>
              </a:rPr>
              <a:t>Fase 1 — Producto</a:t>
            </a:r>
            <a:endParaRPr lang="en-US" sz="1400" dirty="0"/>
          </a:p>
        </p:txBody>
      </p:sp>
      <p:sp>
        <p:nvSpPr>
          <p:cNvPr id="11" name="Text 7"/>
          <p:cNvSpPr/>
          <p:nvPr/>
        </p:nvSpPr>
        <p:spPr>
          <a:xfrm>
            <a:off x="5349240" y="3172968"/>
            <a:ext cx="5943600" cy="502920"/>
          </a:xfrm>
          <a:prstGeom prst="rect">
            <a:avLst/>
          </a:prstGeom>
          <a:noFill/>
          <a:ln/>
        </p:spPr>
        <p:txBody>
          <a:bodyPr wrap="square" rtlCol="0" anchor="ctr"/>
          <a:lstStyle/>
          <a:p>
            <a:pPr indent="0" marL="0">
              <a:buNone/>
            </a:pPr>
            <a:r>
              <a:rPr lang="en-US" sz="1150" dirty="0">
                <a:solidFill>
                  <a:srgbClr val="6B7280"/>
                </a:solidFill>
              </a:rPr>
              <a:t>Evolución del motor de IA, certificación VeriFactu, hardening de seguridad</a:t>
            </a:r>
            <a:endParaRPr lang="en-US" sz="1150" dirty="0"/>
          </a:p>
        </p:txBody>
      </p:sp>
      <p:sp>
        <p:nvSpPr>
          <p:cNvPr id="12" name="Shape 8"/>
          <p:cNvSpPr/>
          <p:nvPr/>
        </p:nvSpPr>
        <p:spPr>
          <a:xfrm>
            <a:off x="5120640" y="3931920"/>
            <a:ext cx="6400800" cy="1051560"/>
          </a:xfrm>
          <a:prstGeom prst="roundRect">
            <a:avLst>
              <a:gd name="adj" fmla="val 6957"/>
            </a:avLst>
          </a:prstGeom>
          <a:solidFill>
            <a:srgbClr val="F4F6F8"/>
          </a:solidFill>
          <a:ln/>
          <a:effectLst>
            <a:outerShdw sx="100000" sy="100000" kx="0" ky="0" algn="bl" rotWithShape="0" blurRad="101600" dist="38100" dir="2700000">
              <a:srgbClr val="000000">
                <a:alpha val="12000"/>
              </a:srgbClr>
            </a:outerShdw>
          </a:effectLst>
        </p:spPr>
      </p:sp>
      <p:sp>
        <p:nvSpPr>
          <p:cNvPr id="13" name="Text 9"/>
          <p:cNvSpPr/>
          <p:nvPr/>
        </p:nvSpPr>
        <p:spPr>
          <a:xfrm>
            <a:off x="5349240" y="4023360"/>
            <a:ext cx="5943600" cy="365760"/>
          </a:xfrm>
          <a:prstGeom prst="rect">
            <a:avLst/>
          </a:prstGeom>
          <a:noFill/>
          <a:ln/>
        </p:spPr>
        <p:txBody>
          <a:bodyPr wrap="square" rtlCol="0" anchor="ctr"/>
          <a:lstStyle/>
          <a:p>
            <a:pPr indent="0" marL="0">
              <a:buNone/>
            </a:pPr>
            <a:r>
              <a:rPr lang="en-US" sz="1400" b="1" dirty="0">
                <a:solidFill>
                  <a:srgbClr val="1C2535"/>
                </a:solidFill>
              </a:rPr>
              <a:t>Fase 2 — Validación</a:t>
            </a:r>
            <a:endParaRPr lang="en-US" sz="1400" dirty="0"/>
          </a:p>
        </p:txBody>
      </p:sp>
      <p:sp>
        <p:nvSpPr>
          <p:cNvPr id="14" name="Text 10"/>
          <p:cNvSpPr/>
          <p:nvPr/>
        </p:nvSpPr>
        <p:spPr>
          <a:xfrm>
            <a:off x="5349240" y="4407408"/>
            <a:ext cx="5943600" cy="502920"/>
          </a:xfrm>
          <a:prstGeom prst="rect">
            <a:avLst/>
          </a:prstGeom>
          <a:noFill/>
          <a:ln/>
        </p:spPr>
        <p:txBody>
          <a:bodyPr wrap="square" rtlCol="0" anchor="ctr"/>
          <a:lstStyle/>
          <a:p>
            <a:pPr indent="0" marL="0">
              <a:buNone/>
            </a:pPr>
            <a:r>
              <a:rPr lang="en-US" sz="1150" dirty="0">
                <a:solidFill>
                  <a:srgbClr val="6B7280"/>
                </a:solidFill>
              </a:rPr>
              <a:t>Beta con cohortes reales, canal de asociaciones sectoriales</a:t>
            </a:r>
            <a:endParaRPr lang="en-US" sz="1150" dirty="0"/>
          </a:p>
        </p:txBody>
      </p:sp>
      <p:sp>
        <p:nvSpPr>
          <p:cNvPr id="15" name="Shape 11"/>
          <p:cNvSpPr/>
          <p:nvPr/>
        </p:nvSpPr>
        <p:spPr>
          <a:xfrm>
            <a:off x="5120640" y="5166360"/>
            <a:ext cx="6400800" cy="1051560"/>
          </a:xfrm>
          <a:prstGeom prst="roundRect">
            <a:avLst>
              <a:gd name="adj" fmla="val 6957"/>
            </a:avLst>
          </a:prstGeom>
          <a:solidFill>
            <a:srgbClr val="F4F6F8"/>
          </a:solidFill>
          <a:ln/>
          <a:effectLst>
            <a:outerShdw sx="100000" sy="100000" kx="0" ky="0" algn="bl" rotWithShape="0" blurRad="101600" dist="38100" dir="2700000">
              <a:srgbClr val="000000">
                <a:alpha val="12000"/>
              </a:srgbClr>
            </a:outerShdw>
          </a:effectLst>
        </p:spPr>
      </p:sp>
      <p:sp>
        <p:nvSpPr>
          <p:cNvPr id="16" name="Text 12"/>
          <p:cNvSpPr/>
          <p:nvPr/>
        </p:nvSpPr>
        <p:spPr>
          <a:xfrm>
            <a:off x="5349240" y="5257800"/>
            <a:ext cx="5943600" cy="365760"/>
          </a:xfrm>
          <a:prstGeom prst="rect">
            <a:avLst/>
          </a:prstGeom>
          <a:noFill/>
          <a:ln/>
        </p:spPr>
        <p:txBody>
          <a:bodyPr wrap="square" rtlCol="0" anchor="ctr"/>
          <a:lstStyle/>
          <a:p>
            <a:pPr indent="0" marL="0">
              <a:buNone/>
            </a:pPr>
            <a:r>
              <a:rPr lang="en-US" sz="1400" b="1" dirty="0">
                <a:solidFill>
                  <a:srgbClr val="1C2535"/>
                </a:solidFill>
              </a:rPr>
              <a:t>Fase 3 — Equipo</a:t>
            </a:r>
            <a:endParaRPr lang="en-US" sz="1400" dirty="0"/>
          </a:p>
        </p:txBody>
      </p:sp>
      <p:sp>
        <p:nvSpPr>
          <p:cNvPr id="17" name="Text 13"/>
          <p:cNvSpPr/>
          <p:nvPr/>
        </p:nvSpPr>
        <p:spPr>
          <a:xfrm>
            <a:off x="5349240" y="5641848"/>
            <a:ext cx="5943600" cy="502920"/>
          </a:xfrm>
          <a:prstGeom prst="rect">
            <a:avLst/>
          </a:prstGeom>
          <a:noFill/>
          <a:ln/>
        </p:spPr>
        <p:txBody>
          <a:bodyPr wrap="square" rtlCol="0" anchor="ctr"/>
          <a:lstStyle/>
          <a:p>
            <a:pPr indent="0" marL="0">
              <a:buNone/>
            </a:pPr>
            <a:r>
              <a:rPr lang="en-US" sz="1150" dirty="0">
                <a:solidFill>
                  <a:srgbClr val="6B7280"/>
                </a:solidFill>
              </a:rPr>
              <a:t>Incorporación de CTO, perfil de datos/IA y responsable comercial</a:t>
            </a:r>
            <a:endParaRPr lang="en-US" sz="1150" dirty="0"/>
          </a:p>
        </p:txBody>
      </p:sp>
      <p:sp>
        <p:nvSpPr>
          <p:cNvPr id="18" name="Text 14"/>
          <p:cNvSpPr/>
          <p:nvPr/>
        </p:nvSpPr>
        <p:spPr>
          <a:xfrm>
            <a:off x="640080" y="6400800"/>
            <a:ext cx="1828800" cy="274320"/>
          </a:xfrm>
          <a:prstGeom prst="rect">
            <a:avLst/>
          </a:prstGeom>
          <a:noFill/>
          <a:ln/>
        </p:spPr>
        <p:txBody>
          <a:bodyPr wrap="square" rtlCol="0" anchor="ctr"/>
          <a:lstStyle/>
          <a:p>
            <a:pPr indent="0" marL="0">
              <a:buNone/>
            </a:pPr>
            <a:r>
              <a:rPr lang="en-US" sz="1100" b="1" dirty="0">
                <a:solidFill>
                  <a:srgbClr val="6B7280"/>
                </a:solidFill>
              </a:rPr>
              <a:t>TradeFlow</a:t>
            </a:r>
            <a:endParaRPr lang="en-US" sz="1100" dirty="0"/>
          </a:p>
        </p:txBody>
      </p:sp>
      <p:sp>
        <p:nvSpPr>
          <p:cNvPr id="19" name="Text 15"/>
          <p:cNvSpPr/>
          <p:nvPr/>
        </p:nvSpPr>
        <p:spPr>
          <a:xfrm>
            <a:off x="11548872" y="6400800"/>
            <a:ext cx="365760" cy="274320"/>
          </a:xfrm>
          <a:prstGeom prst="rect">
            <a:avLst/>
          </a:prstGeom>
          <a:noFill/>
          <a:ln/>
        </p:spPr>
        <p:txBody>
          <a:bodyPr wrap="square" rtlCol="0" anchor="ctr"/>
          <a:lstStyle/>
          <a:p>
            <a:pPr algn="r" indent="0" marL="0">
              <a:buNone/>
            </a:pPr>
            <a:r>
              <a:rPr lang="en-US" sz="1100" dirty="0">
                <a:solidFill>
                  <a:srgbClr val="6B7280"/>
                </a:solidFill>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94360"/>
            <a:ext cx="685800" cy="685800"/>
          </a:xfrm>
          <a:prstGeom prst="ellipse">
            <a:avLst/>
          </a:prstGeom>
          <a:solidFill>
            <a:srgbClr val="4A6741"/>
          </a:solidFill>
          <a:ln/>
        </p:spPr>
      </p:sp>
      <p:pic>
        <p:nvPicPr>
          <p:cNvPr id="3" name="Image 0" descr="/home/claude/deck/icons/mountain.png">    </p:cNvPr>
          <p:cNvPicPr>
            <a:picLocks noChangeAspect="1"/>
          </p:cNvPicPr>
          <p:nvPr/>
        </p:nvPicPr>
        <p:blipFill>
          <a:blip r:embed="rId1"/>
          <a:stretch>
            <a:fillRect/>
          </a:stretch>
        </p:blipFill>
        <p:spPr>
          <a:xfrm>
            <a:off x="729234" y="683514"/>
            <a:ext cx="507492" cy="507492"/>
          </a:xfrm>
          <a:prstGeom prst="rect">
            <a:avLst/>
          </a:prstGeom>
        </p:spPr>
      </p:pic>
      <p:sp>
        <p:nvSpPr>
          <p:cNvPr id="4" name="Text 1"/>
          <p:cNvSpPr/>
          <p:nvPr/>
        </p:nvSpPr>
        <p:spPr>
          <a:xfrm>
            <a:off x="640080" y="384048"/>
            <a:ext cx="7315200" cy="320040"/>
          </a:xfrm>
          <a:prstGeom prst="rect">
            <a:avLst/>
          </a:prstGeom>
          <a:noFill/>
          <a:ln/>
        </p:spPr>
        <p:txBody>
          <a:bodyPr wrap="square" rtlCol="0" anchor="ctr"/>
          <a:lstStyle/>
          <a:p>
            <a:pPr indent="0" marL="0">
              <a:buNone/>
            </a:pPr>
            <a:r>
              <a:rPr lang="en-US" sz="1300" b="1" spc="200" kern="0" dirty="0">
                <a:solidFill>
                  <a:srgbClr val="4A6741"/>
                </a:solidFill>
                <a:latin typeface="Calibri" pitchFamily="34" charset="0"/>
                <a:ea typeface="Calibri" pitchFamily="34" charset="-122"/>
                <a:cs typeface="Calibri" pitchFamily="34" charset="-120"/>
              </a:rPr>
              <a:t>13 · POR QUÉ CANTABRIA</a:t>
            </a:r>
            <a:endParaRPr lang="en-US" sz="1300" dirty="0"/>
          </a:p>
        </p:txBody>
      </p:sp>
      <p:sp>
        <p:nvSpPr>
          <p:cNvPr id="5" name="Text 2"/>
          <p:cNvSpPr/>
          <p:nvPr/>
        </p:nvSpPr>
        <p:spPr>
          <a:xfrm>
            <a:off x="1508760" y="566928"/>
            <a:ext cx="10058400" cy="731520"/>
          </a:xfrm>
          <a:prstGeom prst="rect">
            <a:avLst/>
          </a:prstGeom>
          <a:noFill/>
          <a:ln/>
        </p:spPr>
        <p:txBody>
          <a:bodyPr wrap="square" rtlCol="0" anchor="ctr"/>
          <a:lstStyle/>
          <a:p>
            <a:pPr indent="0" marL="0">
              <a:buNone/>
            </a:pPr>
            <a:r>
              <a:rPr lang="en-US" sz="2800" b="1" dirty="0">
                <a:solidFill>
                  <a:srgbClr val="1C2535"/>
                </a:solidFill>
                <a:latin typeface="Cambria" pitchFamily="34" charset="0"/>
                <a:ea typeface="Cambria" pitchFamily="34" charset="-122"/>
                <a:cs typeface="Cambria" pitchFamily="34" charset="-120"/>
              </a:rPr>
              <a:t>Por qué queremos construirlo desde aquí</a:t>
            </a:r>
            <a:endParaRPr lang="en-US" sz="2800" dirty="0"/>
          </a:p>
        </p:txBody>
      </p:sp>
      <p:sp>
        <p:nvSpPr>
          <p:cNvPr id="6" name="Shape 3"/>
          <p:cNvSpPr/>
          <p:nvPr/>
        </p:nvSpPr>
        <p:spPr>
          <a:xfrm>
            <a:off x="640080" y="1874520"/>
            <a:ext cx="594360" cy="594360"/>
          </a:xfrm>
          <a:prstGeom prst="ellipse">
            <a:avLst/>
          </a:prstGeom>
          <a:solidFill>
            <a:srgbClr val="E7EFE9"/>
          </a:solidFill>
          <a:ln/>
        </p:spPr>
      </p:sp>
      <p:pic>
        <p:nvPicPr>
          <p:cNvPr id="7" name="Image 1" descr="/home/claude/deck/icons/graduation_ink.png">    </p:cNvPr>
          <p:cNvPicPr>
            <a:picLocks noChangeAspect="1"/>
          </p:cNvPicPr>
          <p:nvPr/>
        </p:nvPicPr>
        <p:blipFill>
          <a:blip r:embed="rId2"/>
          <a:stretch>
            <a:fillRect/>
          </a:stretch>
        </p:blipFill>
        <p:spPr>
          <a:xfrm>
            <a:off x="717347" y="1951787"/>
            <a:ext cx="439826" cy="439826"/>
          </a:xfrm>
          <a:prstGeom prst="rect">
            <a:avLst/>
          </a:prstGeom>
        </p:spPr>
      </p:pic>
      <p:sp>
        <p:nvSpPr>
          <p:cNvPr id="8" name="Text 4"/>
          <p:cNvSpPr/>
          <p:nvPr/>
        </p:nvSpPr>
        <p:spPr>
          <a:xfrm>
            <a:off x="1417320" y="1847088"/>
            <a:ext cx="3931920" cy="640080"/>
          </a:xfrm>
          <a:prstGeom prst="rect">
            <a:avLst/>
          </a:prstGeom>
          <a:noFill/>
          <a:ln/>
        </p:spPr>
        <p:txBody>
          <a:bodyPr wrap="square" rtlCol="0" anchor="ctr"/>
          <a:lstStyle/>
          <a:p>
            <a:pPr indent="0" marL="0">
              <a:buNone/>
            </a:pPr>
            <a:r>
              <a:rPr lang="en-US" sz="1500" b="1" dirty="0">
                <a:solidFill>
                  <a:srgbClr val="1C2535"/>
                </a:solidFill>
              </a:rPr>
              <a:t>Talento técnico disponible</a:t>
            </a:r>
            <a:endParaRPr lang="en-US" sz="1500" dirty="0"/>
          </a:p>
        </p:txBody>
      </p:sp>
      <p:sp>
        <p:nvSpPr>
          <p:cNvPr id="9" name="Text 5"/>
          <p:cNvSpPr/>
          <p:nvPr/>
        </p:nvSpPr>
        <p:spPr>
          <a:xfrm>
            <a:off x="5577840" y="1828800"/>
            <a:ext cx="5943600" cy="868680"/>
          </a:xfrm>
          <a:prstGeom prst="rect">
            <a:avLst/>
          </a:prstGeom>
          <a:noFill/>
          <a:ln/>
        </p:spPr>
        <p:txBody>
          <a:bodyPr wrap="square" rtlCol="0" anchor="ctr"/>
          <a:lstStyle/>
          <a:p>
            <a:pPr indent="0" marL="0">
              <a:buNone/>
            </a:pPr>
            <a:r>
              <a:rPr lang="en-US" sz="1300" dirty="0">
                <a:solidFill>
                  <a:srgbClr val="374151"/>
                </a:solidFill>
              </a:rPr>
              <a:t>Perfiles de desarrollo e IA formados en la región, con coste de vida competitivo frente a Madrid o Barcelona.</a:t>
            </a:r>
            <a:endParaRPr lang="en-US" sz="1300" dirty="0"/>
          </a:p>
        </p:txBody>
      </p:sp>
      <p:sp>
        <p:nvSpPr>
          <p:cNvPr id="10" name="Shape 6"/>
          <p:cNvSpPr/>
          <p:nvPr/>
        </p:nvSpPr>
        <p:spPr>
          <a:xfrm>
            <a:off x="640080" y="3291840"/>
            <a:ext cx="594360" cy="594360"/>
          </a:xfrm>
          <a:prstGeom prst="ellipse">
            <a:avLst/>
          </a:prstGeom>
          <a:solidFill>
            <a:srgbClr val="E7EFE9"/>
          </a:solidFill>
          <a:ln/>
        </p:spPr>
      </p:sp>
      <p:pic>
        <p:nvPicPr>
          <p:cNvPr id="11" name="Image 2" descr="/home/claude/deck/icons/handshake_ink.png">    </p:cNvPr>
          <p:cNvPicPr>
            <a:picLocks noChangeAspect="1"/>
          </p:cNvPicPr>
          <p:nvPr/>
        </p:nvPicPr>
        <p:blipFill>
          <a:blip r:embed="rId3"/>
          <a:stretch>
            <a:fillRect/>
          </a:stretch>
        </p:blipFill>
        <p:spPr>
          <a:xfrm>
            <a:off x="717347" y="3369107"/>
            <a:ext cx="439826" cy="439826"/>
          </a:xfrm>
          <a:prstGeom prst="rect">
            <a:avLst/>
          </a:prstGeom>
        </p:spPr>
      </p:pic>
      <p:sp>
        <p:nvSpPr>
          <p:cNvPr id="12" name="Text 7"/>
          <p:cNvSpPr/>
          <p:nvPr/>
        </p:nvSpPr>
        <p:spPr>
          <a:xfrm>
            <a:off x="1417320" y="3264408"/>
            <a:ext cx="3931920" cy="640080"/>
          </a:xfrm>
          <a:prstGeom prst="rect">
            <a:avLst/>
          </a:prstGeom>
          <a:noFill/>
          <a:ln/>
        </p:spPr>
        <p:txBody>
          <a:bodyPr wrap="square" rtlCol="0" anchor="ctr"/>
          <a:lstStyle/>
          <a:p>
            <a:pPr indent="0" marL="0">
              <a:buNone/>
            </a:pPr>
            <a:r>
              <a:rPr lang="en-US" sz="1500" b="1" dirty="0">
                <a:solidFill>
                  <a:srgbClr val="1C2535"/>
                </a:solidFill>
              </a:rPr>
              <a:t>Ecosistema de acompañamiento</a:t>
            </a:r>
            <a:endParaRPr lang="en-US" sz="1500" dirty="0"/>
          </a:p>
        </p:txBody>
      </p:sp>
      <p:sp>
        <p:nvSpPr>
          <p:cNvPr id="13" name="Text 8"/>
          <p:cNvSpPr/>
          <p:nvPr/>
        </p:nvSpPr>
        <p:spPr>
          <a:xfrm>
            <a:off x="5577840" y="3246120"/>
            <a:ext cx="5943600" cy="868680"/>
          </a:xfrm>
          <a:prstGeom prst="rect">
            <a:avLst/>
          </a:prstGeom>
          <a:noFill/>
          <a:ln/>
        </p:spPr>
        <p:txBody>
          <a:bodyPr wrap="square" rtlCol="0" anchor="ctr"/>
          <a:lstStyle/>
          <a:p>
            <a:pPr indent="0" marL="0">
              <a:buNone/>
            </a:pPr>
            <a:r>
              <a:rPr lang="en-US" sz="1300" dirty="0">
                <a:solidFill>
                  <a:srgbClr val="374151"/>
                </a:solidFill>
              </a:rPr>
              <a:t>SODERCAN ofrece un marco institucional serio para proyectos tecnológicos en fase temprana.</a:t>
            </a:r>
            <a:endParaRPr lang="en-US" sz="1300" dirty="0"/>
          </a:p>
        </p:txBody>
      </p:sp>
      <p:sp>
        <p:nvSpPr>
          <p:cNvPr id="14" name="Shape 9"/>
          <p:cNvSpPr/>
          <p:nvPr/>
        </p:nvSpPr>
        <p:spPr>
          <a:xfrm>
            <a:off x="640080" y="4709160"/>
            <a:ext cx="594360" cy="594360"/>
          </a:xfrm>
          <a:prstGeom prst="ellipse">
            <a:avLst/>
          </a:prstGeom>
          <a:solidFill>
            <a:srgbClr val="E7EFE9"/>
          </a:solidFill>
          <a:ln/>
        </p:spPr>
      </p:sp>
      <p:pic>
        <p:nvPicPr>
          <p:cNvPr id="15" name="Image 3" descr="/home/claude/deck/icons/target_ink.png">    </p:cNvPr>
          <p:cNvPicPr>
            <a:picLocks noChangeAspect="1"/>
          </p:cNvPicPr>
          <p:nvPr/>
        </p:nvPicPr>
        <p:blipFill>
          <a:blip r:embed="rId4"/>
          <a:stretch>
            <a:fillRect/>
          </a:stretch>
        </p:blipFill>
        <p:spPr>
          <a:xfrm>
            <a:off x="717347" y="4786427"/>
            <a:ext cx="439826" cy="439826"/>
          </a:xfrm>
          <a:prstGeom prst="rect">
            <a:avLst/>
          </a:prstGeom>
        </p:spPr>
      </p:pic>
      <p:sp>
        <p:nvSpPr>
          <p:cNvPr id="16" name="Text 10"/>
          <p:cNvSpPr/>
          <p:nvPr/>
        </p:nvSpPr>
        <p:spPr>
          <a:xfrm>
            <a:off x="1417320" y="4681728"/>
            <a:ext cx="3931920" cy="640080"/>
          </a:xfrm>
          <a:prstGeom prst="rect">
            <a:avLst/>
          </a:prstGeom>
          <a:noFill/>
          <a:ln/>
        </p:spPr>
        <p:txBody>
          <a:bodyPr wrap="square" rtlCol="0" anchor="ctr"/>
          <a:lstStyle/>
          <a:p>
            <a:pPr indent="0" marL="0">
              <a:buNone/>
            </a:pPr>
            <a:r>
              <a:rPr lang="en-US" sz="1500" b="1" dirty="0">
                <a:solidFill>
                  <a:srgbClr val="1C2535"/>
                </a:solidFill>
              </a:rPr>
              <a:t>Ser un caso de referencia</a:t>
            </a:r>
            <a:endParaRPr lang="en-US" sz="1500" dirty="0"/>
          </a:p>
        </p:txBody>
      </p:sp>
      <p:sp>
        <p:nvSpPr>
          <p:cNvPr id="17" name="Text 11"/>
          <p:cNvSpPr/>
          <p:nvPr/>
        </p:nvSpPr>
        <p:spPr>
          <a:xfrm>
            <a:off x="5577840" y="4663440"/>
            <a:ext cx="5943600" cy="868680"/>
          </a:xfrm>
          <a:prstGeom prst="rect">
            <a:avLst/>
          </a:prstGeom>
          <a:noFill/>
          <a:ln/>
        </p:spPr>
        <p:txBody>
          <a:bodyPr wrap="square" rtlCol="0" anchor="ctr"/>
          <a:lstStyle/>
          <a:p>
            <a:pPr indent="0" marL="0">
              <a:buNone/>
            </a:pPr>
            <a:r>
              <a:rPr lang="en-US" sz="1300" dirty="0">
                <a:solidFill>
                  <a:srgbClr val="374151"/>
                </a:solidFill>
              </a:rPr>
              <a:t>Cantabria como origen de un proyecto de IA aplicada con proyección nacional e internacional.</a:t>
            </a:r>
            <a:endParaRPr lang="en-US" sz="1300" dirty="0"/>
          </a:p>
        </p:txBody>
      </p:sp>
      <p:sp>
        <p:nvSpPr>
          <p:cNvPr id="18" name="Shape 12"/>
          <p:cNvSpPr/>
          <p:nvPr/>
        </p:nvSpPr>
        <p:spPr>
          <a:xfrm>
            <a:off x="640080" y="5806440"/>
            <a:ext cx="10881360" cy="685800"/>
          </a:xfrm>
          <a:prstGeom prst="roundRect">
            <a:avLst>
              <a:gd name="adj" fmla="val 10667"/>
            </a:avLst>
          </a:prstGeom>
          <a:solidFill>
            <a:srgbClr val="F4F6F8"/>
          </a:solidFill>
          <a:ln/>
        </p:spPr>
      </p:sp>
      <p:sp>
        <p:nvSpPr>
          <p:cNvPr id="19" name="Text 13"/>
          <p:cNvSpPr/>
          <p:nvPr/>
        </p:nvSpPr>
        <p:spPr>
          <a:xfrm>
            <a:off x="868680" y="5806440"/>
            <a:ext cx="10424160" cy="685800"/>
          </a:xfrm>
          <a:prstGeom prst="rect">
            <a:avLst/>
          </a:prstGeom>
          <a:noFill/>
          <a:ln/>
        </p:spPr>
        <p:txBody>
          <a:bodyPr wrap="square" rtlCol="0" anchor="ctr"/>
          <a:lstStyle/>
          <a:p>
            <a:pPr indent="0" marL="0">
              <a:buNone/>
            </a:pPr>
            <a:r>
              <a:rPr lang="en-US" sz="1250" i="1" dirty="0">
                <a:solidFill>
                  <a:srgbClr val="1C2535"/>
                </a:solidFill>
              </a:rPr>
              <a:t>Este es el punto de partida de una conversación: queremos explorar con SODERCAN si Cantabria es la mejor base para crecer.</a:t>
            </a:r>
            <a:endParaRPr lang="en-US" sz="1250" dirty="0"/>
          </a:p>
        </p:txBody>
      </p:sp>
      <p:sp>
        <p:nvSpPr>
          <p:cNvPr id="20" name="Text 14"/>
          <p:cNvSpPr/>
          <p:nvPr/>
        </p:nvSpPr>
        <p:spPr>
          <a:xfrm>
            <a:off x="640080" y="6400800"/>
            <a:ext cx="1828800" cy="274320"/>
          </a:xfrm>
          <a:prstGeom prst="rect">
            <a:avLst/>
          </a:prstGeom>
          <a:noFill/>
          <a:ln/>
        </p:spPr>
        <p:txBody>
          <a:bodyPr wrap="square" rtlCol="0" anchor="ctr"/>
          <a:lstStyle/>
          <a:p>
            <a:pPr indent="0" marL="0">
              <a:buNone/>
            </a:pPr>
            <a:r>
              <a:rPr lang="en-US" sz="1100" b="1" dirty="0">
                <a:solidFill>
                  <a:srgbClr val="6B7280"/>
                </a:solidFill>
              </a:rPr>
              <a:t>TradeFlow</a:t>
            </a:r>
            <a:endParaRPr lang="en-US" sz="1100" dirty="0"/>
          </a:p>
        </p:txBody>
      </p:sp>
      <p:sp>
        <p:nvSpPr>
          <p:cNvPr id="21" name="Text 15"/>
          <p:cNvSpPr/>
          <p:nvPr/>
        </p:nvSpPr>
        <p:spPr>
          <a:xfrm>
            <a:off x="11548872" y="6400800"/>
            <a:ext cx="365760" cy="274320"/>
          </a:xfrm>
          <a:prstGeom prst="rect">
            <a:avLst/>
          </a:prstGeom>
          <a:noFill/>
          <a:ln/>
        </p:spPr>
        <p:txBody>
          <a:bodyPr wrap="square" rtlCol="0" anchor="ctr"/>
          <a:lstStyle/>
          <a:p>
            <a:pPr algn="r" indent="0" marL="0">
              <a:buNone/>
            </a:pPr>
            <a:r>
              <a:rPr lang="en-US" sz="1100" dirty="0">
                <a:solidFill>
                  <a:srgbClr val="6B7280"/>
                </a:solidFill>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94360"/>
            <a:ext cx="685800" cy="685800"/>
          </a:xfrm>
          <a:prstGeom prst="ellipse">
            <a:avLst/>
          </a:prstGeom>
          <a:solidFill>
            <a:srgbClr val="1A5A96"/>
          </a:solidFill>
          <a:ln/>
        </p:spPr>
      </p:sp>
      <p:pic>
        <p:nvPicPr>
          <p:cNvPr id="3" name="Image 0" descr="/home/claude/deck/icons/handshake.png">    </p:cNvPr>
          <p:cNvPicPr>
            <a:picLocks noChangeAspect="1"/>
          </p:cNvPicPr>
          <p:nvPr/>
        </p:nvPicPr>
        <p:blipFill>
          <a:blip r:embed="rId1"/>
          <a:stretch>
            <a:fillRect/>
          </a:stretch>
        </p:blipFill>
        <p:spPr>
          <a:xfrm>
            <a:off x="729234" y="683514"/>
            <a:ext cx="507492" cy="507492"/>
          </a:xfrm>
          <a:prstGeom prst="rect">
            <a:avLst/>
          </a:prstGeom>
        </p:spPr>
      </p:pic>
      <p:sp>
        <p:nvSpPr>
          <p:cNvPr id="4" name="Text 1"/>
          <p:cNvSpPr/>
          <p:nvPr/>
        </p:nvSpPr>
        <p:spPr>
          <a:xfrm>
            <a:off x="640080" y="384048"/>
            <a:ext cx="7315200" cy="320040"/>
          </a:xfrm>
          <a:prstGeom prst="rect">
            <a:avLst/>
          </a:prstGeom>
          <a:noFill/>
          <a:ln/>
        </p:spPr>
        <p:txBody>
          <a:bodyPr wrap="square" rtlCol="0" anchor="ctr"/>
          <a:lstStyle/>
          <a:p>
            <a:pPr indent="0" marL="0">
              <a:buNone/>
            </a:pPr>
            <a:r>
              <a:rPr lang="en-US" sz="1300" b="1" spc="200" kern="0" dirty="0">
                <a:solidFill>
                  <a:srgbClr val="1A5A96"/>
                </a:solidFill>
                <a:latin typeface="Calibri" pitchFamily="34" charset="0"/>
                <a:ea typeface="Calibri" pitchFamily="34" charset="-122"/>
                <a:cs typeface="Calibri" pitchFamily="34" charset="-120"/>
              </a:rPr>
              <a:t>14 · COLABORACIÓN CON SODERCAN</a:t>
            </a:r>
            <a:endParaRPr lang="en-US" sz="1300" dirty="0"/>
          </a:p>
        </p:txBody>
      </p:sp>
      <p:sp>
        <p:nvSpPr>
          <p:cNvPr id="5" name="Text 2"/>
          <p:cNvSpPr/>
          <p:nvPr/>
        </p:nvSpPr>
        <p:spPr>
          <a:xfrm>
            <a:off x="1508760" y="566928"/>
            <a:ext cx="9144000" cy="731520"/>
          </a:xfrm>
          <a:prstGeom prst="rect">
            <a:avLst/>
          </a:prstGeom>
          <a:noFill/>
          <a:ln/>
        </p:spPr>
        <p:txBody>
          <a:bodyPr wrap="square" rtlCol="0" anchor="ctr"/>
          <a:lstStyle/>
          <a:p>
            <a:pPr indent="0" marL="0">
              <a:buNone/>
            </a:pPr>
            <a:r>
              <a:rPr lang="en-US" sz="3200" b="1" dirty="0">
                <a:solidFill>
                  <a:srgbClr val="1C2535"/>
                </a:solidFill>
                <a:latin typeface="Cambria" pitchFamily="34" charset="0"/>
                <a:ea typeface="Cambria" pitchFamily="34" charset="-122"/>
                <a:cs typeface="Cambria" pitchFamily="34" charset="-120"/>
              </a:rPr>
              <a:t>Cómo podemos colaborar</a:t>
            </a:r>
            <a:endParaRPr lang="en-US" sz="3200" dirty="0"/>
          </a:p>
        </p:txBody>
      </p:sp>
      <p:sp>
        <p:nvSpPr>
          <p:cNvPr id="6" name="Shape 3"/>
          <p:cNvSpPr/>
          <p:nvPr/>
        </p:nvSpPr>
        <p:spPr>
          <a:xfrm>
            <a:off x="640080" y="1874520"/>
            <a:ext cx="3429000" cy="2834640"/>
          </a:xfrm>
          <a:prstGeom prst="roundRect">
            <a:avLst>
              <a:gd name="adj" fmla="val 2581"/>
            </a:avLst>
          </a:prstGeom>
          <a:solidFill>
            <a:srgbClr val="F4F6F8"/>
          </a:solidFill>
          <a:ln/>
          <a:effectLst>
            <a:outerShdw sx="100000" sy="100000" kx="0" ky="0" algn="bl" rotWithShape="0" blurRad="101600" dist="38100" dir="2700000">
              <a:srgbClr val="000000">
                <a:alpha val="12000"/>
              </a:srgbClr>
            </a:outerShdw>
          </a:effectLst>
        </p:spPr>
      </p:sp>
      <p:sp>
        <p:nvSpPr>
          <p:cNvPr id="7" name="Shape 4"/>
          <p:cNvSpPr/>
          <p:nvPr/>
        </p:nvSpPr>
        <p:spPr>
          <a:xfrm>
            <a:off x="896112" y="2148840"/>
            <a:ext cx="594360" cy="594360"/>
          </a:xfrm>
          <a:prstGeom prst="ellipse">
            <a:avLst/>
          </a:prstGeom>
          <a:solidFill>
            <a:srgbClr val="1A5A96"/>
          </a:solidFill>
          <a:ln/>
        </p:spPr>
      </p:sp>
      <p:pic>
        <p:nvPicPr>
          <p:cNvPr id="8" name="Image 1" descr="/home/claude/deck/icons/coins.png">    </p:cNvPr>
          <p:cNvPicPr>
            <a:picLocks noChangeAspect="1"/>
          </p:cNvPicPr>
          <p:nvPr/>
        </p:nvPicPr>
        <p:blipFill>
          <a:blip r:embed="rId2"/>
          <a:stretch>
            <a:fillRect/>
          </a:stretch>
        </p:blipFill>
        <p:spPr>
          <a:xfrm>
            <a:off x="973379" y="2226107"/>
            <a:ext cx="439826" cy="439826"/>
          </a:xfrm>
          <a:prstGeom prst="rect">
            <a:avLst/>
          </a:prstGeom>
        </p:spPr>
      </p:pic>
      <p:sp>
        <p:nvSpPr>
          <p:cNvPr id="9" name="Text 5"/>
          <p:cNvSpPr/>
          <p:nvPr/>
        </p:nvSpPr>
        <p:spPr>
          <a:xfrm>
            <a:off x="896112" y="2880360"/>
            <a:ext cx="2926080" cy="640080"/>
          </a:xfrm>
          <a:prstGeom prst="rect">
            <a:avLst/>
          </a:prstGeom>
          <a:noFill/>
          <a:ln/>
        </p:spPr>
        <p:txBody>
          <a:bodyPr wrap="square" rtlCol="0" anchor="ctr"/>
          <a:lstStyle/>
          <a:p>
            <a:pPr indent="0" marL="0">
              <a:buNone/>
            </a:pPr>
            <a:r>
              <a:rPr lang="en-US" sz="1500" b="1" dirty="0">
                <a:solidFill>
                  <a:srgbClr val="1C2535"/>
                </a:solidFill>
              </a:rPr>
              <a:t>Evaluar el instrumento adecuado</a:t>
            </a:r>
            <a:endParaRPr lang="en-US" sz="1500" dirty="0"/>
          </a:p>
        </p:txBody>
      </p:sp>
      <p:sp>
        <p:nvSpPr>
          <p:cNvPr id="10" name="Text 6"/>
          <p:cNvSpPr/>
          <p:nvPr/>
        </p:nvSpPr>
        <p:spPr>
          <a:xfrm>
            <a:off x="896112" y="3520440"/>
            <a:ext cx="2971800" cy="1051560"/>
          </a:xfrm>
          <a:prstGeom prst="rect">
            <a:avLst/>
          </a:prstGeom>
          <a:noFill/>
          <a:ln/>
        </p:spPr>
        <p:txBody>
          <a:bodyPr wrap="square" rtlCol="0" anchor="ctr"/>
          <a:lstStyle/>
          <a:p>
            <a:pPr indent="0" marL="0">
              <a:buNone/>
            </a:pPr>
            <a:r>
              <a:rPr lang="en-US" sz="1200" dirty="0">
                <a:solidFill>
                  <a:srgbClr val="6B7280"/>
                </a:solidFill>
              </a:rPr>
              <a:t>Subvención a la innovación, préstamo participativo o ambos, según la fase del proyecto.</a:t>
            </a:r>
            <a:endParaRPr lang="en-US" sz="1200" dirty="0"/>
          </a:p>
        </p:txBody>
      </p:sp>
      <p:sp>
        <p:nvSpPr>
          <p:cNvPr id="11" name="Shape 7"/>
          <p:cNvSpPr/>
          <p:nvPr/>
        </p:nvSpPr>
        <p:spPr>
          <a:xfrm>
            <a:off x="4343400" y="1874520"/>
            <a:ext cx="3429000" cy="2834640"/>
          </a:xfrm>
          <a:prstGeom prst="roundRect">
            <a:avLst>
              <a:gd name="adj" fmla="val 2581"/>
            </a:avLst>
          </a:prstGeom>
          <a:solidFill>
            <a:srgbClr val="F4F6F8"/>
          </a:solidFill>
          <a:ln/>
          <a:effectLst>
            <a:outerShdw sx="100000" sy="100000" kx="0" ky="0" algn="bl" rotWithShape="0" blurRad="101600" dist="38100" dir="2700000">
              <a:srgbClr val="000000">
                <a:alpha val="12000"/>
              </a:srgbClr>
            </a:outerShdw>
          </a:effectLst>
        </p:spPr>
      </p:sp>
      <p:sp>
        <p:nvSpPr>
          <p:cNvPr id="12" name="Shape 8"/>
          <p:cNvSpPr/>
          <p:nvPr/>
        </p:nvSpPr>
        <p:spPr>
          <a:xfrm>
            <a:off x="4599432" y="2148840"/>
            <a:ext cx="594360" cy="594360"/>
          </a:xfrm>
          <a:prstGeom prst="ellipse">
            <a:avLst/>
          </a:prstGeom>
          <a:solidFill>
            <a:srgbClr val="1A5A96"/>
          </a:solidFill>
          <a:ln/>
        </p:spPr>
      </p:sp>
      <p:pic>
        <p:nvPicPr>
          <p:cNvPr id="13" name="Image 2" descr="/home/claude/deck/icons/network.png">    </p:cNvPr>
          <p:cNvPicPr>
            <a:picLocks noChangeAspect="1"/>
          </p:cNvPicPr>
          <p:nvPr/>
        </p:nvPicPr>
        <p:blipFill>
          <a:blip r:embed="rId3"/>
          <a:stretch>
            <a:fillRect/>
          </a:stretch>
        </p:blipFill>
        <p:spPr>
          <a:xfrm>
            <a:off x="4676699" y="2226107"/>
            <a:ext cx="439826" cy="439826"/>
          </a:xfrm>
          <a:prstGeom prst="rect">
            <a:avLst/>
          </a:prstGeom>
        </p:spPr>
      </p:pic>
      <p:sp>
        <p:nvSpPr>
          <p:cNvPr id="14" name="Text 9"/>
          <p:cNvSpPr/>
          <p:nvPr/>
        </p:nvSpPr>
        <p:spPr>
          <a:xfrm>
            <a:off x="4599432" y="2880360"/>
            <a:ext cx="2926080" cy="640080"/>
          </a:xfrm>
          <a:prstGeom prst="rect">
            <a:avLst/>
          </a:prstGeom>
          <a:noFill/>
          <a:ln/>
        </p:spPr>
        <p:txBody>
          <a:bodyPr wrap="square" rtlCol="0" anchor="ctr"/>
          <a:lstStyle/>
          <a:p>
            <a:pPr indent="0" marL="0">
              <a:buNone/>
            </a:pPr>
            <a:r>
              <a:rPr lang="en-US" sz="1500" b="1" dirty="0">
                <a:solidFill>
                  <a:srgbClr val="1C2535"/>
                </a:solidFill>
              </a:rPr>
              <a:t>Acceso a la red institucional</a:t>
            </a:r>
            <a:endParaRPr lang="en-US" sz="1500" dirty="0"/>
          </a:p>
        </p:txBody>
      </p:sp>
      <p:sp>
        <p:nvSpPr>
          <p:cNvPr id="15" name="Text 10"/>
          <p:cNvSpPr/>
          <p:nvPr/>
        </p:nvSpPr>
        <p:spPr>
          <a:xfrm>
            <a:off x="4599432" y="3520440"/>
            <a:ext cx="2971800" cy="1051560"/>
          </a:xfrm>
          <a:prstGeom prst="rect">
            <a:avLst/>
          </a:prstGeom>
          <a:noFill/>
          <a:ln/>
        </p:spPr>
        <p:txBody>
          <a:bodyPr wrap="square" rtlCol="0" anchor="ctr"/>
          <a:lstStyle/>
          <a:p>
            <a:pPr indent="0" marL="0">
              <a:buNone/>
            </a:pPr>
            <a:r>
              <a:rPr lang="en-US" sz="1200" dirty="0">
                <a:solidFill>
                  <a:srgbClr val="6B7280"/>
                </a:solidFill>
              </a:rPr>
              <a:t>Contacto con otras empresas tecnológicas y agentes del ecosistema de innovación regional.</a:t>
            </a:r>
            <a:endParaRPr lang="en-US" sz="1200" dirty="0"/>
          </a:p>
        </p:txBody>
      </p:sp>
      <p:sp>
        <p:nvSpPr>
          <p:cNvPr id="16" name="Shape 11"/>
          <p:cNvSpPr/>
          <p:nvPr/>
        </p:nvSpPr>
        <p:spPr>
          <a:xfrm>
            <a:off x="8046720" y="1874520"/>
            <a:ext cx="3429000" cy="2834640"/>
          </a:xfrm>
          <a:prstGeom prst="roundRect">
            <a:avLst>
              <a:gd name="adj" fmla="val 2581"/>
            </a:avLst>
          </a:prstGeom>
          <a:solidFill>
            <a:srgbClr val="F4F6F8"/>
          </a:solidFill>
          <a:ln/>
          <a:effectLst>
            <a:outerShdw sx="100000" sy="100000" kx="0" ky="0" algn="bl" rotWithShape="0" blurRad="101600" dist="38100" dir="2700000">
              <a:srgbClr val="000000">
                <a:alpha val="12000"/>
              </a:srgbClr>
            </a:outerShdw>
          </a:effectLst>
        </p:spPr>
      </p:sp>
      <p:sp>
        <p:nvSpPr>
          <p:cNvPr id="17" name="Shape 12"/>
          <p:cNvSpPr/>
          <p:nvPr/>
        </p:nvSpPr>
        <p:spPr>
          <a:xfrm>
            <a:off x="8302752" y="2148840"/>
            <a:ext cx="594360" cy="594360"/>
          </a:xfrm>
          <a:prstGeom prst="ellipse">
            <a:avLst/>
          </a:prstGeom>
          <a:solidFill>
            <a:srgbClr val="1A5A96"/>
          </a:solidFill>
          <a:ln/>
        </p:spPr>
      </p:sp>
      <p:pic>
        <p:nvPicPr>
          <p:cNvPr id="18" name="Image 3" descr="/home/claude/deck/icons/graduation.png">    </p:cNvPr>
          <p:cNvPicPr>
            <a:picLocks noChangeAspect="1"/>
          </p:cNvPicPr>
          <p:nvPr/>
        </p:nvPicPr>
        <p:blipFill>
          <a:blip r:embed="rId4"/>
          <a:stretch>
            <a:fillRect/>
          </a:stretch>
        </p:blipFill>
        <p:spPr>
          <a:xfrm>
            <a:off x="8380019" y="2226107"/>
            <a:ext cx="439826" cy="439826"/>
          </a:xfrm>
          <a:prstGeom prst="rect">
            <a:avLst/>
          </a:prstGeom>
        </p:spPr>
      </p:pic>
      <p:sp>
        <p:nvSpPr>
          <p:cNvPr id="19" name="Text 13"/>
          <p:cNvSpPr/>
          <p:nvPr/>
        </p:nvSpPr>
        <p:spPr>
          <a:xfrm>
            <a:off x="8302752" y="2880360"/>
            <a:ext cx="2926080" cy="640080"/>
          </a:xfrm>
          <a:prstGeom prst="rect">
            <a:avLst/>
          </a:prstGeom>
          <a:noFill/>
          <a:ln/>
        </p:spPr>
        <p:txBody>
          <a:bodyPr wrap="square" rtlCol="0" anchor="ctr"/>
          <a:lstStyle/>
          <a:p>
            <a:pPr indent="0" marL="0">
              <a:buNone/>
            </a:pPr>
            <a:r>
              <a:rPr lang="en-US" sz="1500" b="1" dirty="0">
                <a:solidFill>
                  <a:srgbClr val="1C2535"/>
                </a:solidFill>
              </a:rPr>
              <a:t>Acompañamiento en la instalación</a:t>
            </a:r>
            <a:endParaRPr lang="en-US" sz="1500" dirty="0"/>
          </a:p>
        </p:txBody>
      </p:sp>
      <p:sp>
        <p:nvSpPr>
          <p:cNvPr id="20" name="Text 14"/>
          <p:cNvSpPr/>
          <p:nvPr/>
        </p:nvSpPr>
        <p:spPr>
          <a:xfrm>
            <a:off x="8302752" y="3520440"/>
            <a:ext cx="2971800" cy="1051560"/>
          </a:xfrm>
          <a:prstGeom prst="rect">
            <a:avLst/>
          </a:prstGeom>
          <a:noFill/>
          <a:ln/>
        </p:spPr>
        <p:txBody>
          <a:bodyPr wrap="square" rtlCol="0" anchor="ctr"/>
          <a:lstStyle/>
          <a:p>
            <a:pPr indent="0" marL="0">
              <a:buNone/>
            </a:pPr>
            <a:r>
              <a:rPr lang="en-US" sz="1200" dirty="0">
                <a:solidFill>
                  <a:srgbClr val="6B7280"/>
                </a:solidFill>
              </a:rPr>
              <a:t>Orientación sobre talento, espacios y condiciones para establecer una base operativa en Cantabria.</a:t>
            </a:r>
            <a:endParaRPr lang="en-US" sz="1200" dirty="0"/>
          </a:p>
        </p:txBody>
      </p:sp>
      <p:sp>
        <p:nvSpPr>
          <p:cNvPr id="21" name="Text 15"/>
          <p:cNvSpPr/>
          <p:nvPr/>
        </p:nvSpPr>
        <p:spPr>
          <a:xfrm>
            <a:off x="640080" y="5029200"/>
            <a:ext cx="10881360" cy="457200"/>
          </a:xfrm>
          <a:prstGeom prst="rect">
            <a:avLst/>
          </a:prstGeom>
          <a:noFill/>
          <a:ln/>
        </p:spPr>
        <p:txBody>
          <a:bodyPr wrap="square" rtlCol="0" anchor="ctr"/>
          <a:lstStyle/>
          <a:p>
            <a:pPr indent="0" marL="0">
              <a:buNone/>
            </a:pPr>
            <a:r>
              <a:rPr lang="en-US" sz="1500" b="1" i="1" dirty="0">
                <a:solidFill>
                  <a:srgbClr val="1A5A96"/>
                </a:solidFill>
              </a:rPr>
              <a:t>Buscamos una relación a largo plazo, no una subvención puntual.</a:t>
            </a:r>
            <a:endParaRPr lang="en-US" sz="1500" dirty="0"/>
          </a:p>
        </p:txBody>
      </p:sp>
      <p:sp>
        <p:nvSpPr>
          <p:cNvPr id="22" name="Text 16"/>
          <p:cNvSpPr/>
          <p:nvPr/>
        </p:nvSpPr>
        <p:spPr>
          <a:xfrm>
            <a:off x="640080" y="6400800"/>
            <a:ext cx="1828800" cy="274320"/>
          </a:xfrm>
          <a:prstGeom prst="rect">
            <a:avLst/>
          </a:prstGeom>
          <a:noFill/>
          <a:ln/>
        </p:spPr>
        <p:txBody>
          <a:bodyPr wrap="square" rtlCol="0" anchor="ctr"/>
          <a:lstStyle/>
          <a:p>
            <a:pPr indent="0" marL="0">
              <a:buNone/>
            </a:pPr>
            <a:r>
              <a:rPr lang="en-US" sz="1100" b="1" dirty="0">
                <a:solidFill>
                  <a:srgbClr val="6B7280"/>
                </a:solidFill>
              </a:rPr>
              <a:t>TradeFlow</a:t>
            </a:r>
            <a:endParaRPr lang="en-US" sz="1100" dirty="0"/>
          </a:p>
        </p:txBody>
      </p:sp>
      <p:sp>
        <p:nvSpPr>
          <p:cNvPr id="23" name="Text 17"/>
          <p:cNvSpPr/>
          <p:nvPr/>
        </p:nvSpPr>
        <p:spPr>
          <a:xfrm>
            <a:off x="11548872" y="6400800"/>
            <a:ext cx="365760" cy="274320"/>
          </a:xfrm>
          <a:prstGeom prst="rect">
            <a:avLst/>
          </a:prstGeom>
          <a:noFill/>
          <a:ln/>
        </p:spPr>
        <p:txBody>
          <a:bodyPr wrap="square" rtlCol="0" anchor="ctr"/>
          <a:lstStyle/>
          <a:p>
            <a:pPr algn="r" indent="0" marL="0">
              <a:buNone/>
            </a:pPr>
            <a:r>
              <a:rPr lang="en-US" sz="1100" dirty="0">
                <a:solidFill>
                  <a:srgbClr val="6B7280"/>
                </a:solidFill>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C2535"/>
        </a:solidFill>
      </p:bgPr>
    </p:bg>
    <p:spTree>
      <p:nvGrpSpPr>
        <p:cNvPr id="1" name=""/>
        <p:cNvGrpSpPr/>
        <p:nvPr/>
      </p:nvGrpSpPr>
      <p:grpSpPr>
        <a:xfrm>
          <a:off x="0" y="0"/>
          <a:ext cx="0" cy="0"/>
          <a:chOff x="0" y="0"/>
          <a:chExt cx="0" cy="0"/>
        </a:xfrm>
      </p:grpSpPr>
      <p:sp>
        <p:nvSpPr>
          <p:cNvPr id="2" name="Text 0"/>
          <p:cNvSpPr/>
          <p:nvPr/>
        </p:nvSpPr>
        <p:spPr>
          <a:xfrm>
            <a:off x="822960" y="2103120"/>
            <a:ext cx="9144000" cy="118872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Gracias</a:t>
            </a:r>
            <a:endParaRPr lang="en-US" sz="6000" dirty="0"/>
          </a:p>
        </p:txBody>
      </p:sp>
      <p:sp>
        <p:nvSpPr>
          <p:cNvPr id="3" name="Text 1"/>
          <p:cNvSpPr/>
          <p:nvPr/>
        </p:nvSpPr>
        <p:spPr>
          <a:xfrm>
            <a:off x="822960" y="3246120"/>
            <a:ext cx="9601200" cy="640080"/>
          </a:xfrm>
          <a:prstGeom prst="rect">
            <a:avLst/>
          </a:prstGeom>
          <a:noFill/>
          <a:ln/>
        </p:spPr>
        <p:txBody>
          <a:bodyPr wrap="square" rtlCol="0" anchor="ctr"/>
          <a:lstStyle/>
          <a:p>
            <a:pPr indent="0" marL="0">
              <a:buNone/>
            </a:pPr>
            <a:r>
              <a:rPr lang="en-US" sz="2000" i="1" dirty="0">
                <a:solidFill>
                  <a:srgbClr val="CBD5E1"/>
                </a:solidFill>
              </a:rPr>
              <a:t>Construyamos juntos el sistema operativo del instalador autónomo.</a:t>
            </a:r>
            <a:endParaRPr lang="en-US" sz="2000" dirty="0"/>
          </a:p>
        </p:txBody>
      </p:sp>
      <p:sp>
        <p:nvSpPr>
          <p:cNvPr id="4" name="Shape 2"/>
          <p:cNvSpPr/>
          <p:nvPr/>
        </p:nvSpPr>
        <p:spPr>
          <a:xfrm>
            <a:off x="822960" y="4023360"/>
            <a:ext cx="2011680" cy="0"/>
          </a:xfrm>
          <a:prstGeom prst="line">
            <a:avLst/>
          </a:prstGeom>
          <a:noFill/>
          <a:ln w="31750">
            <a:solidFill>
              <a:srgbClr val="C8922A"/>
            </a:solidFill>
            <a:prstDash val="solid"/>
          </a:ln>
        </p:spPr>
      </p:sp>
      <p:sp>
        <p:nvSpPr>
          <p:cNvPr id="5" name="Text 3"/>
          <p:cNvSpPr/>
          <p:nvPr/>
        </p:nvSpPr>
        <p:spPr>
          <a:xfrm>
            <a:off x="822960" y="4480560"/>
            <a:ext cx="8229600" cy="1005840"/>
          </a:xfrm>
          <a:prstGeom prst="rect">
            <a:avLst/>
          </a:prstGeom>
          <a:noFill/>
          <a:ln/>
        </p:spPr>
        <p:txBody>
          <a:bodyPr wrap="square" rtlCol="0" anchor="ctr"/>
          <a:lstStyle/>
          <a:p>
            <a:pPr indent="0" marL="0">
              <a:buNone/>
            </a:pPr>
            <a:r>
              <a:rPr lang="en-US" sz="1400" b="1" dirty="0">
                <a:solidFill>
                  <a:srgbClr val="9AA5B1"/>
                </a:solidFill>
              </a:rPr>
              <a:t>Fernando Carbonell Cabo</a:t>
            </a:r>
            <a:endParaRPr lang="en-US" sz="1400" dirty="0"/>
          </a:p>
          <a:p>
            <a:pPr indent="0" marL="0">
              <a:buNone/>
            </a:pPr>
            <a:r>
              <a:rPr lang="en-US" sz="1400" dirty="0">
                <a:solidFill>
                  <a:srgbClr val="9AA5B1"/>
                </a:solidFill>
              </a:rPr>
              <a:t>Fundador y Administrador Único, TrabFlow Technologies, S.L.</a:t>
            </a:r>
            <a:endParaRPr lang="en-US" sz="1400" dirty="0"/>
          </a:p>
          <a:p>
            <a:pPr indent="0" marL="0">
              <a:buNone/>
            </a:pPr>
            <a:r>
              <a:rPr lang="en-US" sz="1400" dirty="0">
                <a:solidFill>
                  <a:srgbClr val="9AA5B1"/>
                </a:solidFill>
              </a:rPr>
              <a:t>fercarboc@gmail.com   ·   trabflow.com</a:t>
            </a:r>
            <a:endParaRPr lang="en-US" sz="1400" dirty="0"/>
          </a:p>
        </p:txBody>
      </p:sp>
      <p:sp>
        <p:nvSpPr>
          <p:cNvPr id="6" name="Shape 4"/>
          <p:cNvSpPr/>
          <p:nvPr/>
        </p:nvSpPr>
        <p:spPr>
          <a:xfrm>
            <a:off x="10241280" y="5212080"/>
            <a:ext cx="1005840" cy="1005840"/>
          </a:xfrm>
          <a:prstGeom prst="ellipse">
            <a:avLst/>
          </a:prstGeom>
          <a:solidFill>
            <a:srgbClr val="22304A"/>
          </a:solidFill>
          <a:ln/>
        </p:spPr>
      </p:sp>
      <p:pic>
        <p:nvPicPr>
          <p:cNvPr id="7" name="Image 0" descr="/home/claude/deck/icons/check.png">    </p:cNvPr>
          <p:cNvPicPr>
            <a:picLocks noChangeAspect="1"/>
          </p:cNvPicPr>
          <p:nvPr/>
        </p:nvPicPr>
        <p:blipFill>
          <a:blip r:embed="rId1"/>
          <a:stretch>
            <a:fillRect/>
          </a:stretch>
        </p:blipFill>
        <p:spPr>
          <a:xfrm>
            <a:off x="10372039" y="5342839"/>
            <a:ext cx="744322" cy="74432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TradeFlow — Presentación institucional SODERCAN</dc:title>
  <dc:subject>PptxGenJS Presentation</dc:subject>
  <dc:creator>TrabFlow Technologies, S.L.</dc:creator>
  <cp:lastModifiedBy>TrabFlow Technologies, S.L.</cp:lastModifiedBy>
  <cp:revision>1</cp:revision>
  <dcterms:created xsi:type="dcterms:W3CDTF">2026-07-06T21:36:59Z</dcterms:created>
  <dcterms:modified xsi:type="dcterms:W3CDTF">2026-07-06T21:36:59Z</dcterms:modified>
</cp:coreProperties>
</file>