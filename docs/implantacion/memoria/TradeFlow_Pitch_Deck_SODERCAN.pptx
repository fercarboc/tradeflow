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charts/chart13.xml" ContentType="application/vnd.openxmlformats-officedocument.drawingml.chart+xml"/>
  <Override PartName="/ppt/charts/chart14.xml" ContentType="application/vnd.openxmlformats-officedocument.drawingml.chart+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charts/chart13.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100" spc="-1" strike="noStrike">
                <a:solidFill>
                  <a:srgbClr val="6b7280"/>
                </a:solidFill>
                <a:latin typeface="Arial"/>
              </a:defRPr>
            </a:pPr>
            <a:r>
              <a:rPr b="0" sz="1100" spc="-1" strike="noStrike">
                <a:solidFill>
                  <a:srgbClr val="6b7280"/>
                </a:solidFill>
                <a:latin typeface="Arial"/>
              </a:rPr>
              <a:t>Miles de instaladores potenciales</a:t>
            </a:r>
          </a:p>
        </c:rich>
      </c:tx>
      <c:overlay val="0"/>
      <c:spPr>
        <a:noFill/>
        <a:ln w="0">
          <a:noFill/>
        </a:ln>
      </c:spPr>
    </c:title>
    <c:autoTitleDeleted val="0"/>
    <c:plotArea>
      <c:barChart>
        <c:barDir val="bar"/>
        <c:grouping val="clustered"/>
        <c:varyColors val="0"/>
        <c:ser>
          <c:idx val="0"/>
          <c:order val="0"/>
          <c:tx>
            <c:strRef>
              <c:f>label 0</c:f>
              <c:strCache>
                <c:ptCount val="1"/>
                <c:pt idx="0">
                  <c:v>Miles de instaladores</c:v>
                </c:pt>
              </c:strCache>
            </c:strRef>
          </c:tx>
          <c:spPr>
            <a:solidFill>
              <a:srgbClr val="1a5a96"/>
            </a:solidFill>
            <a:ln w="0">
              <a:noFill/>
            </a:ln>
          </c:spPr>
          <c:invertIfNegative val="0"/>
          <c:dLbls>
            <c:numFmt formatCode="#,##0" sourceLinked="0"/>
            <c:txPr>
              <a:bodyPr wrap="square"/>
              <a:lstStyle/>
              <a:p>
                <a:pPr>
                  <a:defRPr b="0" sz="1200" spc="-1" strike="noStrike">
                    <a:solidFill>
                      <a:srgbClr val="1c2535"/>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SAM
(España)</c:v>
                </c:pt>
                <c:pt idx="1">
                  <c:v>TAM
(España + LATAM)</c:v>
                </c:pt>
              </c:strCache>
            </c:strRef>
          </c:cat>
          <c:val>
            <c:numRef>
              <c:f>0</c:f>
              <c:numCache>
                <c:formatCode>General</c:formatCode>
                <c:ptCount val="2"/>
                <c:pt idx="0">
                  <c:v>650</c:v>
                </c:pt>
                <c:pt idx="1">
                  <c:v>2750</c:v>
                </c:pt>
              </c:numCache>
            </c:numRef>
          </c:val>
        </c:ser>
        <c:gapWidth val="150"/>
        <c:overlap val="0"/>
        <c:axId val="24165398"/>
        <c:axId val="1661925"/>
      </c:barChart>
      <c:catAx>
        <c:axId val="24165398"/>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b="0" sz="1200" spc="-1" strike="noStrike">
                <a:solidFill>
                  <a:srgbClr val="374151"/>
                </a:solidFill>
                <a:latin typeface="Arial"/>
              </a:defRPr>
            </a:pPr>
          </a:p>
        </c:txPr>
        <c:crossAx val="1661925"/>
        <c:crosses val="autoZero"/>
        <c:auto val="1"/>
        <c:lblAlgn val="ctr"/>
        <c:lblOffset val="100"/>
        <c:noMultiLvlLbl val="0"/>
      </c:catAx>
      <c:valAx>
        <c:axId val="1661925"/>
        <c:scaling>
          <c:orientation val="minMax"/>
        </c:scaling>
        <c:delete val="0"/>
        <c:axPos val="l"/>
        <c:majorGridlines>
          <c:spPr>
            <a:ln w="6480">
              <a:solidFill>
                <a:srgbClr val="e2e8f0"/>
              </a:solidFill>
              <a:round/>
            </a:ln>
          </c:spPr>
        </c:majorGridlines>
        <c:numFmt formatCode="General" sourceLinked="0"/>
        <c:majorTickMark val="out"/>
        <c:minorTickMark val="none"/>
        <c:tickLblPos val="low"/>
        <c:spPr>
          <a:ln w="12600">
            <a:solidFill>
              <a:srgbClr val="888888"/>
            </a:solidFill>
            <a:round/>
          </a:ln>
        </c:spPr>
        <c:txPr>
          <a:bodyPr/>
          <a:lstStyle/>
          <a:p>
            <a:pPr>
              <a:defRPr b="0" sz="1200" spc="-1" strike="noStrike">
                <a:solidFill>
                  <a:srgbClr val="6b7280"/>
                </a:solidFill>
                <a:latin typeface="Arial"/>
              </a:defRPr>
            </a:pPr>
          </a:p>
        </c:txPr>
        <c:crossAx val="24165398"/>
        <c:crosses val="autoZero"/>
        <c:crossBetween val="between"/>
      </c:valAx>
      <c:spPr>
        <a:noFill/>
        <a:ln w="0">
          <a:noFill/>
        </a:ln>
      </c:spPr>
    </c:plotArea>
    <c:plotVisOnly val="1"/>
    <c:dispBlanksAs val="span"/>
  </c:chart>
  <c:spPr>
    <a:solidFill>
      <a:srgbClr val="ffffff"/>
    </a:solidFill>
    <a:ln w="0">
      <a:noFill/>
    </a:ln>
  </c:spPr>
</c:chartSpace>
</file>

<file path=ppt/charts/chart14.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pieChart>
        <c:varyColors val="1"/>
        <c:ser>
          <c:idx val="0"/>
          <c:order val="0"/>
          <c:tx>
            <c:strRef>
              <c:f>label 0</c:f>
              <c:strCache>
                <c:ptCount val="1"/>
                <c:pt idx="0">
                  <c:v>Uso de capital</c:v>
                </c:pt>
              </c:strCache>
            </c:strRef>
          </c:tx>
          <c:spPr>
            <a:solidFill>
              <a:srgbClr val="4472c4"/>
            </a:solidFill>
            <a:ln w="9360">
              <a:solidFill>
                <a:srgbClr val="f9f9f9"/>
              </a:solidFill>
              <a:round/>
            </a:ln>
          </c:spPr>
          <c:explosion val="0"/>
          <c:dPt>
            <c:idx val="0"/>
            <c:spPr>
              <a:solidFill>
                <a:srgbClr val="1a5a96"/>
              </a:solidFill>
              <a:ln w="0">
                <a:noFill/>
              </a:ln>
            </c:spPr>
          </c:dPt>
          <c:dPt>
            <c:idx val="1"/>
            <c:spPr>
              <a:solidFill>
                <a:srgbClr val="4a6741"/>
              </a:solidFill>
              <a:ln w="0">
                <a:noFill/>
              </a:ln>
            </c:spPr>
          </c:dPt>
          <c:dPt>
            <c:idx val="2"/>
            <c:spPr>
              <a:solidFill>
                <a:srgbClr val="c8922a"/>
              </a:solidFill>
              <a:ln w="0">
                <a:noFill/>
              </a:ln>
            </c:spPr>
          </c:dPt>
          <c:dPt>
            <c:idx val="3"/>
            <c:spPr>
              <a:solidFill>
                <a:srgbClr val="b84e35"/>
              </a:solidFill>
              <a:ln w="0">
                <a:noFill/>
              </a:ln>
            </c:spPr>
          </c:dPt>
          <c:dLbls>
            <c:numFmt formatCode="0%" sourceLinked="0"/>
            <c:dLbl>
              <c:idx val="0"/>
              <c:numFmt formatCode="0%" sourceLinked="0"/>
              <c:txPr>
                <a:bodyPr wrap="square"/>
                <a:lstStyle/>
                <a:p>
                  <a:pPr>
                    <a:defRPr b="0" sz="1200" spc="-1" strike="noStrike">
                      <a:solidFill>
                        <a:srgbClr val="ffffff"/>
                      </a:solidFill>
                      <a:latin typeface="Arial"/>
                    </a:defRPr>
                  </a:pPr>
                </a:p>
              </c:txPr>
              <c:dLblPos val="ctr"/>
              <c:showLegendKey val="0"/>
              <c:showVal val="0"/>
              <c:showCatName val="0"/>
              <c:showSerName val="0"/>
              <c:showPercent val="1"/>
              <c:separator>
</c:separator>
            </c:dLbl>
            <c:dLbl>
              <c:idx val="1"/>
              <c:numFmt formatCode="0%" sourceLinked="0"/>
              <c:txPr>
                <a:bodyPr wrap="square"/>
                <a:lstStyle/>
                <a:p>
                  <a:pPr>
                    <a:defRPr b="0" sz="1200" spc="-1" strike="noStrike">
                      <a:solidFill>
                        <a:srgbClr val="ffffff"/>
                      </a:solidFill>
                      <a:latin typeface="Arial"/>
                    </a:defRPr>
                  </a:pPr>
                </a:p>
              </c:txPr>
              <c:dLblPos val="ctr"/>
              <c:showLegendKey val="0"/>
              <c:showVal val="0"/>
              <c:showCatName val="0"/>
              <c:showSerName val="0"/>
              <c:showPercent val="1"/>
              <c:separator>
</c:separator>
            </c:dLbl>
            <c:dLbl>
              <c:idx val="2"/>
              <c:numFmt formatCode="0%" sourceLinked="0"/>
              <c:txPr>
                <a:bodyPr wrap="square"/>
                <a:lstStyle/>
                <a:p>
                  <a:pPr>
                    <a:defRPr b="0" sz="1200" spc="-1" strike="noStrike">
                      <a:solidFill>
                        <a:srgbClr val="ffffff"/>
                      </a:solidFill>
                      <a:latin typeface="Arial"/>
                    </a:defRPr>
                  </a:pPr>
                </a:p>
              </c:txPr>
              <c:dLblPos val="ctr"/>
              <c:showLegendKey val="0"/>
              <c:showVal val="0"/>
              <c:showCatName val="0"/>
              <c:showSerName val="0"/>
              <c:showPercent val="1"/>
              <c:separator>
</c:separator>
            </c:dLbl>
            <c:dLbl>
              <c:idx val="3"/>
              <c:numFmt formatCode="0%" sourceLinked="0"/>
              <c:txPr>
                <a:bodyPr wrap="square"/>
                <a:lstStyle/>
                <a:p>
                  <a:pPr>
                    <a:defRPr b="0" sz="1200" spc="-1" strike="noStrike">
                      <a:solidFill>
                        <a:srgbClr val="ffffff"/>
                      </a:solidFill>
                      <a:latin typeface="Arial"/>
                    </a:defRPr>
                  </a:pPr>
                </a:p>
              </c:txPr>
              <c:dLblPos val="ctr"/>
              <c:showLegendKey val="0"/>
              <c:showVal val="0"/>
              <c:showCatName val="0"/>
              <c:showSerName val="0"/>
              <c:showPercent val="1"/>
              <c:separator>
</c:separator>
            </c:dLbl>
            <c:txPr>
              <a:bodyPr wrap="square"/>
              <a:lstStyle/>
              <a:p>
                <a:pPr>
                  <a:defRPr b="0" sz="1800" spc="-1" strike="noStrike">
                    <a:solidFill>
                      <a:srgbClr val="000000"/>
                    </a:solidFill>
                    <a:latin typeface="Arial"/>
                  </a:defRPr>
                </a:pPr>
              </a:p>
            </c:txPr>
            <c:dLblPos val="ctr"/>
            <c:showLegendKey val="0"/>
            <c:showVal val="0"/>
            <c:showCatName val="1"/>
            <c:showSerName val="0"/>
            <c:showPercent val="1"/>
            <c:separator>
</c:separator>
            <c:showLeaderLines val="0"/>
          </c:dLbls>
          <c:cat>
            <c:strRef>
              <c:f>categories</c:f>
              <c:strCache>
                <c:ptCount val="4"/>
                <c:pt idx="0">
                  <c:v>Desarrollo tecnológico</c:v>
                </c:pt>
                <c:pt idx="1">
                  <c:v>IA y datos</c:v>
                </c:pt>
                <c:pt idx="2">
                  <c:v>Comercialización</c:v>
                </c:pt>
                <c:pt idx="3">
                  <c:v>Contrataciones</c:v>
                </c:pt>
              </c:strCache>
            </c:strRef>
          </c:cat>
          <c:val>
            <c:numRef>
              <c:f>0</c:f>
              <c:numCache>
                <c:formatCode>General</c:formatCode>
                <c:ptCount val="4"/>
                <c:pt idx="0">
                  <c:v>40</c:v>
                </c:pt>
                <c:pt idx="1">
                  <c:v>20</c:v>
                </c:pt>
                <c:pt idx="2">
                  <c:v>20</c:v>
                </c:pt>
                <c:pt idx="3">
                  <c:v>20</c:v>
                </c:pt>
              </c:numCache>
            </c:numRef>
          </c:val>
        </c:ser>
        <c:firstSliceAng val="0"/>
      </c:pieChart>
      <c:spPr>
        <a:noFill/>
        <a:ln w="0">
          <a:noFill/>
        </a:ln>
      </c:spPr>
    </c:plotArea>
    <c:legend>
      <c:legendPos val="b"/>
      <c:overlay val="0"/>
      <c:spPr>
        <a:noFill/>
        <a:ln w="0">
          <a:noFill/>
        </a:ln>
      </c:spPr>
      <c:txPr>
        <a:bodyPr/>
        <a:lstStyle/>
        <a:p>
          <a:pPr>
            <a:defRPr b="0" sz="1100" spc="-1" strike="noStrike">
              <a:solidFill>
                <a:srgbClr val="374151"/>
              </a:solidFill>
              <a:latin typeface="Calibri"/>
            </a:defRPr>
          </a:pPr>
        </a:p>
      </c:txPr>
    </c:legend>
    <c:plotVisOnly val="1"/>
    <c:dispBlanksAs val="span"/>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ES" sz="1800" spc="-1" strike="noStrike">
                <a:solidFill>
                  <a:srgbClr val="000000"/>
                </a:solidFill>
                <a:latin typeface="Calibri"/>
              </a:rPr>
              <a:t>Pulse para desplazar la diapositiva</a:t>
            </a:r>
            <a:endParaRPr b="0" lang="es-ES"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E856778B-F8AE-4348-8260-5AD4B186899F}"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685800" y="1143000"/>
            <a:ext cx="5486040" cy="3085920"/>
          </a:xfrm>
          <a:prstGeom prst="rect">
            <a:avLst/>
          </a:prstGeom>
          <a:ln w="0">
            <a:noFill/>
          </a:ln>
        </p:spPr>
      </p:sp>
      <p:sp>
        <p:nvSpPr>
          <p:cNvPr id="36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dar la bienvenida y anclar el tono institucional del encuentro. MENSAJE CLAVE: Trabflow es un proyecto serio, con producto y visión, no una idea en papel. Presentaros brevemente y agradecer el tiempo de SODERCAN antes de arrancar.</a:t>
            </a:r>
            <a:endParaRPr b="0" lang="es-ES" sz="2000" spc="-1" strike="noStrike">
              <a:solidFill>
                <a:srgbClr val="000000"/>
              </a:solidFill>
              <a:latin typeface="Arial"/>
            </a:endParaRPr>
          </a:p>
        </p:txBody>
      </p:sp>
      <p:sp>
        <p:nvSpPr>
          <p:cNvPr id="361"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3FF64A9C-2618-4D2C-924F-6574A90379B8}"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685800" y="1143000"/>
            <a:ext cx="5486040" cy="3085920"/>
          </a:xfrm>
          <a:prstGeom prst="rect">
            <a:avLst/>
          </a:prstGeom>
          <a:ln w="0">
            <a:noFill/>
          </a:ln>
        </p:spPr>
      </p:sp>
      <p:sp>
        <p:nvSpPr>
          <p:cNvPr id="36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explicar el porqué del proyecto antes que el qué. MENSAJE CLAVE: la tecnología está al servicio de un colectivo concreto, el instalador autónomo, que hoy trabaja como una microempresa sin herramientas de una gran empresa. Enlazar con los tres valores del proyecto.</a:t>
            </a:r>
            <a:endParaRPr b="0" lang="es-ES" sz="2000" spc="-1" strike="noStrike">
              <a:solidFill>
                <a:srgbClr val="000000"/>
              </a:solidFill>
              <a:latin typeface="Arial"/>
            </a:endParaRPr>
          </a:p>
        </p:txBody>
      </p:sp>
      <p:sp>
        <p:nvSpPr>
          <p:cNvPr id="364"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C64F81BD-C0D4-473C-819B-92FA6500C6B8}"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685800" y="1143000"/>
            <a:ext cx="5486040" cy="3085920"/>
          </a:xfrm>
          <a:prstGeom prst="rect">
            <a:avLst/>
          </a:prstGeom>
          <a:ln w="0">
            <a:noFill/>
          </a:ln>
        </p:spPr>
      </p:sp>
      <p:sp>
        <p:nvSpPr>
          <p:cNvPr id="36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mostrar que el problema es real, medible y no anecdótico. MENSAJE CLAVE: no se trata de una molestia menor sino de una ineficiencia estructural con fecha límite normativa (VeriFactu 2027). Si preguntan por fuentes, explicar que provienen del análisis de necesidades y entrevistas directas con instaladores.</a:t>
            </a:r>
            <a:endParaRPr b="0" lang="es-ES" sz="2000" spc="-1" strike="noStrike">
              <a:solidFill>
                <a:srgbClr val="000000"/>
              </a:solidFill>
              <a:latin typeface="Arial"/>
            </a:endParaRPr>
          </a:p>
        </p:txBody>
      </p:sp>
      <p:sp>
        <p:nvSpPr>
          <p:cNvPr id="367"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9D08D113-4E7B-412E-AECE-1EE3211A05AB}"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685800" y="1143000"/>
            <a:ext cx="5486040" cy="3085920"/>
          </a:xfrm>
          <a:prstGeom prst="rect">
            <a:avLst/>
          </a:prstGeom>
          <a:ln w="0">
            <a:noFill/>
          </a:ln>
        </p:spPr>
      </p:sp>
      <p:sp>
        <p:nvSpPr>
          <p:cNvPr id="36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justificar por qué ahora y no antes. MENSAJE CLAVE: tres factores convergen simultáneamente (normativa, madurez de IA, ausencia de competidor dominante en español) y crean una ventana de first-mover. Cerrar con el dato de mercado servible (480M€) como ancla numérica.</a:t>
            </a:r>
            <a:endParaRPr b="0" lang="es-ES" sz="2000" spc="-1" strike="noStrike">
              <a:solidFill>
                <a:srgbClr val="000000"/>
              </a:solidFill>
              <a:latin typeface="Arial"/>
            </a:endParaRPr>
          </a:p>
        </p:txBody>
      </p:sp>
      <p:sp>
        <p:nvSpPr>
          <p:cNvPr id="370"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42280053-C2EB-4F90-A566-63DC0F05B47A}"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685800" y="1143000"/>
            <a:ext cx="5486040" cy="3085920"/>
          </a:xfrm>
          <a:prstGeom prst="rect">
            <a:avLst/>
          </a:prstGeom>
          <a:ln w="0">
            <a:noFill/>
          </a:ln>
        </p:spPr>
      </p:sp>
      <p:sp>
        <p:nvSpPr>
          <p:cNvPr id="37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explicar el producto de forma tangible y visual, sin jerga técnica. MENSAJE CLAVE: la experiencia de usuario es radicalmente simple aunque la tecnología detrás sea sofisticada. Si es posible, ofrecer una demo corta o mostrar capturas de pantalla reales del producto.</a:t>
            </a:r>
            <a:endParaRPr b="0" lang="es-ES" sz="2000" spc="-1" strike="noStrike">
              <a:solidFill>
                <a:srgbClr val="000000"/>
              </a:solidFill>
              <a:latin typeface="Arial"/>
            </a:endParaRPr>
          </a:p>
        </p:txBody>
      </p:sp>
      <p:sp>
        <p:nvSpPr>
          <p:cNvPr id="373"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20DFBC76-A5DA-40F4-907A-9349BCAED371}"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685800" y="1143000"/>
            <a:ext cx="5486040" cy="3085920"/>
          </a:xfrm>
          <a:prstGeom prst="rect">
            <a:avLst/>
          </a:prstGeom>
          <a:ln w="0">
            <a:noFill/>
          </a:ln>
        </p:spPr>
      </p:sp>
      <p:sp>
        <p:nvSpPr>
          <p:cNvPr id="37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dar solvencia técnica sin caer en tecnicismo excesivo. MENSAJE CLAVE: arquitectura moderna, escalable y de bajo coste marginal. Si preguntan por proveedores de IA, ser transparente: se usan modelos de terceros (Anthropic) de forma responsable y gobernada, no un desarrollo de modelo propio desde cero.</a:t>
            </a:r>
            <a:endParaRPr b="0" lang="es-ES" sz="2000" spc="-1" strike="noStrike">
              <a:solidFill>
                <a:srgbClr val="000000"/>
              </a:solidFill>
              <a:latin typeface="Arial"/>
            </a:endParaRPr>
          </a:p>
        </p:txBody>
      </p:sp>
      <p:sp>
        <p:nvSpPr>
          <p:cNvPr id="376"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BD3651D0-EA96-489C-A894-C75020C2A15E}"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685800" y="1143000"/>
            <a:ext cx="5486040" cy="3085920"/>
          </a:xfrm>
          <a:prstGeom prst="rect">
            <a:avLst/>
          </a:prstGeom>
          <a:ln w="0">
            <a:noFill/>
          </a:ln>
        </p:spPr>
      </p:sp>
      <p:sp>
        <p:nvSpPr>
          <p:cNvPr id="37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diferenciar Trabflow de un simple 'wrapper' de ChatGPT. MENSAJE CLAVE: el valor no es la IA en sí, es el gobierno de la IA (nunca inventa un precio) combinado con una base de conocimiento de dominio propia. Citar el dato de precisión (93%) como prueba de rigor.</a:t>
            </a:r>
            <a:endParaRPr b="0" lang="es-ES" sz="2000" spc="-1" strike="noStrike">
              <a:solidFill>
                <a:srgbClr val="000000"/>
              </a:solidFill>
              <a:latin typeface="Arial"/>
            </a:endParaRPr>
          </a:p>
        </p:txBody>
      </p:sp>
      <p:sp>
        <p:nvSpPr>
          <p:cNvPr id="379"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FF293680-A20D-4D8F-A622-AD0291C55F49}"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685800" y="1143000"/>
            <a:ext cx="5486040" cy="3085920"/>
          </a:xfrm>
          <a:prstGeom prst="rect">
            <a:avLst/>
          </a:prstGeom>
          <a:ln w="0">
            <a:noFill/>
          </a:ln>
        </p:spPr>
      </p:sp>
      <p:sp>
        <p:nvSpPr>
          <p:cNvPr id="38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dimensionar la oportunidad con cifras defendibles. MENSAJE CLAVE: TAM amplio pero SOM conservador y realista a 3 años; transmite ambición sin exagerar. Aclarar que las cifras de SOM proceden de un modelo financiero reconciliado por escenarios, no de una proyección optimista aislada.</a:t>
            </a:r>
            <a:endParaRPr b="0" lang="es-ES" sz="2000" spc="-1" strike="noStrike">
              <a:solidFill>
                <a:srgbClr val="000000"/>
              </a:solidFill>
              <a:latin typeface="Arial"/>
            </a:endParaRPr>
          </a:p>
        </p:txBody>
      </p:sp>
      <p:sp>
        <p:nvSpPr>
          <p:cNvPr id="382"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968C7488-894E-4045-BA8E-645ADC66A241}"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685800" y="1143000"/>
            <a:ext cx="5486040" cy="3085920"/>
          </a:xfrm>
          <a:prstGeom prst="rect">
            <a:avLst/>
          </a:prstGeom>
          <a:ln w="0">
            <a:noFill/>
          </a:ln>
        </p:spPr>
      </p:sp>
      <p:sp>
        <p:nvSpPr>
          <p:cNvPr id="38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mostrar que hay un modelo de ingresos claro y ya definido, no solo una visión. MENSAJE CLAVE: ingresos recurrentes, márgenes altos, y varias palancas de expansión futuras. Si preguntan por el precio, explicar que está validado con el perfil de gasto tecnológico del instalador autónomo.</a:t>
            </a:r>
            <a:endParaRPr b="0" lang="es-ES" sz="2000" spc="-1" strike="noStrike">
              <a:solidFill>
                <a:srgbClr val="000000"/>
              </a:solidFill>
              <a:latin typeface="Arial"/>
            </a:endParaRPr>
          </a:p>
        </p:txBody>
      </p:sp>
      <p:sp>
        <p:nvSpPr>
          <p:cNvPr id="385"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FE242493-DF46-439B-BC00-F11202584040}"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685800" y="1143000"/>
            <a:ext cx="5486040" cy="3085920"/>
          </a:xfrm>
          <a:prstGeom prst="rect">
            <a:avLst/>
          </a:prstGeom>
          <a:ln w="0">
            <a:noFill/>
          </a:ln>
        </p:spPr>
      </p:sp>
      <p:sp>
        <p:nvSpPr>
          <p:cNvPr id="38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transmitir que el crecimiento está planificado por fases, no es un salto al vacío. MENSAJE CLAVE: cada fase tiene un hito de validación que condiciona el paso a la siguiente; esto es gestión de riesgo, no improvisación. El North Star (tiempo al primer presupuesto) es un buen gancho para preguntas de producto.</a:t>
            </a:r>
            <a:endParaRPr b="0" lang="es-ES" sz="2000" spc="-1" strike="noStrike">
              <a:solidFill>
                <a:srgbClr val="000000"/>
              </a:solidFill>
              <a:latin typeface="Arial"/>
            </a:endParaRPr>
          </a:p>
        </p:txBody>
      </p:sp>
      <p:sp>
        <p:nvSpPr>
          <p:cNvPr id="388"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68191593-8285-4EE5-9EBB-5F41B82F86F9}"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685800" y="1143000"/>
            <a:ext cx="5486040" cy="3085920"/>
          </a:xfrm>
          <a:prstGeom prst="rect">
            <a:avLst/>
          </a:prstGeom>
          <a:ln w="0">
            <a:noFill/>
          </a:ln>
        </p:spPr>
      </p:sp>
      <p:sp>
        <p:nvSpPr>
          <p:cNvPr id="39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conectar el proyecto con las prioridades de una agencia de desarrollo regional. MENSAJE CLAVE: empleo cualificado, digitalización de pymes, proyección exterior e innovación aplicada — los cuatro ejes que interesan a SODERCAN. No sobredimensionar las cifras de empleo; son conservadoras y defendibles.</a:t>
            </a:r>
            <a:endParaRPr b="0" lang="es-ES" sz="2000" spc="-1" strike="noStrike">
              <a:solidFill>
                <a:srgbClr val="000000"/>
              </a:solidFill>
              <a:latin typeface="Arial"/>
            </a:endParaRPr>
          </a:p>
        </p:txBody>
      </p:sp>
      <p:sp>
        <p:nvSpPr>
          <p:cNvPr id="391"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120A0C67-959D-46E0-89AB-178A63A70FE4}"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685800" y="1143000"/>
            <a:ext cx="5486040" cy="3085920"/>
          </a:xfrm>
          <a:prstGeom prst="rect">
            <a:avLst/>
          </a:prstGeom>
          <a:ln w="0">
            <a:noFill/>
          </a:ln>
        </p:spPr>
      </p:sp>
      <p:sp>
        <p:nvSpPr>
          <p:cNvPr id="39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ser transparente sobre la necesidad de financiación sin sonar a petición desesperada. MENSAJE CLAVE: se pide capital para ejecutar un plan ya definido, con partidas claras, no para 'sobrevivir'. Mencionar que esta financiación es complementaria a otras líneas ya identificadas (ENISA, Kit Digital).</a:t>
            </a:r>
            <a:endParaRPr b="0" lang="es-ES" sz="2000" spc="-1" strike="noStrike">
              <a:solidFill>
                <a:srgbClr val="000000"/>
              </a:solidFill>
              <a:latin typeface="Arial"/>
            </a:endParaRPr>
          </a:p>
        </p:txBody>
      </p:sp>
      <p:sp>
        <p:nvSpPr>
          <p:cNvPr id="394"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5FFD0F2E-8607-46D0-9E0F-4AF97483370B}"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685800" y="1143000"/>
            <a:ext cx="5486040" cy="3085920"/>
          </a:xfrm>
          <a:prstGeom prst="rect">
            <a:avLst/>
          </a:prstGeom>
          <a:ln w="0">
            <a:noFill/>
          </a:ln>
        </p:spPr>
      </p:sp>
      <p:sp>
        <p:nvSpPr>
          <p:cNvPr id="39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ser honesto sobre el estado de la relación con Cantabria. MENSAJE CLAVE: hoy no hay una sede ni un vínculo formal en la región — esto es una propuesta de inicio de relación, no un hecho consumado. Evitar cualquier afirmación que suene a que el proyecto ya opera en Cantabria; si preguntan por sede actual, decir con naturalidad que está domiciliado en Madrid y que se explora activamente el traslado o apertura de una base operativa en la región.</a:t>
            </a:r>
            <a:endParaRPr b="0" lang="es-ES" sz="2000" spc="-1" strike="noStrike">
              <a:solidFill>
                <a:srgbClr val="000000"/>
              </a:solidFill>
              <a:latin typeface="Arial"/>
            </a:endParaRPr>
          </a:p>
        </p:txBody>
      </p:sp>
      <p:sp>
        <p:nvSpPr>
          <p:cNvPr id="397"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21F41836-0FC6-4208-B558-F8AFAD16319E}"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685800" y="1143000"/>
            <a:ext cx="5486040" cy="3085920"/>
          </a:xfrm>
          <a:prstGeom prst="rect">
            <a:avLst/>
          </a:prstGeom>
          <a:ln w="0">
            <a:noFill/>
          </a:ln>
        </p:spPr>
      </p:sp>
      <p:sp>
        <p:nvSpPr>
          <p:cNvPr id="39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dejar claro qué se espera concretamente de SODERCAN en esta primera reunión. MENSAJE CLAVE: no se pide una resolución hoy, se pide orientación sobre el instrumento adecuado y una relación de acompañamiento a medio plazo. Cerrar con una pregunta abierta a los técnicos: '¿qué programa de los que gestionáis encaja mejor con la fase actual del proyecto?'</a:t>
            </a:r>
            <a:endParaRPr b="0" lang="es-ES" sz="2000" spc="-1" strike="noStrike">
              <a:solidFill>
                <a:srgbClr val="000000"/>
              </a:solidFill>
              <a:latin typeface="Arial"/>
            </a:endParaRPr>
          </a:p>
        </p:txBody>
      </p:sp>
      <p:sp>
        <p:nvSpPr>
          <p:cNvPr id="400"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2744E95C-DCEC-4550-9E04-E673EE14B946}"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685800" y="1143000"/>
            <a:ext cx="5486040" cy="3085920"/>
          </a:xfrm>
          <a:prstGeom prst="rect">
            <a:avLst/>
          </a:prstGeom>
          <a:ln w="0">
            <a:noFill/>
          </a:ln>
        </p:spPr>
      </p:sp>
      <p:sp>
        <p:nvSpPr>
          <p:cNvPr id="40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0">
              <a:lnSpc>
                <a:spcPct val="100000"/>
              </a:lnSpc>
              <a:buNone/>
            </a:pPr>
            <a:r>
              <a:rPr b="0" lang="en-US" sz="2000" spc="-1" strike="noStrike">
                <a:solidFill>
                  <a:srgbClr val="000000"/>
                </a:solidFill>
                <a:latin typeface="Arial"/>
              </a:rPr>
              <a:t>OBJETIVO: cerrar con calidez institucional y dejar una vía de contacto clara. MENSAJE CLAVE: gratitud, disposición a seguir la conversación, y una imagen de proyecto serio y con visión de largo plazo. Ofrecer explícitamente enviar el dossier ejecutivo y el modelo financiero si los técnicos quieren profundizar por escrito.</a:t>
            </a:r>
            <a:endParaRPr b="0" lang="es-ES" sz="2000" spc="-1" strike="noStrike">
              <a:solidFill>
                <a:srgbClr val="000000"/>
              </a:solidFill>
              <a:latin typeface="Arial"/>
            </a:endParaRPr>
          </a:p>
        </p:txBody>
      </p:sp>
      <p:sp>
        <p:nvSpPr>
          <p:cNvPr id="403"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indent="0" algn="r">
              <a:lnSpc>
                <a:spcPct val="100000"/>
              </a:lnSpc>
              <a:buNone/>
              <a:defRPr b="0" lang="en-US" sz="1200" spc="-1" strike="noStrike">
                <a:solidFill>
                  <a:srgbClr val="000000"/>
                </a:solidFill>
                <a:latin typeface="+mn-lt"/>
                <a:ea typeface="+mn-ea"/>
              </a:defRPr>
            </a:lvl1pPr>
          </a:lstStyle>
          <a:p>
            <a:pPr indent="0" algn="r">
              <a:lnSpc>
                <a:spcPct val="100000"/>
              </a:lnSpc>
              <a:buNone/>
            </a:pPr>
            <a:fld id="{4FBC56A2-C0A7-4BDE-835F-BD768B6F5EF0}" type="slidenum">
              <a:rPr b="0" lang="en-U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s-ES" sz="1800" spc="-1" strike="noStrike">
              <a:solidFill>
                <a:srgbClr val="000000"/>
              </a:solidFill>
              <a:latin typeface="Calibri"/>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s-ES" sz="1800" spc="-1" strike="noStrike">
                <a:solidFill>
                  <a:srgbClr val="000000"/>
                </a:solidFill>
                <a:latin typeface="Calibri"/>
              </a:rPr>
              <a:t>Pulse para editar el formato del texto de título</a:t>
            </a:r>
            <a:endParaRPr b="0" lang="es-ES" sz="1800" spc="-1" strike="noStrike">
              <a:solidFill>
                <a:srgbClr val="000000"/>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Calibri"/>
              </a:rPr>
              <a:t>Pulse para editar el formato de texto del esquema</a:t>
            </a:r>
            <a:endParaRPr b="0" lang="es-E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s-ES" sz="2400" spc="-1" strike="noStrike">
                <a:solidFill>
                  <a:srgbClr val="000000"/>
                </a:solidFill>
                <a:latin typeface="Calibri"/>
              </a:rPr>
              <a:t>Segundo nivel del esquema</a:t>
            </a:r>
            <a:endParaRPr b="0" lang="es-E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s-ES" sz="2000" spc="-1" strike="noStrike">
                <a:solidFill>
                  <a:srgbClr val="000000"/>
                </a:solidFill>
                <a:latin typeface="Calibri"/>
              </a:rPr>
              <a:t>Tercer nivel del esquema</a:t>
            </a:r>
            <a:endParaRPr b="0" lang="es-E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Calibri"/>
              </a:rPr>
              <a:t>Cuarto nivel del esquema</a:t>
            </a:r>
            <a:endParaRPr b="0" lang="es-E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Calibri"/>
              </a:rPr>
              <a:t>Quinto nivel del esquema</a:t>
            </a:r>
            <a:endParaRPr b="0" lang="es-E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Calibri"/>
              </a:rPr>
              <a:t>Sexto nivel del esquema</a:t>
            </a:r>
            <a:endParaRPr b="0" lang="es-E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Calibri"/>
              </a:rPr>
              <a:t>Séptimo nivel del esquema</a:t>
            </a:r>
            <a:endParaRPr b="0" lang="es-E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chart" Target="../charts/chart13.xml"/><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chart" Target="../charts/chart14.xml"/><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image" Target="../media/image35.png"/><Relationship Id="rId5" Type="http://schemas.openxmlformats.org/officeDocument/2006/relationships/slideLayout" Target="../slideLayouts/slideLayout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2535"/>
        </a:solidFill>
      </p:bgPr>
    </p:bg>
    <p:spTree>
      <p:nvGrpSpPr>
        <p:cNvPr id="1" name=""/>
        <p:cNvGrpSpPr/>
        <p:nvPr/>
      </p:nvGrpSpPr>
      <p:grpSpPr>
        <a:xfrm>
          <a:off x="0" y="0"/>
          <a:ext cx="0" cy="0"/>
          <a:chOff x="0" y="0"/>
          <a:chExt cx="0" cy="0"/>
        </a:xfrm>
      </p:grpSpPr>
      <p:sp>
        <p:nvSpPr>
          <p:cNvPr id="44" name="Text 0"/>
          <p:cNvSpPr/>
          <p:nvPr/>
        </p:nvSpPr>
        <p:spPr>
          <a:xfrm>
            <a:off x="822960" y="1554480"/>
            <a:ext cx="91436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99" strike="noStrike">
                <a:solidFill>
                  <a:srgbClr val="c8922a"/>
                </a:solidFill>
                <a:latin typeface="Calibri"/>
              </a:rPr>
              <a:t>PRESENTACIÓN INSTITUCIONAL · SODERCAN</a:t>
            </a:r>
            <a:endParaRPr b="0" lang="es-ES" sz="1400" spc="-1" strike="noStrike">
              <a:solidFill>
                <a:srgbClr val="ffffff"/>
              </a:solidFill>
              <a:latin typeface="Arial"/>
            </a:endParaRPr>
          </a:p>
        </p:txBody>
      </p:sp>
      <p:sp>
        <p:nvSpPr>
          <p:cNvPr id="45" name="Text 1"/>
          <p:cNvSpPr/>
          <p:nvPr/>
        </p:nvSpPr>
        <p:spPr>
          <a:xfrm>
            <a:off x="777240" y="2011680"/>
            <a:ext cx="10058040" cy="1462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7200" spc="-1" strike="noStrike">
                <a:solidFill>
                  <a:srgbClr val="ffffff"/>
                </a:solidFill>
                <a:latin typeface="Cambria"/>
                <a:ea typeface="Cambria"/>
              </a:rPr>
              <a:t>TrabFlow</a:t>
            </a:r>
            <a:endParaRPr b="0" lang="es-ES" sz="7200" spc="-1" strike="noStrike">
              <a:solidFill>
                <a:srgbClr val="ffffff"/>
              </a:solidFill>
              <a:latin typeface="Arial"/>
            </a:endParaRPr>
          </a:p>
        </p:txBody>
      </p:sp>
      <p:sp>
        <p:nvSpPr>
          <p:cNvPr id="46" name="Text 2"/>
          <p:cNvSpPr/>
          <p:nvPr/>
        </p:nvSpPr>
        <p:spPr>
          <a:xfrm>
            <a:off x="822960" y="3429000"/>
            <a:ext cx="960084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2200" spc="-1" strike="noStrike">
                <a:solidFill>
                  <a:srgbClr val="cbd5e1"/>
                </a:solidFill>
                <a:latin typeface="Calibri"/>
                <a:ea typeface="Calibri"/>
              </a:rPr>
              <a:t>El sistema operativo de inteligencia artificial</a:t>
            </a:r>
            <a:endParaRPr b="0" lang="es-ES" sz="2200" spc="-1" strike="noStrike">
              <a:solidFill>
                <a:srgbClr val="ffffff"/>
              </a:solidFill>
              <a:latin typeface="Arial"/>
            </a:endParaRPr>
          </a:p>
          <a:p>
            <a:pPr>
              <a:lnSpc>
                <a:spcPct val="100000"/>
              </a:lnSpc>
              <a:tabLst>
                <a:tab algn="l" pos="0"/>
              </a:tabLst>
            </a:pPr>
            <a:r>
              <a:rPr b="0" i="1" lang="en-US" sz="2200" spc="-1" strike="noStrike">
                <a:solidFill>
                  <a:srgbClr val="cbd5e1"/>
                </a:solidFill>
                <a:latin typeface="Calibri"/>
                <a:ea typeface="Calibri"/>
              </a:rPr>
              <a:t> </a:t>
            </a:r>
            <a:r>
              <a:rPr b="0" i="1" lang="en-US" sz="2200" spc="-1" strike="noStrike">
                <a:solidFill>
                  <a:srgbClr val="cbd5e1"/>
                </a:solidFill>
                <a:latin typeface="Calibri"/>
                <a:ea typeface="Calibri"/>
              </a:rPr>
              <a:t>del instalador autónomo</a:t>
            </a:r>
            <a:endParaRPr b="0" lang="es-ES" sz="2200" spc="-1" strike="noStrike">
              <a:solidFill>
                <a:srgbClr val="ffffff"/>
              </a:solidFill>
              <a:latin typeface="Arial"/>
            </a:endParaRPr>
          </a:p>
        </p:txBody>
      </p:sp>
      <p:sp>
        <p:nvSpPr>
          <p:cNvPr id="47" name="Shape 3"/>
          <p:cNvSpPr/>
          <p:nvPr/>
        </p:nvSpPr>
        <p:spPr>
          <a:xfrm>
            <a:off x="822960" y="4251960"/>
            <a:ext cx="2011680" cy="360"/>
          </a:xfrm>
          <a:prstGeom prst="line">
            <a:avLst/>
          </a:prstGeom>
          <a:ln w="31750">
            <a:solidFill>
              <a:srgbClr val="c8922a"/>
            </a:solidFill>
            <a:round/>
          </a:ln>
        </p:spPr>
        <p:style>
          <a:lnRef idx="0"/>
          <a:fillRef idx="0"/>
          <a:effectRef idx="0"/>
          <a:fontRef idx="minor"/>
        </p:style>
        <p:txBody>
          <a:bodyPr lIns="90000" rIns="90000" tIns="45000" bIns="45000" anchor="t" anchorCtr="1">
            <a:noAutofit/>
          </a:bodyPr>
          <a:p>
            <a:endParaRPr b="0" lang="es-ES" sz="1800" spc="-1" strike="noStrike">
              <a:solidFill>
                <a:srgbClr val="ffffff"/>
              </a:solidFill>
              <a:latin typeface="Arial"/>
            </a:endParaRPr>
          </a:p>
        </p:txBody>
      </p:sp>
      <p:sp>
        <p:nvSpPr>
          <p:cNvPr id="48" name="Text 4"/>
          <p:cNvSpPr/>
          <p:nvPr/>
        </p:nvSpPr>
        <p:spPr>
          <a:xfrm>
            <a:off x="822960" y="5760720"/>
            <a:ext cx="8229240" cy="9140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 strike="noStrike">
                <a:solidFill>
                  <a:srgbClr val="9aa5b1"/>
                </a:solidFill>
                <a:latin typeface="Calibri"/>
              </a:rPr>
              <a:t>TrabFlow Technologies, S.L.</a:t>
            </a:r>
            <a:endParaRPr b="0" lang="es-ES" sz="1300" spc="-1" strike="noStrike">
              <a:solidFill>
                <a:srgbClr val="ffffff"/>
              </a:solidFill>
              <a:latin typeface="Arial"/>
            </a:endParaRPr>
          </a:p>
          <a:p>
            <a:pPr>
              <a:lnSpc>
                <a:spcPct val="100000"/>
              </a:lnSpc>
              <a:tabLst>
                <a:tab algn="l" pos="0"/>
              </a:tabLst>
            </a:pPr>
            <a:r>
              <a:rPr b="0" lang="en-US" sz="1300" spc="-1" strike="noStrike">
                <a:solidFill>
                  <a:srgbClr val="9aa5b1"/>
                </a:solidFill>
                <a:latin typeface="Calibri"/>
              </a:rPr>
              <a:t>Fernando Carbonell Cabo — Fundador y Administrador Único</a:t>
            </a:r>
            <a:endParaRPr b="0" lang="es-ES" sz="1300" spc="-1" strike="noStrike">
              <a:solidFill>
                <a:srgbClr val="ffffff"/>
              </a:solidFill>
              <a:latin typeface="Arial"/>
            </a:endParaRPr>
          </a:p>
          <a:p>
            <a:pPr>
              <a:lnSpc>
                <a:spcPct val="100000"/>
              </a:lnSpc>
              <a:tabLst>
                <a:tab algn="l" pos="0"/>
              </a:tabLst>
            </a:pPr>
            <a:r>
              <a:rPr b="0" lang="en-US" sz="1300" spc="-1" strike="noStrike">
                <a:solidFill>
                  <a:srgbClr val="9aa5b1"/>
                </a:solidFill>
                <a:latin typeface="Calibri"/>
              </a:rPr>
              <a:t>Julio 2026  ·  Documento confidencial</a:t>
            </a:r>
            <a:endParaRPr b="0" lang="es-ES" sz="1300" spc="-1" strike="noStrike">
              <a:solidFill>
                <a:srgbClr val="ffffff"/>
              </a:solidFill>
              <a:latin typeface="Arial"/>
            </a:endParaRPr>
          </a:p>
        </p:txBody>
      </p:sp>
      <p:pic>
        <p:nvPicPr>
          <p:cNvPr id="49" name="" descr=""/>
          <p:cNvPicPr/>
          <p:nvPr/>
        </p:nvPicPr>
        <p:blipFill>
          <a:blip r:embed="rId1"/>
          <a:stretch/>
        </p:blipFill>
        <p:spPr>
          <a:xfrm>
            <a:off x="7340040" y="360"/>
            <a:ext cx="4852080" cy="68576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Shape 0"/>
          <p:cNvSpPr/>
          <p:nvPr/>
        </p:nvSpPr>
        <p:spPr>
          <a:xfrm>
            <a:off x="640080" y="594360"/>
            <a:ext cx="685440" cy="68544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51" name="Image 0" descr="/home/claude/deck/icons/lightbulb.png"/>
          <p:cNvPicPr/>
          <p:nvPr/>
        </p:nvPicPr>
        <p:blipFill>
          <a:blip r:embed="rId1"/>
          <a:stretch/>
        </p:blipFill>
        <p:spPr>
          <a:xfrm>
            <a:off x="729360" y="683640"/>
            <a:ext cx="507240" cy="507240"/>
          </a:xfrm>
          <a:prstGeom prst="rect">
            <a:avLst/>
          </a:prstGeom>
          <a:ln w="0">
            <a:noFill/>
          </a:ln>
        </p:spPr>
      </p:pic>
      <p:sp>
        <p:nvSpPr>
          <p:cNvPr id="52"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1a5a96"/>
                </a:solidFill>
                <a:latin typeface="Calibri"/>
                <a:ea typeface="Calibri"/>
              </a:rPr>
              <a:t>02 · VISIÓN</a:t>
            </a:r>
            <a:endParaRPr b="0" lang="es-ES" sz="1300" spc="-1" strike="noStrike">
              <a:solidFill>
                <a:srgbClr val="000000"/>
              </a:solidFill>
              <a:latin typeface="Arial"/>
            </a:endParaRPr>
          </a:p>
        </p:txBody>
      </p:sp>
      <p:sp>
        <p:nvSpPr>
          <p:cNvPr id="53"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¿Por qué existe Trabflow?</a:t>
            </a:r>
            <a:endParaRPr b="0" lang="es-ES" sz="3200" spc="-1" strike="noStrike">
              <a:solidFill>
                <a:srgbClr val="000000"/>
              </a:solidFill>
              <a:latin typeface="Arial"/>
            </a:endParaRPr>
          </a:p>
        </p:txBody>
      </p:sp>
      <p:sp>
        <p:nvSpPr>
          <p:cNvPr id="54" name="Shape 3"/>
          <p:cNvSpPr/>
          <p:nvPr/>
        </p:nvSpPr>
        <p:spPr>
          <a:xfrm>
            <a:off x="640080" y="1691640"/>
            <a:ext cx="10881000" cy="1919880"/>
          </a:xfrm>
          <a:prstGeom prst="roundRect">
            <a:avLst>
              <a:gd name="adj" fmla="val 3810"/>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55" name="Text 4"/>
          <p:cNvSpPr/>
          <p:nvPr/>
        </p:nvSpPr>
        <p:spPr>
          <a:xfrm>
            <a:off x="1005840" y="1965960"/>
            <a:ext cx="10149480" cy="13712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2600" spc="-1" strike="noStrike">
                <a:solidFill>
                  <a:srgbClr val="1c2535"/>
                </a:solidFill>
                <a:latin typeface="Cambria"/>
                <a:ea typeface="Cambria"/>
              </a:rPr>
              <a:t>Dar a cada instalador autónomo español las herramientas de gestión que hoy solo tienen las grandes empresas de instalación.</a:t>
            </a:r>
            <a:endParaRPr b="0" lang="es-ES" sz="2600" spc="-1" strike="noStrike">
              <a:solidFill>
                <a:srgbClr val="000000"/>
              </a:solidFill>
              <a:latin typeface="Arial"/>
            </a:endParaRPr>
          </a:p>
        </p:txBody>
      </p:sp>
      <p:sp>
        <p:nvSpPr>
          <p:cNvPr id="56" name="Text 5"/>
          <p:cNvSpPr/>
          <p:nvPr/>
        </p:nvSpPr>
        <p:spPr>
          <a:xfrm>
            <a:off x="640080" y="3977640"/>
            <a:ext cx="1042380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600" spc="-1" strike="noStrike">
                <a:solidFill>
                  <a:srgbClr val="374151"/>
                </a:solidFill>
                <a:latin typeface="Calibri"/>
              </a:rPr>
              <a:t>Un presupuesto profesional, una factura legal y el control de un contrato de mantenimiento — todo desde el móvil, en el lenguaje del propio oficio.</a:t>
            </a:r>
            <a:endParaRPr b="0" lang="es-ES" sz="1600" spc="-1" strike="noStrike">
              <a:solidFill>
                <a:srgbClr val="000000"/>
              </a:solidFill>
              <a:latin typeface="Arial"/>
            </a:endParaRPr>
          </a:p>
        </p:txBody>
      </p:sp>
      <p:sp>
        <p:nvSpPr>
          <p:cNvPr id="57" name="Shape 6"/>
          <p:cNvSpPr/>
          <p:nvPr/>
        </p:nvSpPr>
        <p:spPr>
          <a:xfrm>
            <a:off x="640080" y="4892040"/>
            <a:ext cx="502560" cy="50256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58" name="Image 1" descr="/home/claude/deck/icons/tools_blue.png"/>
          <p:cNvPicPr/>
          <p:nvPr/>
        </p:nvPicPr>
        <p:blipFill>
          <a:blip r:embed="rId2"/>
          <a:stretch/>
        </p:blipFill>
        <p:spPr>
          <a:xfrm>
            <a:off x="705600" y="4957560"/>
            <a:ext cx="371880" cy="371880"/>
          </a:xfrm>
          <a:prstGeom prst="rect">
            <a:avLst/>
          </a:prstGeom>
          <a:ln w="0">
            <a:noFill/>
          </a:ln>
        </p:spPr>
      </p:pic>
      <p:sp>
        <p:nvSpPr>
          <p:cNvPr id="59" name="Text 7"/>
          <p:cNvSpPr/>
          <p:nvPr/>
        </p:nvSpPr>
        <p:spPr>
          <a:xfrm>
            <a:off x="1280160" y="4864680"/>
            <a:ext cx="292572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c2535"/>
                </a:solidFill>
                <a:latin typeface="Calibri"/>
              </a:rPr>
              <a:t>El instalador primero</a:t>
            </a:r>
            <a:endParaRPr b="0" lang="es-ES" sz="1400" spc="-1" strike="noStrike">
              <a:solidFill>
                <a:srgbClr val="000000"/>
              </a:solidFill>
              <a:latin typeface="Arial"/>
            </a:endParaRPr>
          </a:p>
        </p:txBody>
      </p:sp>
      <p:sp>
        <p:nvSpPr>
          <p:cNvPr id="60" name="Text 8"/>
          <p:cNvSpPr/>
          <p:nvPr/>
        </p:nvSpPr>
        <p:spPr>
          <a:xfrm>
            <a:off x="640080" y="5349240"/>
            <a:ext cx="33829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6b7280"/>
                </a:solidFill>
                <a:latin typeface="Calibri"/>
              </a:rPr>
              <a:t>Cada decisión de producto se toma pensando en la obra, no en el escritorio.</a:t>
            </a:r>
            <a:endParaRPr b="0" lang="es-ES" sz="1200" spc="-1" strike="noStrike">
              <a:solidFill>
                <a:srgbClr val="000000"/>
              </a:solidFill>
              <a:latin typeface="Arial"/>
            </a:endParaRPr>
          </a:p>
        </p:txBody>
      </p:sp>
      <p:sp>
        <p:nvSpPr>
          <p:cNvPr id="61" name="Shape 9"/>
          <p:cNvSpPr/>
          <p:nvPr/>
        </p:nvSpPr>
        <p:spPr>
          <a:xfrm>
            <a:off x="4297680" y="4892040"/>
            <a:ext cx="502560" cy="50256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62" name="Image 2" descr="/home/claude/deck/icons/bolt_blue.png"/>
          <p:cNvPicPr/>
          <p:nvPr/>
        </p:nvPicPr>
        <p:blipFill>
          <a:blip r:embed="rId3"/>
          <a:stretch/>
        </p:blipFill>
        <p:spPr>
          <a:xfrm>
            <a:off x="4363200" y="4957560"/>
            <a:ext cx="371880" cy="371880"/>
          </a:xfrm>
          <a:prstGeom prst="rect">
            <a:avLst/>
          </a:prstGeom>
          <a:ln w="0">
            <a:noFill/>
          </a:ln>
        </p:spPr>
      </p:pic>
      <p:sp>
        <p:nvSpPr>
          <p:cNvPr id="63" name="Text 10"/>
          <p:cNvSpPr/>
          <p:nvPr/>
        </p:nvSpPr>
        <p:spPr>
          <a:xfrm>
            <a:off x="4937760" y="4864680"/>
            <a:ext cx="292572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c2535"/>
                </a:solidFill>
                <a:latin typeface="Calibri"/>
              </a:rPr>
              <a:t>Menos clics, más trabajo hecho</a:t>
            </a:r>
            <a:endParaRPr b="0" lang="es-ES" sz="1400" spc="-1" strike="noStrike">
              <a:solidFill>
                <a:srgbClr val="000000"/>
              </a:solidFill>
              <a:latin typeface="Arial"/>
            </a:endParaRPr>
          </a:p>
        </p:txBody>
      </p:sp>
      <p:sp>
        <p:nvSpPr>
          <p:cNvPr id="64" name="Text 11"/>
          <p:cNvSpPr/>
          <p:nvPr/>
        </p:nvSpPr>
        <p:spPr>
          <a:xfrm>
            <a:off x="4297680" y="5349240"/>
            <a:ext cx="33829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6b7280"/>
                </a:solidFill>
                <a:latin typeface="Calibri"/>
              </a:rPr>
              <a:t>La IA hace el trabajo administrativo; el instalador se dedica a su oficio.</a:t>
            </a:r>
            <a:endParaRPr b="0" lang="es-ES" sz="1200" spc="-1" strike="noStrike">
              <a:solidFill>
                <a:srgbClr val="000000"/>
              </a:solidFill>
              <a:latin typeface="Arial"/>
            </a:endParaRPr>
          </a:p>
        </p:txBody>
      </p:sp>
      <p:sp>
        <p:nvSpPr>
          <p:cNvPr id="65" name="Shape 12"/>
          <p:cNvSpPr/>
          <p:nvPr/>
        </p:nvSpPr>
        <p:spPr>
          <a:xfrm>
            <a:off x="7955280" y="4892040"/>
            <a:ext cx="502560" cy="50256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66" name="Image 3" descr="/home/claude/deck/icons/shield_blue.png"/>
          <p:cNvPicPr/>
          <p:nvPr/>
        </p:nvPicPr>
        <p:blipFill>
          <a:blip r:embed="rId4"/>
          <a:stretch/>
        </p:blipFill>
        <p:spPr>
          <a:xfrm>
            <a:off x="8020800" y="4957560"/>
            <a:ext cx="371880" cy="371880"/>
          </a:xfrm>
          <a:prstGeom prst="rect">
            <a:avLst/>
          </a:prstGeom>
          <a:ln w="0">
            <a:noFill/>
          </a:ln>
        </p:spPr>
      </p:pic>
      <p:sp>
        <p:nvSpPr>
          <p:cNvPr id="67" name="Text 13"/>
          <p:cNvSpPr/>
          <p:nvPr/>
        </p:nvSpPr>
        <p:spPr>
          <a:xfrm>
            <a:off x="8595360" y="4864680"/>
            <a:ext cx="292572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c2535"/>
                </a:solidFill>
                <a:latin typeface="Calibri"/>
              </a:rPr>
              <a:t>Crecimiento con foco</a:t>
            </a:r>
            <a:endParaRPr b="0" lang="es-ES" sz="1400" spc="-1" strike="noStrike">
              <a:solidFill>
                <a:srgbClr val="000000"/>
              </a:solidFill>
              <a:latin typeface="Arial"/>
            </a:endParaRPr>
          </a:p>
        </p:txBody>
      </p:sp>
      <p:sp>
        <p:nvSpPr>
          <p:cNvPr id="68" name="Text 14"/>
          <p:cNvSpPr/>
          <p:nvPr/>
        </p:nvSpPr>
        <p:spPr>
          <a:xfrm>
            <a:off x="7955280" y="5349240"/>
            <a:ext cx="33829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6b7280"/>
                </a:solidFill>
                <a:latin typeface="Calibri"/>
              </a:rPr>
              <a:t>Expansión de producto y mercado sin perder calidad ni control.</a:t>
            </a:r>
            <a:endParaRPr b="0" lang="es-ES" sz="1200" spc="-1" strike="noStrike">
              <a:solidFill>
                <a:srgbClr val="000000"/>
              </a:solidFill>
              <a:latin typeface="Arial"/>
            </a:endParaRPr>
          </a:p>
        </p:txBody>
      </p:sp>
      <p:sp>
        <p:nvSpPr>
          <p:cNvPr id="69" name="Text 15"/>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70" name="Text 16"/>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2</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Shape 0"/>
          <p:cNvSpPr/>
          <p:nvPr/>
        </p:nvSpPr>
        <p:spPr>
          <a:xfrm>
            <a:off x="640080" y="594360"/>
            <a:ext cx="685440" cy="685440"/>
          </a:xfrm>
          <a:prstGeom prst="ellipse">
            <a:avLst/>
          </a:prstGeom>
          <a:solidFill>
            <a:srgbClr val="b84e35"/>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72" name="Image 0" descr="/home/claude/deck/icons/clock.png"/>
          <p:cNvPicPr/>
          <p:nvPr/>
        </p:nvPicPr>
        <p:blipFill>
          <a:blip r:embed="rId1"/>
          <a:stretch/>
        </p:blipFill>
        <p:spPr>
          <a:xfrm>
            <a:off x="729360" y="683640"/>
            <a:ext cx="507240" cy="507240"/>
          </a:xfrm>
          <a:prstGeom prst="rect">
            <a:avLst/>
          </a:prstGeom>
          <a:ln w="0">
            <a:noFill/>
          </a:ln>
        </p:spPr>
      </p:pic>
      <p:sp>
        <p:nvSpPr>
          <p:cNvPr id="73"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b84e35"/>
                </a:solidFill>
                <a:latin typeface="Calibri"/>
                <a:ea typeface="Calibri"/>
              </a:rPr>
              <a:t>03 · EL PROBLEMA</a:t>
            </a:r>
            <a:endParaRPr b="0" lang="es-ES" sz="1300" spc="-1" strike="noStrike">
              <a:solidFill>
                <a:srgbClr val="000000"/>
              </a:solidFill>
              <a:latin typeface="Arial"/>
            </a:endParaRPr>
          </a:p>
        </p:txBody>
      </p:sp>
      <p:sp>
        <p:nvSpPr>
          <p:cNvPr id="74" name="Text 2"/>
          <p:cNvSpPr/>
          <p:nvPr/>
        </p:nvSpPr>
        <p:spPr>
          <a:xfrm>
            <a:off x="1508760" y="567000"/>
            <a:ext cx="96008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Un sector clave, digitalizado a medias</a:t>
            </a:r>
            <a:endParaRPr b="0" lang="es-ES" sz="3200" spc="-1" strike="noStrike">
              <a:solidFill>
                <a:srgbClr val="000000"/>
              </a:solidFill>
              <a:latin typeface="Arial"/>
            </a:endParaRPr>
          </a:p>
        </p:txBody>
      </p:sp>
      <p:sp>
        <p:nvSpPr>
          <p:cNvPr id="75" name="Shape 3"/>
          <p:cNvSpPr/>
          <p:nvPr/>
        </p:nvSpPr>
        <p:spPr>
          <a:xfrm>
            <a:off x="640080" y="1828800"/>
            <a:ext cx="3428640" cy="1737000"/>
          </a:xfrm>
          <a:prstGeom prst="roundRect">
            <a:avLst>
              <a:gd name="adj" fmla="val 4211"/>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76" name="Text 4"/>
          <p:cNvSpPr/>
          <p:nvPr/>
        </p:nvSpPr>
        <p:spPr>
          <a:xfrm>
            <a:off x="640080" y="2011680"/>
            <a:ext cx="3428640" cy="776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3400" spc="-1" strike="noStrike">
                <a:solidFill>
                  <a:srgbClr val="b84e35"/>
                </a:solidFill>
                <a:latin typeface="Calibri"/>
              </a:rPr>
              <a:t>30-60 min</a:t>
            </a:r>
            <a:endParaRPr b="0" lang="es-ES" sz="3400" spc="-1" strike="noStrike">
              <a:solidFill>
                <a:srgbClr val="000000"/>
              </a:solidFill>
              <a:latin typeface="Arial"/>
            </a:endParaRPr>
          </a:p>
        </p:txBody>
      </p:sp>
      <p:sp>
        <p:nvSpPr>
          <p:cNvPr id="77" name="Text 5"/>
          <p:cNvSpPr/>
          <p:nvPr/>
        </p:nvSpPr>
        <p:spPr>
          <a:xfrm>
            <a:off x="868680" y="2788920"/>
            <a:ext cx="2971440" cy="6397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300" spc="-1" strike="noStrike">
                <a:solidFill>
                  <a:srgbClr val="374151"/>
                </a:solidFill>
                <a:latin typeface="Calibri"/>
              </a:rPr>
              <a:t>para elaborar un presupuesto a mano</a:t>
            </a:r>
            <a:endParaRPr b="0" lang="es-ES" sz="1300" spc="-1" strike="noStrike">
              <a:solidFill>
                <a:srgbClr val="000000"/>
              </a:solidFill>
              <a:latin typeface="Arial"/>
            </a:endParaRPr>
          </a:p>
        </p:txBody>
      </p:sp>
      <p:sp>
        <p:nvSpPr>
          <p:cNvPr id="78" name="Shape 6"/>
          <p:cNvSpPr/>
          <p:nvPr/>
        </p:nvSpPr>
        <p:spPr>
          <a:xfrm>
            <a:off x="4343400" y="1828800"/>
            <a:ext cx="3428640" cy="1737000"/>
          </a:xfrm>
          <a:prstGeom prst="roundRect">
            <a:avLst>
              <a:gd name="adj" fmla="val 4211"/>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79" name="Text 7"/>
          <p:cNvSpPr/>
          <p:nvPr/>
        </p:nvSpPr>
        <p:spPr>
          <a:xfrm>
            <a:off x="4343400" y="2011680"/>
            <a:ext cx="3428640" cy="776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3400" spc="-1" strike="noStrike">
                <a:solidFill>
                  <a:srgbClr val="b84e35"/>
                </a:solidFill>
                <a:latin typeface="Calibri"/>
              </a:rPr>
              <a:t>&lt; 20%</a:t>
            </a:r>
            <a:endParaRPr b="0" lang="es-ES" sz="3400" spc="-1" strike="noStrike">
              <a:solidFill>
                <a:srgbClr val="000000"/>
              </a:solidFill>
              <a:latin typeface="Arial"/>
            </a:endParaRPr>
          </a:p>
        </p:txBody>
      </p:sp>
      <p:sp>
        <p:nvSpPr>
          <p:cNvPr id="80" name="Text 8"/>
          <p:cNvSpPr/>
          <p:nvPr/>
        </p:nvSpPr>
        <p:spPr>
          <a:xfrm>
            <a:off x="4572000" y="2788920"/>
            <a:ext cx="2971440" cy="6397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300" spc="-1" strike="noStrike">
                <a:solidFill>
                  <a:srgbClr val="374151"/>
                </a:solidFill>
                <a:latin typeface="Calibri"/>
              </a:rPr>
              <a:t>de instaladores usa hoy alguna solución de IA</a:t>
            </a:r>
            <a:endParaRPr b="0" lang="es-ES" sz="1300" spc="-1" strike="noStrike">
              <a:solidFill>
                <a:srgbClr val="000000"/>
              </a:solidFill>
              <a:latin typeface="Arial"/>
            </a:endParaRPr>
          </a:p>
        </p:txBody>
      </p:sp>
      <p:sp>
        <p:nvSpPr>
          <p:cNvPr id="81" name="Shape 9"/>
          <p:cNvSpPr/>
          <p:nvPr/>
        </p:nvSpPr>
        <p:spPr>
          <a:xfrm>
            <a:off x="8046720" y="1828800"/>
            <a:ext cx="3428640" cy="1737000"/>
          </a:xfrm>
          <a:prstGeom prst="roundRect">
            <a:avLst>
              <a:gd name="adj" fmla="val 4211"/>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82" name="Text 10"/>
          <p:cNvSpPr/>
          <p:nvPr/>
        </p:nvSpPr>
        <p:spPr>
          <a:xfrm>
            <a:off x="8046720" y="2011680"/>
            <a:ext cx="3428640" cy="7768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3400" spc="-1" strike="noStrike">
                <a:solidFill>
                  <a:srgbClr val="b84e35"/>
                </a:solidFill>
                <a:latin typeface="Calibri"/>
              </a:rPr>
              <a:t>2027</a:t>
            </a:r>
            <a:endParaRPr b="0" lang="es-ES" sz="3400" spc="-1" strike="noStrike">
              <a:solidFill>
                <a:srgbClr val="000000"/>
              </a:solidFill>
              <a:latin typeface="Arial"/>
            </a:endParaRPr>
          </a:p>
        </p:txBody>
      </p:sp>
      <p:sp>
        <p:nvSpPr>
          <p:cNvPr id="83" name="Text 11"/>
          <p:cNvSpPr/>
          <p:nvPr/>
        </p:nvSpPr>
        <p:spPr>
          <a:xfrm>
            <a:off x="8275320" y="2788920"/>
            <a:ext cx="2971440" cy="6397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300" spc="-1" strike="noStrike">
                <a:solidFill>
                  <a:srgbClr val="374151"/>
                </a:solidFill>
                <a:latin typeface="Calibri"/>
              </a:rPr>
              <a:t>plazo límite de obligado cumplimiento VeriFactu</a:t>
            </a:r>
            <a:endParaRPr b="0" lang="es-ES" sz="1300" spc="-1" strike="noStrike">
              <a:solidFill>
                <a:srgbClr val="000000"/>
              </a:solidFill>
              <a:latin typeface="Arial"/>
            </a:endParaRPr>
          </a:p>
        </p:txBody>
      </p:sp>
      <p:sp>
        <p:nvSpPr>
          <p:cNvPr id="84" name="Text 12"/>
          <p:cNvSpPr/>
          <p:nvPr/>
        </p:nvSpPr>
        <p:spPr>
          <a:xfrm>
            <a:off x="640080" y="3886200"/>
            <a:ext cx="73148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c2535"/>
                </a:solidFill>
                <a:latin typeface="Calibri"/>
              </a:rPr>
              <a:t>Tres síntomas de un mismo problema estructural</a:t>
            </a:r>
            <a:endParaRPr b="0" lang="es-ES" sz="1600" spc="-1" strike="noStrike">
              <a:solidFill>
                <a:srgbClr val="000000"/>
              </a:solidFill>
              <a:latin typeface="Arial"/>
            </a:endParaRPr>
          </a:p>
        </p:txBody>
      </p:sp>
      <p:sp>
        <p:nvSpPr>
          <p:cNvPr id="85" name="Text 13"/>
          <p:cNvSpPr/>
          <p:nvPr/>
        </p:nvSpPr>
        <p:spPr>
          <a:xfrm>
            <a:off x="640080" y="4297680"/>
            <a:ext cx="7497720" cy="1462680"/>
          </a:xfrm>
          <a:prstGeom prst="rect">
            <a:avLst/>
          </a:prstGeom>
          <a:noFill/>
          <a:ln w="0">
            <a:noFill/>
          </a:ln>
        </p:spPr>
        <p:style>
          <a:lnRef idx="0"/>
          <a:fillRef idx="0"/>
          <a:effectRef idx="0"/>
          <a:fontRef idx="minor"/>
        </p:style>
        <p:txBody>
          <a:bodyPr lIns="90000" rIns="90000" tIns="45000" bIns="45000" anchor="ctr">
            <a:noAutofit/>
          </a:bodyPr>
          <a:p>
            <a:pPr marL="343080" indent="-343080">
              <a:lnSpc>
                <a:spcPct val="100000"/>
              </a:lnSpc>
              <a:spcAft>
                <a:spcPts val="799"/>
              </a:spcAft>
              <a:buClr>
                <a:srgbClr val="374151"/>
              </a:buClr>
              <a:buFont typeface="Symbol" charset="2"/>
              <a:buChar char=""/>
            </a:pPr>
            <a:r>
              <a:rPr b="0" lang="en-US" sz="1500" spc="-1" strike="noStrike">
                <a:solidFill>
                  <a:srgbClr val="374151"/>
                </a:solidFill>
                <a:latin typeface="Calibri"/>
              </a:rPr>
              <a:t>Presupuestos manuales, sin precios de mercado actualizados</a:t>
            </a:r>
            <a:endParaRPr b="0" lang="es-ES" sz="1500" spc="-1" strike="noStrike">
              <a:solidFill>
                <a:srgbClr val="000000"/>
              </a:solidFill>
              <a:latin typeface="Arial"/>
            </a:endParaRPr>
          </a:p>
          <a:p>
            <a:pPr marL="343080" indent="-343080">
              <a:lnSpc>
                <a:spcPct val="100000"/>
              </a:lnSpc>
              <a:spcAft>
                <a:spcPts val="799"/>
              </a:spcAft>
              <a:buClr>
                <a:srgbClr val="374151"/>
              </a:buClr>
              <a:buFont typeface="Symbol" charset="2"/>
              <a:buChar char=""/>
            </a:pPr>
            <a:r>
              <a:rPr b="0" lang="en-US" sz="1500" spc="-1" strike="noStrike">
                <a:solidFill>
                  <a:srgbClr val="374151"/>
                </a:solidFill>
                <a:latin typeface="Calibri"/>
              </a:rPr>
              <a:t>Facturación desconectada del presupuesto y de la normativa fiscal</a:t>
            </a:r>
            <a:endParaRPr b="0" lang="es-ES" sz="1500" spc="-1" strike="noStrike">
              <a:solidFill>
                <a:srgbClr val="000000"/>
              </a:solidFill>
              <a:latin typeface="Arial"/>
            </a:endParaRPr>
          </a:p>
          <a:p>
            <a:pPr marL="343080" indent="-343080">
              <a:lnSpc>
                <a:spcPct val="100000"/>
              </a:lnSpc>
              <a:spcAft>
                <a:spcPts val="799"/>
              </a:spcAft>
              <a:buClr>
                <a:srgbClr val="374151"/>
              </a:buClr>
              <a:buFont typeface="Symbol" charset="2"/>
              <a:buChar char=""/>
            </a:pPr>
            <a:r>
              <a:rPr b="0" lang="en-US" sz="1500" spc="-1" strike="noStrike">
                <a:solidFill>
                  <a:srgbClr val="374151"/>
                </a:solidFill>
                <a:latin typeface="Calibri"/>
              </a:rPr>
              <a:t>Nula trazabilidad de técnicos de campo y contratos de mantenimiento</a:t>
            </a:r>
            <a:endParaRPr b="0" lang="es-ES" sz="1500" spc="-1" strike="noStrike">
              <a:solidFill>
                <a:srgbClr val="000000"/>
              </a:solidFill>
              <a:latin typeface="Arial"/>
            </a:endParaRPr>
          </a:p>
        </p:txBody>
      </p:sp>
      <p:sp>
        <p:nvSpPr>
          <p:cNvPr id="86" name="Shape 14"/>
          <p:cNvSpPr/>
          <p:nvPr/>
        </p:nvSpPr>
        <p:spPr>
          <a:xfrm>
            <a:off x="8869680" y="4206240"/>
            <a:ext cx="2194200" cy="2194200"/>
          </a:xfrm>
          <a:prstGeom prst="ellipse">
            <a:avLst/>
          </a:prstGeom>
          <a:solidFill>
            <a:srgbClr val="f3e7df"/>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87" name="Image 1" descr="/home/claude/deck/icons/puzzle_gold.png"/>
          <p:cNvPicPr/>
          <p:nvPr/>
        </p:nvPicPr>
        <p:blipFill>
          <a:blip r:embed="rId2"/>
          <a:stretch/>
        </p:blipFill>
        <p:spPr>
          <a:xfrm>
            <a:off x="9154800" y="4491360"/>
            <a:ext cx="1623600" cy="1623600"/>
          </a:xfrm>
          <a:prstGeom prst="rect">
            <a:avLst/>
          </a:prstGeom>
          <a:ln w="0">
            <a:noFill/>
          </a:ln>
        </p:spPr>
      </p:pic>
      <p:sp>
        <p:nvSpPr>
          <p:cNvPr id="88" name="Text 15"/>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89" name="Text 16"/>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3</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Shape 0"/>
          <p:cNvSpPr/>
          <p:nvPr/>
        </p:nvSpPr>
        <p:spPr>
          <a:xfrm>
            <a:off x="640080" y="594360"/>
            <a:ext cx="685440" cy="685440"/>
          </a:xfrm>
          <a:prstGeom prst="ellipse">
            <a:avLst/>
          </a:prstGeom>
          <a:solidFill>
            <a:srgbClr val="4a674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91" name="Image 0" descr="/home/claude/deck/icons/chart.png"/>
          <p:cNvPicPr/>
          <p:nvPr/>
        </p:nvPicPr>
        <p:blipFill>
          <a:blip r:embed="rId1"/>
          <a:stretch/>
        </p:blipFill>
        <p:spPr>
          <a:xfrm>
            <a:off x="729360" y="683640"/>
            <a:ext cx="507240" cy="507240"/>
          </a:xfrm>
          <a:prstGeom prst="rect">
            <a:avLst/>
          </a:prstGeom>
          <a:ln w="0">
            <a:noFill/>
          </a:ln>
        </p:spPr>
      </p:pic>
      <p:sp>
        <p:nvSpPr>
          <p:cNvPr id="92"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4a6741"/>
                </a:solidFill>
                <a:latin typeface="Calibri"/>
                <a:ea typeface="Calibri"/>
              </a:rPr>
              <a:t>04 · LA OPORTUNIDAD</a:t>
            </a:r>
            <a:endParaRPr b="0" lang="es-ES" sz="1300" spc="-1" strike="noStrike">
              <a:solidFill>
                <a:srgbClr val="000000"/>
              </a:solidFill>
              <a:latin typeface="Arial"/>
            </a:endParaRPr>
          </a:p>
        </p:txBody>
      </p:sp>
      <p:sp>
        <p:nvSpPr>
          <p:cNvPr id="93"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La ventana está abierta ahora</a:t>
            </a:r>
            <a:endParaRPr b="0" lang="es-ES" sz="3200" spc="-1" strike="noStrike">
              <a:solidFill>
                <a:srgbClr val="000000"/>
              </a:solidFill>
              <a:latin typeface="Arial"/>
            </a:endParaRPr>
          </a:p>
        </p:txBody>
      </p:sp>
      <p:sp>
        <p:nvSpPr>
          <p:cNvPr id="94" name="Shape 3"/>
          <p:cNvSpPr/>
          <p:nvPr/>
        </p:nvSpPr>
        <p:spPr>
          <a:xfrm>
            <a:off x="640080" y="1828800"/>
            <a:ext cx="3428640" cy="2102760"/>
          </a:xfrm>
          <a:prstGeom prst="roundRect">
            <a:avLst>
              <a:gd name="adj" fmla="val 3478"/>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95" name="Shape 4"/>
          <p:cNvSpPr/>
          <p:nvPr/>
        </p:nvSpPr>
        <p:spPr>
          <a:xfrm>
            <a:off x="896040" y="2084760"/>
            <a:ext cx="548280" cy="54828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96" name="Image 1" descr="/home/claude/deck/icons/shield_blue.png"/>
          <p:cNvPicPr/>
          <p:nvPr/>
        </p:nvPicPr>
        <p:blipFill>
          <a:blip r:embed="rId2"/>
          <a:stretch/>
        </p:blipFill>
        <p:spPr>
          <a:xfrm>
            <a:off x="967320" y="2156040"/>
            <a:ext cx="405720" cy="405720"/>
          </a:xfrm>
          <a:prstGeom prst="rect">
            <a:avLst/>
          </a:prstGeom>
          <a:ln w="0">
            <a:noFill/>
          </a:ln>
        </p:spPr>
      </p:pic>
      <p:sp>
        <p:nvSpPr>
          <p:cNvPr id="97" name="Text 5"/>
          <p:cNvSpPr/>
          <p:nvPr/>
        </p:nvSpPr>
        <p:spPr>
          <a:xfrm>
            <a:off x="896040" y="2724840"/>
            <a:ext cx="292572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Obligación normativa</a:t>
            </a:r>
            <a:endParaRPr b="0" lang="es-ES" sz="1500" spc="-1" strike="noStrike">
              <a:solidFill>
                <a:srgbClr val="000000"/>
              </a:solidFill>
              <a:latin typeface="Arial"/>
            </a:endParaRPr>
          </a:p>
        </p:txBody>
      </p:sp>
      <p:sp>
        <p:nvSpPr>
          <p:cNvPr id="98" name="Text 6"/>
          <p:cNvSpPr/>
          <p:nvPr/>
        </p:nvSpPr>
        <p:spPr>
          <a:xfrm>
            <a:off x="896040" y="3108960"/>
            <a:ext cx="29714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VeriFactu fuerza la renovación tecnológica del sector en 2026-2027.</a:t>
            </a:r>
            <a:endParaRPr b="0" lang="es-ES" sz="1250" spc="-1" strike="noStrike">
              <a:solidFill>
                <a:srgbClr val="000000"/>
              </a:solidFill>
              <a:latin typeface="Arial"/>
            </a:endParaRPr>
          </a:p>
        </p:txBody>
      </p:sp>
      <p:sp>
        <p:nvSpPr>
          <p:cNvPr id="99" name="Shape 7"/>
          <p:cNvSpPr/>
          <p:nvPr/>
        </p:nvSpPr>
        <p:spPr>
          <a:xfrm>
            <a:off x="4343400" y="1828800"/>
            <a:ext cx="3428640" cy="2102760"/>
          </a:xfrm>
          <a:prstGeom prst="roundRect">
            <a:avLst>
              <a:gd name="adj" fmla="val 3478"/>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00" name="Shape 8"/>
          <p:cNvSpPr/>
          <p:nvPr/>
        </p:nvSpPr>
        <p:spPr>
          <a:xfrm>
            <a:off x="4599360" y="2084760"/>
            <a:ext cx="548280" cy="54828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01" name="Image 2" descr="/home/claude/deck/icons/brain_blue.png"/>
          <p:cNvPicPr/>
          <p:nvPr/>
        </p:nvPicPr>
        <p:blipFill>
          <a:blip r:embed="rId3"/>
          <a:stretch/>
        </p:blipFill>
        <p:spPr>
          <a:xfrm>
            <a:off x="4670640" y="2156040"/>
            <a:ext cx="405720" cy="405720"/>
          </a:xfrm>
          <a:prstGeom prst="rect">
            <a:avLst/>
          </a:prstGeom>
          <a:ln w="0">
            <a:noFill/>
          </a:ln>
        </p:spPr>
      </p:pic>
      <p:sp>
        <p:nvSpPr>
          <p:cNvPr id="102" name="Text 9"/>
          <p:cNvSpPr/>
          <p:nvPr/>
        </p:nvSpPr>
        <p:spPr>
          <a:xfrm>
            <a:off x="4599360" y="2724840"/>
            <a:ext cx="292572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Madurez de la IA</a:t>
            </a:r>
            <a:endParaRPr b="0" lang="es-ES" sz="1500" spc="-1" strike="noStrike">
              <a:solidFill>
                <a:srgbClr val="000000"/>
              </a:solidFill>
              <a:latin typeface="Arial"/>
            </a:endParaRPr>
          </a:p>
        </p:txBody>
      </p:sp>
      <p:sp>
        <p:nvSpPr>
          <p:cNvPr id="103" name="Text 10"/>
          <p:cNvSpPr/>
          <p:nvPr/>
        </p:nvSpPr>
        <p:spPr>
          <a:xfrm>
            <a:off x="4599360" y="3108960"/>
            <a:ext cx="29714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El coste de inferencia ya es compatible con un SaaS de bajo ticket.</a:t>
            </a:r>
            <a:endParaRPr b="0" lang="es-ES" sz="1250" spc="-1" strike="noStrike">
              <a:solidFill>
                <a:srgbClr val="000000"/>
              </a:solidFill>
              <a:latin typeface="Arial"/>
            </a:endParaRPr>
          </a:p>
        </p:txBody>
      </p:sp>
      <p:sp>
        <p:nvSpPr>
          <p:cNvPr id="104" name="Shape 11"/>
          <p:cNvSpPr/>
          <p:nvPr/>
        </p:nvSpPr>
        <p:spPr>
          <a:xfrm>
            <a:off x="8046720" y="1828800"/>
            <a:ext cx="3428640" cy="2102760"/>
          </a:xfrm>
          <a:prstGeom prst="roundRect">
            <a:avLst>
              <a:gd name="adj" fmla="val 3478"/>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05" name="Shape 12"/>
          <p:cNvSpPr/>
          <p:nvPr/>
        </p:nvSpPr>
        <p:spPr>
          <a:xfrm>
            <a:off x="8302680" y="2084760"/>
            <a:ext cx="548280" cy="54828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06" name="Image 3" descr="/home/claude/deck/icons/target_blue.png"/>
          <p:cNvPicPr/>
          <p:nvPr/>
        </p:nvPicPr>
        <p:blipFill>
          <a:blip r:embed="rId4"/>
          <a:stretch/>
        </p:blipFill>
        <p:spPr>
          <a:xfrm>
            <a:off x="8373960" y="2156040"/>
            <a:ext cx="405720" cy="405720"/>
          </a:xfrm>
          <a:prstGeom prst="rect">
            <a:avLst/>
          </a:prstGeom>
          <a:ln w="0">
            <a:noFill/>
          </a:ln>
        </p:spPr>
      </p:pic>
      <p:sp>
        <p:nvSpPr>
          <p:cNvPr id="107" name="Text 13"/>
          <p:cNvSpPr/>
          <p:nvPr/>
        </p:nvSpPr>
        <p:spPr>
          <a:xfrm>
            <a:off x="8302680" y="2724840"/>
            <a:ext cx="292572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Sin actor dominante</a:t>
            </a:r>
            <a:endParaRPr b="0" lang="es-ES" sz="1500" spc="-1" strike="noStrike">
              <a:solidFill>
                <a:srgbClr val="000000"/>
              </a:solidFill>
              <a:latin typeface="Arial"/>
            </a:endParaRPr>
          </a:p>
        </p:txBody>
      </p:sp>
      <p:sp>
        <p:nvSpPr>
          <p:cNvPr id="108" name="Text 14"/>
          <p:cNvSpPr/>
          <p:nvPr/>
        </p:nvSpPr>
        <p:spPr>
          <a:xfrm>
            <a:off x="8302680" y="3108960"/>
            <a:ext cx="29714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Ningún competidor en español combina IA vertical y cumplimiento fiscal local.</a:t>
            </a:r>
            <a:endParaRPr b="0" lang="es-ES" sz="1250" spc="-1" strike="noStrike">
              <a:solidFill>
                <a:srgbClr val="000000"/>
              </a:solidFill>
              <a:latin typeface="Arial"/>
            </a:endParaRPr>
          </a:p>
        </p:txBody>
      </p:sp>
      <p:sp>
        <p:nvSpPr>
          <p:cNvPr id="109" name="Shape 15"/>
          <p:cNvSpPr/>
          <p:nvPr/>
        </p:nvSpPr>
        <p:spPr>
          <a:xfrm>
            <a:off x="640080" y="4206240"/>
            <a:ext cx="10881000" cy="1737000"/>
          </a:xfrm>
          <a:prstGeom prst="roundRect">
            <a:avLst>
              <a:gd name="adj" fmla="val 4211"/>
            </a:avLst>
          </a:prstGeom>
          <a:solidFill>
            <a:srgbClr val="1c2535"/>
          </a:solidFill>
          <a:ln w="0">
            <a:noFill/>
          </a:ln>
        </p:spPr>
        <p:style>
          <a:lnRef idx="0"/>
          <a:fillRef idx="0"/>
          <a:effectRef idx="0"/>
          <a:fontRef idx="minor"/>
        </p:style>
        <p:txBody>
          <a:bodyPr lIns="90000" rIns="90000" tIns="45000" bIns="45000" anchor="t">
            <a:noAutofit/>
          </a:bodyPr>
          <a:p>
            <a:endParaRPr b="0" lang="es-ES" sz="1800" spc="-1" strike="noStrike">
              <a:solidFill>
                <a:srgbClr val="ffffff"/>
              </a:solidFill>
              <a:latin typeface="Arial"/>
            </a:endParaRPr>
          </a:p>
        </p:txBody>
      </p:sp>
      <p:sp>
        <p:nvSpPr>
          <p:cNvPr id="110" name="Text 16"/>
          <p:cNvSpPr/>
          <p:nvPr/>
        </p:nvSpPr>
        <p:spPr>
          <a:xfrm>
            <a:off x="1005840" y="4434840"/>
            <a:ext cx="2742840" cy="1005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4600" spc="-1" strike="noStrike">
                <a:solidFill>
                  <a:srgbClr val="c8922a"/>
                </a:solidFill>
                <a:latin typeface="Calibri"/>
              </a:rPr>
              <a:t>480 M€</a:t>
            </a:r>
            <a:endParaRPr b="0" lang="es-ES" sz="4600" spc="-1" strike="noStrike">
              <a:solidFill>
                <a:srgbClr val="000000"/>
              </a:solidFill>
              <a:latin typeface="Arial"/>
            </a:endParaRPr>
          </a:p>
        </p:txBody>
      </p:sp>
      <p:sp>
        <p:nvSpPr>
          <p:cNvPr id="111" name="Text 17"/>
          <p:cNvSpPr/>
          <p:nvPr/>
        </p:nvSpPr>
        <p:spPr>
          <a:xfrm>
            <a:off x="3840480" y="4434840"/>
            <a:ext cx="7406280" cy="11883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600" spc="-1" strike="noStrike">
                <a:solidFill>
                  <a:srgbClr val="ffffff"/>
                </a:solidFill>
                <a:latin typeface="Calibri"/>
              </a:rPr>
              <a:t>mercado servible estimado en España, con más del 80% del sector todavía sin digitalizar con IA.</a:t>
            </a:r>
            <a:endParaRPr b="0" lang="es-ES" sz="1600" spc="-1" strike="noStrike">
              <a:solidFill>
                <a:srgbClr val="000000"/>
              </a:solidFill>
              <a:latin typeface="Arial"/>
            </a:endParaRPr>
          </a:p>
        </p:txBody>
      </p:sp>
      <p:sp>
        <p:nvSpPr>
          <p:cNvPr id="112" name="Text 18"/>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113" name="Text 19"/>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4</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Shape 0"/>
          <p:cNvSpPr/>
          <p:nvPr/>
        </p:nvSpPr>
        <p:spPr>
          <a:xfrm>
            <a:off x="640080" y="594360"/>
            <a:ext cx="685440" cy="68544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15" name="Image 0" descr="/home/claude/deck/icons/mic.png"/>
          <p:cNvPicPr/>
          <p:nvPr/>
        </p:nvPicPr>
        <p:blipFill>
          <a:blip r:embed="rId1"/>
          <a:stretch/>
        </p:blipFill>
        <p:spPr>
          <a:xfrm>
            <a:off x="729360" y="683640"/>
            <a:ext cx="507240" cy="507240"/>
          </a:xfrm>
          <a:prstGeom prst="rect">
            <a:avLst/>
          </a:prstGeom>
          <a:ln w="0">
            <a:noFill/>
          </a:ln>
        </p:spPr>
      </p:pic>
      <p:sp>
        <p:nvSpPr>
          <p:cNvPr id="116"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1a5a96"/>
                </a:solidFill>
                <a:latin typeface="Calibri"/>
                <a:ea typeface="Calibri"/>
              </a:rPr>
              <a:t>05 · NUESTRA SOLUCIÓN</a:t>
            </a:r>
            <a:endParaRPr b="0" lang="es-ES" sz="1300" spc="-1" strike="noStrike">
              <a:solidFill>
                <a:srgbClr val="000000"/>
              </a:solidFill>
              <a:latin typeface="Arial"/>
            </a:endParaRPr>
          </a:p>
        </p:txBody>
      </p:sp>
      <p:sp>
        <p:nvSpPr>
          <p:cNvPr id="117" name="Text 2"/>
          <p:cNvSpPr/>
          <p:nvPr/>
        </p:nvSpPr>
        <p:spPr>
          <a:xfrm>
            <a:off x="1508760" y="567000"/>
            <a:ext cx="96008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De la voz al presupuesto, en 3 minutos</a:t>
            </a:r>
            <a:endParaRPr b="0" lang="es-ES" sz="3200" spc="-1" strike="noStrike">
              <a:solidFill>
                <a:srgbClr val="000000"/>
              </a:solidFill>
              <a:latin typeface="Arial"/>
            </a:endParaRPr>
          </a:p>
        </p:txBody>
      </p:sp>
      <p:sp>
        <p:nvSpPr>
          <p:cNvPr id="118" name="Shape 3"/>
          <p:cNvSpPr/>
          <p:nvPr/>
        </p:nvSpPr>
        <p:spPr>
          <a:xfrm>
            <a:off x="640080" y="2011680"/>
            <a:ext cx="2514240" cy="2468520"/>
          </a:xfrm>
          <a:prstGeom prst="roundRect">
            <a:avLst>
              <a:gd name="adj" fmla="val 2963"/>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19" name="Shape 4"/>
          <p:cNvSpPr/>
          <p:nvPr/>
        </p:nvSpPr>
        <p:spPr>
          <a:xfrm>
            <a:off x="1577520" y="228600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20" name="Image 1" descr="/home/claude/deck/icons/mic.png"/>
          <p:cNvPicPr/>
          <p:nvPr/>
        </p:nvPicPr>
        <p:blipFill>
          <a:blip r:embed="rId2"/>
          <a:stretch/>
        </p:blipFill>
        <p:spPr>
          <a:xfrm>
            <a:off x="1660680" y="2369160"/>
            <a:ext cx="473400" cy="473400"/>
          </a:xfrm>
          <a:prstGeom prst="rect">
            <a:avLst/>
          </a:prstGeom>
          <a:ln w="0">
            <a:noFill/>
          </a:ln>
        </p:spPr>
      </p:pic>
      <p:sp>
        <p:nvSpPr>
          <p:cNvPr id="121" name="Text 5"/>
          <p:cNvSpPr/>
          <p:nvPr/>
        </p:nvSpPr>
        <p:spPr>
          <a:xfrm>
            <a:off x="640080" y="3063240"/>
            <a:ext cx="2514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1c2535"/>
                </a:solidFill>
                <a:latin typeface="Calibri"/>
              </a:rPr>
              <a:t>Voz</a:t>
            </a:r>
            <a:endParaRPr b="0" lang="es-ES" sz="1600" spc="-1" strike="noStrike">
              <a:solidFill>
                <a:srgbClr val="000000"/>
              </a:solidFill>
              <a:latin typeface="Arial"/>
            </a:endParaRPr>
          </a:p>
        </p:txBody>
      </p:sp>
      <p:sp>
        <p:nvSpPr>
          <p:cNvPr id="122" name="Text 6"/>
          <p:cNvSpPr/>
          <p:nvPr/>
        </p:nvSpPr>
        <p:spPr>
          <a:xfrm>
            <a:off x="777240" y="3474720"/>
            <a:ext cx="22399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50" spc="-1" strike="noStrike">
                <a:solidFill>
                  <a:srgbClr val="6b7280"/>
                </a:solidFill>
                <a:latin typeface="Calibri"/>
              </a:rPr>
              <a:t>El instalador describe el trabajo, hablando, desde la obra</a:t>
            </a:r>
            <a:endParaRPr b="0" lang="es-ES" sz="1150" spc="-1" strike="noStrike">
              <a:solidFill>
                <a:srgbClr val="000000"/>
              </a:solidFill>
              <a:latin typeface="Arial"/>
            </a:endParaRPr>
          </a:p>
        </p:txBody>
      </p:sp>
      <p:sp>
        <p:nvSpPr>
          <p:cNvPr id="123" name="Text 7"/>
          <p:cNvSpPr/>
          <p:nvPr/>
        </p:nvSpPr>
        <p:spPr>
          <a:xfrm>
            <a:off x="3154680" y="2788920"/>
            <a:ext cx="22824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600" spc="-1" strike="noStrike">
                <a:solidFill>
                  <a:srgbClr val="c8922a"/>
                </a:solidFill>
                <a:latin typeface="Arial"/>
                <a:ea typeface="Arial"/>
              </a:rPr>
              <a:t>&gt;</a:t>
            </a:r>
            <a:endParaRPr b="0" lang="es-ES" sz="2600" spc="-1" strike="noStrike">
              <a:solidFill>
                <a:srgbClr val="000000"/>
              </a:solidFill>
              <a:latin typeface="Arial"/>
            </a:endParaRPr>
          </a:p>
        </p:txBody>
      </p:sp>
      <p:sp>
        <p:nvSpPr>
          <p:cNvPr id="124" name="Shape 8"/>
          <p:cNvSpPr/>
          <p:nvPr/>
        </p:nvSpPr>
        <p:spPr>
          <a:xfrm>
            <a:off x="3383280" y="2011680"/>
            <a:ext cx="2514240" cy="2468520"/>
          </a:xfrm>
          <a:prstGeom prst="roundRect">
            <a:avLst>
              <a:gd name="adj" fmla="val 2963"/>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25" name="Shape 9"/>
          <p:cNvSpPr/>
          <p:nvPr/>
        </p:nvSpPr>
        <p:spPr>
          <a:xfrm>
            <a:off x="4320720" y="228600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26" name="Image 2" descr="/home/claude/deck/icons/brain.png"/>
          <p:cNvPicPr/>
          <p:nvPr/>
        </p:nvPicPr>
        <p:blipFill>
          <a:blip r:embed="rId3"/>
          <a:stretch/>
        </p:blipFill>
        <p:spPr>
          <a:xfrm>
            <a:off x="4403880" y="2369160"/>
            <a:ext cx="473400" cy="473400"/>
          </a:xfrm>
          <a:prstGeom prst="rect">
            <a:avLst/>
          </a:prstGeom>
          <a:ln w="0">
            <a:noFill/>
          </a:ln>
        </p:spPr>
      </p:pic>
      <p:sp>
        <p:nvSpPr>
          <p:cNvPr id="127" name="Text 10"/>
          <p:cNvSpPr/>
          <p:nvPr/>
        </p:nvSpPr>
        <p:spPr>
          <a:xfrm>
            <a:off x="3383280" y="3063240"/>
            <a:ext cx="2514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1c2535"/>
                </a:solidFill>
                <a:latin typeface="Calibri"/>
              </a:rPr>
              <a:t>IA</a:t>
            </a:r>
            <a:endParaRPr b="0" lang="es-ES" sz="1600" spc="-1" strike="noStrike">
              <a:solidFill>
                <a:srgbClr val="000000"/>
              </a:solidFill>
              <a:latin typeface="Arial"/>
            </a:endParaRPr>
          </a:p>
        </p:txBody>
      </p:sp>
      <p:sp>
        <p:nvSpPr>
          <p:cNvPr id="128" name="Text 11"/>
          <p:cNvSpPr/>
          <p:nvPr/>
        </p:nvSpPr>
        <p:spPr>
          <a:xfrm>
            <a:off x="3520440" y="3474720"/>
            <a:ext cx="22399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50" spc="-1" strike="noStrike">
                <a:solidFill>
                  <a:srgbClr val="6b7280"/>
                </a:solidFill>
                <a:latin typeface="Calibri"/>
              </a:rPr>
              <a:t>Identifica el oficio y recupera el precio real de mercado</a:t>
            </a:r>
            <a:endParaRPr b="0" lang="es-ES" sz="1150" spc="-1" strike="noStrike">
              <a:solidFill>
                <a:srgbClr val="000000"/>
              </a:solidFill>
              <a:latin typeface="Arial"/>
            </a:endParaRPr>
          </a:p>
        </p:txBody>
      </p:sp>
      <p:sp>
        <p:nvSpPr>
          <p:cNvPr id="129" name="Text 12"/>
          <p:cNvSpPr/>
          <p:nvPr/>
        </p:nvSpPr>
        <p:spPr>
          <a:xfrm>
            <a:off x="5897880" y="2788920"/>
            <a:ext cx="22824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600" spc="-1" strike="noStrike">
                <a:solidFill>
                  <a:srgbClr val="c8922a"/>
                </a:solidFill>
                <a:latin typeface="Arial"/>
                <a:ea typeface="Arial"/>
              </a:rPr>
              <a:t>&gt;</a:t>
            </a:r>
            <a:endParaRPr b="0" lang="es-ES" sz="2600" spc="-1" strike="noStrike">
              <a:solidFill>
                <a:srgbClr val="000000"/>
              </a:solidFill>
              <a:latin typeface="Arial"/>
            </a:endParaRPr>
          </a:p>
        </p:txBody>
      </p:sp>
      <p:sp>
        <p:nvSpPr>
          <p:cNvPr id="130" name="Shape 13"/>
          <p:cNvSpPr/>
          <p:nvPr/>
        </p:nvSpPr>
        <p:spPr>
          <a:xfrm>
            <a:off x="6126480" y="2011680"/>
            <a:ext cx="2514240" cy="2468520"/>
          </a:xfrm>
          <a:prstGeom prst="roundRect">
            <a:avLst>
              <a:gd name="adj" fmla="val 2963"/>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31" name="Shape 14"/>
          <p:cNvSpPr/>
          <p:nvPr/>
        </p:nvSpPr>
        <p:spPr>
          <a:xfrm>
            <a:off x="7063920" y="228600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32" name="Image 3" descr="/home/claude/deck/icons/layer.png"/>
          <p:cNvPicPr/>
          <p:nvPr/>
        </p:nvPicPr>
        <p:blipFill>
          <a:blip r:embed="rId4"/>
          <a:stretch/>
        </p:blipFill>
        <p:spPr>
          <a:xfrm>
            <a:off x="7147080" y="2369160"/>
            <a:ext cx="473400" cy="473400"/>
          </a:xfrm>
          <a:prstGeom prst="rect">
            <a:avLst/>
          </a:prstGeom>
          <a:ln w="0">
            <a:noFill/>
          </a:ln>
        </p:spPr>
      </p:pic>
      <p:sp>
        <p:nvSpPr>
          <p:cNvPr id="133" name="Text 15"/>
          <p:cNvSpPr/>
          <p:nvPr/>
        </p:nvSpPr>
        <p:spPr>
          <a:xfrm>
            <a:off x="6126480" y="3063240"/>
            <a:ext cx="2514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1c2535"/>
                </a:solidFill>
                <a:latin typeface="Calibri"/>
              </a:rPr>
              <a:t>Presupuesto</a:t>
            </a:r>
            <a:endParaRPr b="0" lang="es-ES" sz="1600" spc="-1" strike="noStrike">
              <a:solidFill>
                <a:srgbClr val="000000"/>
              </a:solidFill>
              <a:latin typeface="Arial"/>
            </a:endParaRPr>
          </a:p>
        </p:txBody>
      </p:sp>
      <p:sp>
        <p:nvSpPr>
          <p:cNvPr id="134" name="Text 16"/>
          <p:cNvSpPr/>
          <p:nvPr/>
        </p:nvSpPr>
        <p:spPr>
          <a:xfrm>
            <a:off x="6263640" y="3474720"/>
            <a:ext cx="22399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50" spc="-1" strike="noStrike">
                <a:solidFill>
                  <a:srgbClr val="6b7280"/>
                </a:solidFill>
                <a:latin typeface="Calibri"/>
              </a:rPr>
              <a:t>Documento profesional estructurado, listo en minutos</a:t>
            </a:r>
            <a:endParaRPr b="0" lang="es-ES" sz="1150" spc="-1" strike="noStrike">
              <a:solidFill>
                <a:srgbClr val="000000"/>
              </a:solidFill>
              <a:latin typeface="Arial"/>
            </a:endParaRPr>
          </a:p>
        </p:txBody>
      </p:sp>
      <p:sp>
        <p:nvSpPr>
          <p:cNvPr id="135" name="Text 17"/>
          <p:cNvSpPr/>
          <p:nvPr/>
        </p:nvSpPr>
        <p:spPr>
          <a:xfrm>
            <a:off x="8641080" y="2788920"/>
            <a:ext cx="22824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600" spc="-1" strike="noStrike">
                <a:solidFill>
                  <a:srgbClr val="c8922a"/>
                </a:solidFill>
                <a:latin typeface="Arial"/>
                <a:ea typeface="Arial"/>
              </a:rPr>
              <a:t>&gt;</a:t>
            </a:r>
            <a:endParaRPr b="0" lang="es-ES" sz="2600" spc="-1" strike="noStrike">
              <a:solidFill>
                <a:srgbClr val="000000"/>
              </a:solidFill>
              <a:latin typeface="Arial"/>
            </a:endParaRPr>
          </a:p>
        </p:txBody>
      </p:sp>
      <p:sp>
        <p:nvSpPr>
          <p:cNvPr id="136" name="Shape 18"/>
          <p:cNvSpPr/>
          <p:nvPr/>
        </p:nvSpPr>
        <p:spPr>
          <a:xfrm>
            <a:off x="8869680" y="2011680"/>
            <a:ext cx="2514240" cy="2468520"/>
          </a:xfrm>
          <a:prstGeom prst="roundRect">
            <a:avLst>
              <a:gd name="adj" fmla="val 2963"/>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37" name="Shape 19"/>
          <p:cNvSpPr/>
          <p:nvPr/>
        </p:nvSpPr>
        <p:spPr>
          <a:xfrm>
            <a:off x="9807120" y="228600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38" name="Image 4" descr="/home/claude/deck/icons/whatsapp.png"/>
          <p:cNvPicPr/>
          <p:nvPr/>
        </p:nvPicPr>
        <p:blipFill>
          <a:blip r:embed="rId5"/>
          <a:stretch/>
        </p:blipFill>
        <p:spPr>
          <a:xfrm>
            <a:off x="9890280" y="2369160"/>
            <a:ext cx="473400" cy="473400"/>
          </a:xfrm>
          <a:prstGeom prst="rect">
            <a:avLst/>
          </a:prstGeom>
          <a:ln w="0">
            <a:noFill/>
          </a:ln>
        </p:spPr>
      </p:pic>
      <p:sp>
        <p:nvSpPr>
          <p:cNvPr id="139" name="Text 20"/>
          <p:cNvSpPr/>
          <p:nvPr/>
        </p:nvSpPr>
        <p:spPr>
          <a:xfrm>
            <a:off x="8869680" y="3063240"/>
            <a:ext cx="2514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1c2535"/>
                </a:solidFill>
                <a:latin typeface="Calibri"/>
              </a:rPr>
              <a:t>Envío y cobro</a:t>
            </a:r>
            <a:endParaRPr b="0" lang="es-ES" sz="1600" spc="-1" strike="noStrike">
              <a:solidFill>
                <a:srgbClr val="000000"/>
              </a:solidFill>
              <a:latin typeface="Arial"/>
            </a:endParaRPr>
          </a:p>
        </p:txBody>
      </p:sp>
      <p:sp>
        <p:nvSpPr>
          <p:cNvPr id="140" name="Text 21"/>
          <p:cNvSpPr/>
          <p:nvPr/>
        </p:nvSpPr>
        <p:spPr>
          <a:xfrm>
            <a:off x="9006840" y="3474720"/>
            <a:ext cx="2239920" cy="914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50" spc="-1" strike="noStrike">
                <a:solidFill>
                  <a:srgbClr val="6b7280"/>
                </a:solidFill>
                <a:latin typeface="Calibri"/>
              </a:rPr>
              <a:t>WhatsApp al cliente; factura legal tras la aceptación</a:t>
            </a:r>
            <a:endParaRPr b="0" lang="es-ES" sz="1150" spc="-1" strike="noStrike">
              <a:solidFill>
                <a:srgbClr val="000000"/>
              </a:solidFill>
              <a:latin typeface="Arial"/>
            </a:endParaRPr>
          </a:p>
        </p:txBody>
      </p:sp>
      <p:sp>
        <p:nvSpPr>
          <p:cNvPr id="141" name="Text 22"/>
          <p:cNvSpPr/>
          <p:nvPr/>
        </p:nvSpPr>
        <p:spPr>
          <a:xfrm>
            <a:off x="640080" y="4846320"/>
            <a:ext cx="1088100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400" spc="-1" strike="noStrike">
                <a:solidFill>
                  <a:srgbClr val="374151"/>
                </a:solidFill>
                <a:latin typeface="Calibri"/>
              </a:rPr>
              <a:t>Sin inventar nunca un precio: el sistema recupera información verificada de una base de conocimiento propia de más de 2.000 actuaciones de oficio.</a:t>
            </a:r>
            <a:endParaRPr b="0" lang="es-ES" sz="1400" spc="-1" strike="noStrike">
              <a:solidFill>
                <a:srgbClr val="000000"/>
              </a:solidFill>
              <a:latin typeface="Arial"/>
            </a:endParaRPr>
          </a:p>
        </p:txBody>
      </p:sp>
      <p:sp>
        <p:nvSpPr>
          <p:cNvPr id="142" name="Text 23"/>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143" name="Text 24"/>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5</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Shape 0"/>
          <p:cNvSpPr/>
          <p:nvPr/>
        </p:nvSpPr>
        <p:spPr>
          <a:xfrm>
            <a:off x="640080" y="594360"/>
            <a:ext cx="685440" cy="685440"/>
          </a:xfrm>
          <a:prstGeom prst="ellipse">
            <a:avLst/>
          </a:prstGeom>
          <a:solidFill>
            <a:srgbClr val="1c2535"/>
          </a:solidFill>
          <a:ln w="0">
            <a:noFill/>
          </a:ln>
        </p:spPr>
        <p:style>
          <a:lnRef idx="0"/>
          <a:fillRef idx="0"/>
          <a:effectRef idx="0"/>
          <a:fontRef idx="minor"/>
        </p:style>
        <p:txBody>
          <a:bodyPr lIns="90000" rIns="90000" tIns="45000" bIns="45000" anchor="t">
            <a:noAutofit/>
          </a:bodyPr>
          <a:p>
            <a:endParaRPr b="0" lang="es-ES" sz="1800" spc="-1" strike="noStrike">
              <a:solidFill>
                <a:srgbClr val="ffffff"/>
              </a:solidFill>
              <a:latin typeface="Arial"/>
            </a:endParaRPr>
          </a:p>
        </p:txBody>
      </p:sp>
      <p:pic>
        <p:nvPicPr>
          <p:cNvPr id="145" name="Image 0" descr="/home/claude/deck/icons/cloud.png"/>
          <p:cNvPicPr/>
          <p:nvPr/>
        </p:nvPicPr>
        <p:blipFill>
          <a:blip r:embed="rId1"/>
          <a:stretch/>
        </p:blipFill>
        <p:spPr>
          <a:xfrm>
            <a:off x="729360" y="683640"/>
            <a:ext cx="507240" cy="507240"/>
          </a:xfrm>
          <a:prstGeom prst="rect">
            <a:avLst/>
          </a:prstGeom>
          <a:ln w="0">
            <a:noFill/>
          </a:ln>
        </p:spPr>
      </p:pic>
      <p:sp>
        <p:nvSpPr>
          <p:cNvPr id="146"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1c2535"/>
                </a:solidFill>
                <a:latin typeface="Calibri"/>
                <a:ea typeface="Calibri"/>
              </a:rPr>
              <a:t>06 · TECNOLOGÍA</a:t>
            </a:r>
            <a:endParaRPr b="0" lang="es-ES" sz="1300" spc="-1" strike="noStrike">
              <a:solidFill>
                <a:srgbClr val="000000"/>
              </a:solidFill>
              <a:latin typeface="Arial"/>
            </a:endParaRPr>
          </a:p>
        </p:txBody>
      </p:sp>
      <p:sp>
        <p:nvSpPr>
          <p:cNvPr id="147" name="Text 2"/>
          <p:cNvSpPr/>
          <p:nvPr/>
        </p:nvSpPr>
        <p:spPr>
          <a:xfrm>
            <a:off x="1508760" y="567000"/>
            <a:ext cx="100580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000" spc="-1" strike="noStrike">
                <a:solidFill>
                  <a:srgbClr val="1c2535"/>
                </a:solidFill>
                <a:latin typeface="Cambria"/>
                <a:ea typeface="Cambria"/>
              </a:rPr>
              <a:t>Arquitectura cloud, IA de última generación</a:t>
            </a:r>
            <a:endParaRPr b="0" lang="es-ES" sz="3000" spc="-1" strike="noStrike">
              <a:solidFill>
                <a:srgbClr val="000000"/>
              </a:solidFill>
              <a:latin typeface="Arial"/>
            </a:endParaRPr>
          </a:p>
        </p:txBody>
      </p:sp>
      <p:sp>
        <p:nvSpPr>
          <p:cNvPr id="148" name="Shape 3"/>
          <p:cNvSpPr/>
          <p:nvPr/>
        </p:nvSpPr>
        <p:spPr>
          <a:xfrm>
            <a:off x="640080" y="1874520"/>
            <a:ext cx="5211720" cy="1691280"/>
          </a:xfrm>
          <a:prstGeom prst="roundRect">
            <a:avLst>
              <a:gd name="adj" fmla="val 432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49" name="Shape 4"/>
          <p:cNvSpPr/>
          <p:nvPr/>
        </p:nvSpPr>
        <p:spPr>
          <a:xfrm>
            <a:off x="914400" y="214884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50" name="Image 1" descr="/home/claude/deck/icons/network.png"/>
          <p:cNvPicPr/>
          <p:nvPr/>
        </p:nvPicPr>
        <p:blipFill>
          <a:blip r:embed="rId2"/>
          <a:stretch/>
        </p:blipFill>
        <p:spPr>
          <a:xfrm>
            <a:off x="997560" y="2232000"/>
            <a:ext cx="473400" cy="473400"/>
          </a:xfrm>
          <a:prstGeom prst="rect">
            <a:avLst/>
          </a:prstGeom>
          <a:ln w="0">
            <a:noFill/>
          </a:ln>
        </p:spPr>
      </p:pic>
      <p:sp>
        <p:nvSpPr>
          <p:cNvPr id="151" name="Text 5"/>
          <p:cNvSpPr/>
          <p:nvPr/>
        </p:nvSpPr>
        <p:spPr>
          <a:xfrm>
            <a:off x="1737360" y="2130480"/>
            <a:ext cx="37486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c2535"/>
                </a:solidFill>
                <a:latin typeface="Calibri"/>
              </a:rPr>
              <a:t>Interfaz</a:t>
            </a:r>
            <a:endParaRPr b="0" lang="es-ES" sz="1600" spc="-1" strike="noStrike">
              <a:solidFill>
                <a:srgbClr val="000000"/>
              </a:solidFill>
              <a:latin typeface="Arial"/>
            </a:endParaRPr>
          </a:p>
        </p:txBody>
      </p:sp>
      <p:sp>
        <p:nvSpPr>
          <p:cNvPr id="152" name="Text 6"/>
          <p:cNvSpPr/>
          <p:nvPr/>
        </p:nvSpPr>
        <p:spPr>
          <a:xfrm>
            <a:off x="1737360" y="2532960"/>
            <a:ext cx="38401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React, TypeScript — aplicación web y móvil</a:t>
            </a:r>
            <a:endParaRPr b="0" lang="es-ES" sz="1250" spc="-1" strike="noStrike">
              <a:solidFill>
                <a:srgbClr val="000000"/>
              </a:solidFill>
              <a:latin typeface="Arial"/>
            </a:endParaRPr>
          </a:p>
        </p:txBody>
      </p:sp>
      <p:sp>
        <p:nvSpPr>
          <p:cNvPr id="153" name="Shape 7"/>
          <p:cNvSpPr/>
          <p:nvPr/>
        </p:nvSpPr>
        <p:spPr>
          <a:xfrm>
            <a:off x="6126480" y="1874520"/>
            <a:ext cx="5211720" cy="1691280"/>
          </a:xfrm>
          <a:prstGeom prst="roundRect">
            <a:avLst>
              <a:gd name="adj" fmla="val 432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54" name="Shape 8"/>
          <p:cNvSpPr/>
          <p:nvPr/>
        </p:nvSpPr>
        <p:spPr>
          <a:xfrm>
            <a:off x="6400800" y="214884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55" name="Image 2" descr="/home/claude/deck/icons/brain.png"/>
          <p:cNvPicPr/>
          <p:nvPr/>
        </p:nvPicPr>
        <p:blipFill>
          <a:blip r:embed="rId3"/>
          <a:stretch/>
        </p:blipFill>
        <p:spPr>
          <a:xfrm>
            <a:off x="6483960" y="2232000"/>
            <a:ext cx="473400" cy="473400"/>
          </a:xfrm>
          <a:prstGeom prst="rect">
            <a:avLst/>
          </a:prstGeom>
          <a:ln w="0">
            <a:noFill/>
          </a:ln>
        </p:spPr>
      </p:pic>
      <p:sp>
        <p:nvSpPr>
          <p:cNvPr id="156" name="Text 9"/>
          <p:cNvSpPr/>
          <p:nvPr/>
        </p:nvSpPr>
        <p:spPr>
          <a:xfrm>
            <a:off x="7223760" y="2130480"/>
            <a:ext cx="37486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c2535"/>
                </a:solidFill>
                <a:latin typeface="Calibri"/>
              </a:rPr>
              <a:t>Inteligencia artificial</a:t>
            </a:r>
            <a:endParaRPr b="0" lang="es-ES" sz="1600" spc="-1" strike="noStrike">
              <a:solidFill>
                <a:srgbClr val="000000"/>
              </a:solidFill>
              <a:latin typeface="Arial"/>
            </a:endParaRPr>
          </a:p>
        </p:txBody>
      </p:sp>
      <p:sp>
        <p:nvSpPr>
          <p:cNvPr id="157" name="Text 10"/>
          <p:cNvSpPr/>
          <p:nvPr/>
        </p:nvSpPr>
        <p:spPr>
          <a:xfrm>
            <a:off x="7223760" y="2532960"/>
            <a:ext cx="38401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Modelos Claude (Anthropic) + embeddings semánticos</a:t>
            </a:r>
            <a:endParaRPr b="0" lang="es-ES" sz="1250" spc="-1" strike="noStrike">
              <a:solidFill>
                <a:srgbClr val="000000"/>
              </a:solidFill>
              <a:latin typeface="Arial"/>
            </a:endParaRPr>
          </a:p>
        </p:txBody>
      </p:sp>
      <p:sp>
        <p:nvSpPr>
          <p:cNvPr id="158" name="Shape 11"/>
          <p:cNvSpPr/>
          <p:nvPr/>
        </p:nvSpPr>
        <p:spPr>
          <a:xfrm>
            <a:off x="640080" y="3840480"/>
            <a:ext cx="5211720" cy="1691280"/>
          </a:xfrm>
          <a:prstGeom prst="roundRect">
            <a:avLst>
              <a:gd name="adj" fmla="val 432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59" name="Shape 12"/>
          <p:cNvSpPr/>
          <p:nvPr/>
        </p:nvSpPr>
        <p:spPr>
          <a:xfrm>
            <a:off x="914400" y="411480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60" name="Image 3" descr="/home/claude/deck/icons/database.png"/>
          <p:cNvPicPr/>
          <p:nvPr/>
        </p:nvPicPr>
        <p:blipFill>
          <a:blip r:embed="rId4"/>
          <a:stretch/>
        </p:blipFill>
        <p:spPr>
          <a:xfrm>
            <a:off x="997560" y="4197960"/>
            <a:ext cx="473400" cy="473400"/>
          </a:xfrm>
          <a:prstGeom prst="rect">
            <a:avLst/>
          </a:prstGeom>
          <a:ln w="0">
            <a:noFill/>
          </a:ln>
        </p:spPr>
      </p:pic>
      <p:sp>
        <p:nvSpPr>
          <p:cNvPr id="161" name="Text 13"/>
          <p:cNvSpPr/>
          <p:nvPr/>
        </p:nvSpPr>
        <p:spPr>
          <a:xfrm>
            <a:off x="1737360" y="4096440"/>
            <a:ext cx="37486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c2535"/>
                </a:solidFill>
                <a:latin typeface="Calibri"/>
              </a:rPr>
              <a:t>Datos</a:t>
            </a:r>
            <a:endParaRPr b="0" lang="es-ES" sz="1600" spc="-1" strike="noStrike">
              <a:solidFill>
                <a:srgbClr val="000000"/>
              </a:solidFill>
              <a:latin typeface="Arial"/>
            </a:endParaRPr>
          </a:p>
        </p:txBody>
      </p:sp>
      <p:sp>
        <p:nvSpPr>
          <p:cNvPr id="162" name="Text 14"/>
          <p:cNvSpPr/>
          <p:nvPr/>
        </p:nvSpPr>
        <p:spPr>
          <a:xfrm>
            <a:off x="1737360" y="4498920"/>
            <a:ext cx="38401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Supabase — PostgreSQL y búsqueda vectorial</a:t>
            </a:r>
            <a:endParaRPr b="0" lang="es-ES" sz="1250" spc="-1" strike="noStrike">
              <a:solidFill>
                <a:srgbClr val="000000"/>
              </a:solidFill>
              <a:latin typeface="Arial"/>
            </a:endParaRPr>
          </a:p>
        </p:txBody>
      </p:sp>
      <p:sp>
        <p:nvSpPr>
          <p:cNvPr id="163" name="Shape 15"/>
          <p:cNvSpPr/>
          <p:nvPr/>
        </p:nvSpPr>
        <p:spPr>
          <a:xfrm>
            <a:off x="6126480" y="3840480"/>
            <a:ext cx="5211720" cy="1691280"/>
          </a:xfrm>
          <a:prstGeom prst="roundRect">
            <a:avLst>
              <a:gd name="adj" fmla="val 432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164" name="Shape 16"/>
          <p:cNvSpPr/>
          <p:nvPr/>
        </p:nvSpPr>
        <p:spPr>
          <a:xfrm>
            <a:off x="6400800" y="4114800"/>
            <a:ext cx="639720" cy="63972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65" name="Image 4" descr="/home/claude/deck/icons/bolt.png"/>
          <p:cNvPicPr/>
          <p:nvPr/>
        </p:nvPicPr>
        <p:blipFill>
          <a:blip r:embed="rId5"/>
          <a:stretch/>
        </p:blipFill>
        <p:spPr>
          <a:xfrm>
            <a:off x="6483960" y="4197960"/>
            <a:ext cx="473400" cy="473400"/>
          </a:xfrm>
          <a:prstGeom prst="rect">
            <a:avLst/>
          </a:prstGeom>
          <a:ln w="0">
            <a:noFill/>
          </a:ln>
        </p:spPr>
      </p:pic>
      <p:sp>
        <p:nvSpPr>
          <p:cNvPr id="166" name="Text 17"/>
          <p:cNvSpPr/>
          <p:nvPr/>
        </p:nvSpPr>
        <p:spPr>
          <a:xfrm>
            <a:off x="7223760" y="4096440"/>
            <a:ext cx="37486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c2535"/>
                </a:solidFill>
                <a:latin typeface="Calibri"/>
              </a:rPr>
              <a:t>Infraestructura</a:t>
            </a:r>
            <a:endParaRPr b="0" lang="es-ES" sz="1600" spc="-1" strike="noStrike">
              <a:solidFill>
                <a:srgbClr val="000000"/>
              </a:solidFill>
              <a:latin typeface="Arial"/>
            </a:endParaRPr>
          </a:p>
        </p:txBody>
      </p:sp>
      <p:sp>
        <p:nvSpPr>
          <p:cNvPr id="167" name="Text 18"/>
          <p:cNvSpPr/>
          <p:nvPr/>
        </p:nvSpPr>
        <p:spPr>
          <a:xfrm>
            <a:off x="7223760" y="4498920"/>
            <a:ext cx="384012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Funciones serverless, despliegue continuo (Vercel)</a:t>
            </a:r>
            <a:endParaRPr b="0" lang="es-ES" sz="1250" spc="-1" strike="noStrike">
              <a:solidFill>
                <a:srgbClr val="000000"/>
              </a:solidFill>
              <a:latin typeface="Arial"/>
            </a:endParaRPr>
          </a:p>
        </p:txBody>
      </p:sp>
      <p:sp>
        <p:nvSpPr>
          <p:cNvPr id="168" name="Text 19"/>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169" name="Text 20"/>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6</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0" name="Shape 0"/>
          <p:cNvSpPr/>
          <p:nvPr/>
        </p:nvSpPr>
        <p:spPr>
          <a:xfrm>
            <a:off x="640080" y="594360"/>
            <a:ext cx="685440" cy="685440"/>
          </a:xfrm>
          <a:prstGeom prst="ellipse">
            <a:avLst/>
          </a:prstGeom>
          <a:solidFill>
            <a:srgbClr val="c8922a"/>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71" name="Image 0" descr="/home/claude/deck/icons/brain.png"/>
          <p:cNvPicPr/>
          <p:nvPr/>
        </p:nvPicPr>
        <p:blipFill>
          <a:blip r:embed="rId1"/>
          <a:stretch/>
        </p:blipFill>
        <p:spPr>
          <a:xfrm>
            <a:off x="729360" y="683640"/>
            <a:ext cx="507240" cy="507240"/>
          </a:xfrm>
          <a:prstGeom prst="rect">
            <a:avLst/>
          </a:prstGeom>
          <a:ln w="0">
            <a:noFill/>
          </a:ln>
        </p:spPr>
      </p:pic>
      <p:sp>
        <p:nvSpPr>
          <p:cNvPr id="172"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c8922a"/>
                </a:solidFill>
                <a:latin typeface="Calibri"/>
                <a:ea typeface="Calibri"/>
              </a:rPr>
              <a:t>07 · INNOVACIÓN</a:t>
            </a:r>
            <a:endParaRPr b="0" lang="es-ES" sz="1300" spc="-1" strike="noStrike">
              <a:solidFill>
                <a:srgbClr val="000000"/>
              </a:solidFill>
              <a:latin typeface="Arial"/>
            </a:endParaRPr>
          </a:p>
        </p:txBody>
      </p:sp>
      <p:sp>
        <p:nvSpPr>
          <p:cNvPr id="173"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Qué hace único al proyecto</a:t>
            </a:r>
            <a:endParaRPr b="0" lang="es-ES" sz="3200" spc="-1" strike="noStrike">
              <a:solidFill>
                <a:srgbClr val="000000"/>
              </a:solidFill>
              <a:latin typeface="Arial"/>
            </a:endParaRPr>
          </a:p>
        </p:txBody>
      </p:sp>
      <p:sp>
        <p:nvSpPr>
          <p:cNvPr id="174" name="Shape 3"/>
          <p:cNvSpPr/>
          <p:nvPr/>
        </p:nvSpPr>
        <p:spPr>
          <a:xfrm>
            <a:off x="640080" y="1965960"/>
            <a:ext cx="594000" cy="594000"/>
          </a:xfrm>
          <a:prstGeom prst="ellipse">
            <a:avLst/>
          </a:prstGeom>
          <a:solidFill>
            <a:srgbClr val="fbf1e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75" name="Image 1" descr="/home/claude/deck/icons/shield_gold.png"/>
          <p:cNvPicPr/>
          <p:nvPr/>
        </p:nvPicPr>
        <p:blipFill>
          <a:blip r:embed="rId2"/>
          <a:stretch/>
        </p:blipFill>
        <p:spPr>
          <a:xfrm>
            <a:off x="717480" y="2043360"/>
            <a:ext cx="439560" cy="439560"/>
          </a:xfrm>
          <a:prstGeom prst="rect">
            <a:avLst/>
          </a:prstGeom>
          <a:ln w="0">
            <a:noFill/>
          </a:ln>
        </p:spPr>
      </p:pic>
      <p:sp>
        <p:nvSpPr>
          <p:cNvPr id="176" name="Text 4"/>
          <p:cNvSpPr/>
          <p:nvPr/>
        </p:nvSpPr>
        <p:spPr>
          <a:xfrm>
            <a:off x="1417320" y="1874520"/>
            <a:ext cx="448020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50" spc="-1" strike="noStrike">
                <a:solidFill>
                  <a:srgbClr val="1c2535"/>
                </a:solidFill>
                <a:latin typeface="Calibri"/>
              </a:rPr>
              <a:t>IA gobernada, no generativa libre</a:t>
            </a:r>
            <a:endParaRPr b="0" lang="es-ES" sz="1550" spc="-1" strike="noStrike">
              <a:solidFill>
                <a:srgbClr val="000000"/>
              </a:solidFill>
              <a:latin typeface="Arial"/>
            </a:endParaRPr>
          </a:p>
        </p:txBody>
      </p:sp>
      <p:sp>
        <p:nvSpPr>
          <p:cNvPr id="177" name="Text 5"/>
          <p:cNvSpPr/>
          <p:nvPr/>
        </p:nvSpPr>
        <p:spPr>
          <a:xfrm>
            <a:off x="640080" y="2743200"/>
            <a:ext cx="51202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Recupera información verificada; nunca inventa un precio o una partida.</a:t>
            </a:r>
            <a:endParaRPr b="0" lang="es-ES" sz="1250" spc="-1" strike="noStrike">
              <a:solidFill>
                <a:srgbClr val="000000"/>
              </a:solidFill>
              <a:latin typeface="Arial"/>
            </a:endParaRPr>
          </a:p>
        </p:txBody>
      </p:sp>
      <p:sp>
        <p:nvSpPr>
          <p:cNvPr id="178" name="Shape 6"/>
          <p:cNvSpPr/>
          <p:nvPr/>
        </p:nvSpPr>
        <p:spPr>
          <a:xfrm>
            <a:off x="6126480" y="1965960"/>
            <a:ext cx="594000" cy="594000"/>
          </a:xfrm>
          <a:prstGeom prst="ellipse">
            <a:avLst/>
          </a:prstGeom>
          <a:solidFill>
            <a:srgbClr val="fbf1e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79" name="Image 2" descr="/home/claude/deck/icons/layer_gold.png"/>
          <p:cNvPicPr/>
          <p:nvPr/>
        </p:nvPicPr>
        <p:blipFill>
          <a:blip r:embed="rId3"/>
          <a:stretch/>
        </p:blipFill>
        <p:spPr>
          <a:xfrm>
            <a:off x="6203880" y="2043360"/>
            <a:ext cx="439560" cy="439560"/>
          </a:xfrm>
          <a:prstGeom prst="rect">
            <a:avLst/>
          </a:prstGeom>
          <a:ln w="0">
            <a:noFill/>
          </a:ln>
        </p:spPr>
      </p:pic>
      <p:sp>
        <p:nvSpPr>
          <p:cNvPr id="180" name="Text 7"/>
          <p:cNvSpPr/>
          <p:nvPr/>
        </p:nvSpPr>
        <p:spPr>
          <a:xfrm>
            <a:off x="6903720" y="1874520"/>
            <a:ext cx="448020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50" spc="-1" strike="noStrike">
                <a:solidFill>
                  <a:srgbClr val="1c2535"/>
                </a:solidFill>
                <a:latin typeface="Calibri"/>
              </a:rPr>
              <a:t>Base de conocimiento propia</a:t>
            </a:r>
            <a:endParaRPr b="0" lang="es-ES" sz="1550" spc="-1" strike="noStrike">
              <a:solidFill>
                <a:srgbClr val="000000"/>
              </a:solidFill>
              <a:latin typeface="Arial"/>
            </a:endParaRPr>
          </a:p>
        </p:txBody>
      </p:sp>
      <p:sp>
        <p:nvSpPr>
          <p:cNvPr id="181" name="Text 8"/>
          <p:cNvSpPr/>
          <p:nvPr/>
        </p:nvSpPr>
        <p:spPr>
          <a:xfrm>
            <a:off x="6126480" y="2743200"/>
            <a:ext cx="51202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Más de 2.000 actuaciones normalizadas en 20 oficios técnicos.</a:t>
            </a:r>
            <a:endParaRPr b="0" lang="es-ES" sz="1250" spc="-1" strike="noStrike">
              <a:solidFill>
                <a:srgbClr val="000000"/>
              </a:solidFill>
              <a:latin typeface="Arial"/>
            </a:endParaRPr>
          </a:p>
        </p:txBody>
      </p:sp>
      <p:sp>
        <p:nvSpPr>
          <p:cNvPr id="182" name="Shape 9"/>
          <p:cNvSpPr/>
          <p:nvPr/>
        </p:nvSpPr>
        <p:spPr>
          <a:xfrm>
            <a:off x="640080" y="3931920"/>
            <a:ext cx="594000" cy="594000"/>
          </a:xfrm>
          <a:prstGeom prst="ellipse">
            <a:avLst/>
          </a:prstGeom>
          <a:solidFill>
            <a:srgbClr val="fbf1e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83" name="Image 3" descr="/home/claude/deck/icons/whatsapp_gold.png"/>
          <p:cNvPicPr/>
          <p:nvPr/>
        </p:nvPicPr>
        <p:blipFill>
          <a:blip r:embed="rId4"/>
          <a:stretch/>
        </p:blipFill>
        <p:spPr>
          <a:xfrm>
            <a:off x="717480" y="4009320"/>
            <a:ext cx="439560" cy="439560"/>
          </a:xfrm>
          <a:prstGeom prst="rect">
            <a:avLst/>
          </a:prstGeom>
          <a:ln w="0">
            <a:noFill/>
          </a:ln>
        </p:spPr>
      </p:pic>
      <p:sp>
        <p:nvSpPr>
          <p:cNvPr id="184" name="Text 10"/>
          <p:cNvSpPr/>
          <p:nvPr/>
        </p:nvSpPr>
        <p:spPr>
          <a:xfrm>
            <a:off x="1417320" y="3840480"/>
            <a:ext cx="448020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50" spc="-1" strike="noStrike">
                <a:solidFill>
                  <a:srgbClr val="1c2535"/>
                </a:solidFill>
                <a:latin typeface="Calibri"/>
              </a:rPr>
              <a:t>El canal que ya usa el instalador</a:t>
            </a:r>
            <a:endParaRPr b="0" lang="es-ES" sz="1550" spc="-1" strike="noStrike">
              <a:solidFill>
                <a:srgbClr val="000000"/>
              </a:solidFill>
              <a:latin typeface="Arial"/>
            </a:endParaRPr>
          </a:p>
        </p:txBody>
      </p:sp>
      <p:sp>
        <p:nvSpPr>
          <p:cNvPr id="185" name="Text 11"/>
          <p:cNvSpPr/>
          <p:nvPr/>
        </p:nvSpPr>
        <p:spPr>
          <a:xfrm>
            <a:off x="640080" y="4709160"/>
            <a:ext cx="51202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Flujo completo integrado en WhatsApp, sin curva de aprendizaje.</a:t>
            </a:r>
            <a:endParaRPr b="0" lang="es-ES" sz="1250" spc="-1" strike="noStrike">
              <a:solidFill>
                <a:srgbClr val="000000"/>
              </a:solidFill>
              <a:latin typeface="Arial"/>
            </a:endParaRPr>
          </a:p>
        </p:txBody>
      </p:sp>
      <p:sp>
        <p:nvSpPr>
          <p:cNvPr id="186" name="Shape 12"/>
          <p:cNvSpPr/>
          <p:nvPr/>
        </p:nvSpPr>
        <p:spPr>
          <a:xfrm>
            <a:off x="6126480" y="3931920"/>
            <a:ext cx="594000" cy="594000"/>
          </a:xfrm>
          <a:prstGeom prst="ellipse">
            <a:avLst/>
          </a:prstGeom>
          <a:solidFill>
            <a:srgbClr val="fbf1e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87" name="Image 4" descr="/home/claude/deck/icons/check_gold.png"/>
          <p:cNvPicPr/>
          <p:nvPr/>
        </p:nvPicPr>
        <p:blipFill>
          <a:blip r:embed="rId5"/>
          <a:stretch/>
        </p:blipFill>
        <p:spPr>
          <a:xfrm>
            <a:off x="6203880" y="4009320"/>
            <a:ext cx="439560" cy="439560"/>
          </a:xfrm>
          <a:prstGeom prst="rect">
            <a:avLst/>
          </a:prstGeom>
          <a:ln w="0">
            <a:noFill/>
          </a:ln>
        </p:spPr>
      </p:pic>
      <p:sp>
        <p:nvSpPr>
          <p:cNvPr id="188" name="Text 13"/>
          <p:cNvSpPr/>
          <p:nvPr/>
        </p:nvSpPr>
        <p:spPr>
          <a:xfrm>
            <a:off x="6903720" y="3840480"/>
            <a:ext cx="448020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50" spc="-1" strike="noStrike">
                <a:solidFill>
                  <a:srgbClr val="1c2535"/>
                </a:solidFill>
                <a:latin typeface="Calibri"/>
              </a:rPr>
              <a:t>Cumplimiento normativo de origen</a:t>
            </a:r>
            <a:endParaRPr b="0" lang="es-ES" sz="1550" spc="-1" strike="noStrike">
              <a:solidFill>
                <a:srgbClr val="000000"/>
              </a:solidFill>
              <a:latin typeface="Arial"/>
            </a:endParaRPr>
          </a:p>
        </p:txBody>
      </p:sp>
      <p:sp>
        <p:nvSpPr>
          <p:cNvPr id="189" name="Text 14"/>
          <p:cNvSpPr/>
          <p:nvPr/>
        </p:nvSpPr>
        <p:spPr>
          <a:xfrm>
            <a:off x="6126480" y="4709160"/>
            <a:ext cx="512028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50" spc="-1" strike="noStrike">
                <a:solidFill>
                  <a:srgbClr val="6b7280"/>
                </a:solidFill>
                <a:latin typeface="Calibri"/>
              </a:rPr>
              <a:t>Diseñado desde el inicio para la facturación VeriFactu.</a:t>
            </a:r>
            <a:endParaRPr b="0" lang="es-ES" sz="1250" spc="-1" strike="noStrike">
              <a:solidFill>
                <a:srgbClr val="000000"/>
              </a:solidFill>
              <a:latin typeface="Arial"/>
            </a:endParaRPr>
          </a:p>
        </p:txBody>
      </p:sp>
      <p:sp>
        <p:nvSpPr>
          <p:cNvPr id="190" name="Text 15"/>
          <p:cNvSpPr/>
          <p:nvPr/>
        </p:nvSpPr>
        <p:spPr>
          <a:xfrm>
            <a:off x="640080" y="5943600"/>
            <a:ext cx="1088100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i="1" lang="en-US" sz="1300" spc="-1" strike="noStrike">
                <a:solidFill>
                  <a:srgbClr val="1a5a96"/>
                </a:solidFill>
                <a:latin typeface="Calibri"/>
              </a:rPr>
              <a:t>93% de precisión validada · 400 consultas de prueba · 20 oficios distintos</a:t>
            </a:r>
            <a:endParaRPr b="0" lang="es-ES" sz="1300" spc="-1" strike="noStrike">
              <a:solidFill>
                <a:srgbClr val="000000"/>
              </a:solidFill>
              <a:latin typeface="Arial"/>
            </a:endParaRPr>
          </a:p>
        </p:txBody>
      </p:sp>
      <p:sp>
        <p:nvSpPr>
          <p:cNvPr id="191" name="Text 16"/>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192" name="Text 17"/>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7</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Shape 0"/>
          <p:cNvSpPr/>
          <p:nvPr/>
        </p:nvSpPr>
        <p:spPr>
          <a:xfrm>
            <a:off x="640080" y="594360"/>
            <a:ext cx="685440" cy="685440"/>
          </a:xfrm>
          <a:prstGeom prst="ellipse">
            <a:avLst/>
          </a:prstGeom>
          <a:solidFill>
            <a:srgbClr val="4a674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194" name="Image 0" descr="/home/claude/deck/icons/globe.png"/>
          <p:cNvPicPr/>
          <p:nvPr/>
        </p:nvPicPr>
        <p:blipFill>
          <a:blip r:embed="rId1"/>
          <a:stretch/>
        </p:blipFill>
        <p:spPr>
          <a:xfrm>
            <a:off x="729360" y="683640"/>
            <a:ext cx="507240" cy="507240"/>
          </a:xfrm>
          <a:prstGeom prst="rect">
            <a:avLst/>
          </a:prstGeom>
          <a:ln w="0">
            <a:noFill/>
          </a:ln>
        </p:spPr>
      </p:pic>
      <p:sp>
        <p:nvSpPr>
          <p:cNvPr id="195"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4a6741"/>
                </a:solidFill>
                <a:latin typeface="Calibri"/>
                <a:ea typeface="Calibri"/>
              </a:rPr>
              <a:t>08 · MERCADO</a:t>
            </a:r>
            <a:endParaRPr b="0" lang="es-ES" sz="1300" spc="-1" strike="noStrike">
              <a:solidFill>
                <a:srgbClr val="000000"/>
              </a:solidFill>
              <a:latin typeface="Arial"/>
            </a:endParaRPr>
          </a:p>
        </p:txBody>
      </p:sp>
      <p:sp>
        <p:nvSpPr>
          <p:cNvPr id="196"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Un mercado grande, mal servido</a:t>
            </a:r>
            <a:endParaRPr b="0" lang="es-ES" sz="3200" spc="-1" strike="noStrike">
              <a:solidFill>
                <a:srgbClr val="000000"/>
              </a:solidFill>
              <a:latin typeface="Arial"/>
            </a:endParaRPr>
          </a:p>
        </p:txBody>
      </p:sp>
      <p:graphicFrame>
        <p:nvGraphicFramePr>
          <p:cNvPr id="197" name="Chart 0"/>
          <p:cNvGraphicFramePr/>
          <p:nvPr/>
        </p:nvGraphicFramePr>
        <p:xfrm>
          <a:off x="640080" y="2103120"/>
          <a:ext cx="5760360" cy="3017160"/>
        </p:xfrm>
        <a:graphic>
          <a:graphicData uri="http://schemas.openxmlformats.org/drawingml/2006/chart">
            <c:chart xmlns:c="http://schemas.openxmlformats.org/drawingml/2006/chart" xmlns:r="http://schemas.openxmlformats.org/officeDocument/2006/relationships" r:id="rId2"/>
          </a:graphicData>
        </a:graphic>
      </p:graphicFrame>
      <p:sp>
        <p:nvSpPr>
          <p:cNvPr id="198" name="Text 3"/>
          <p:cNvSpPr/>
          <p:nvPr/>
        </p:nvSpPr>
        <p:spPr>
          <a:xfrm>
            <a:off x="640080" y="5349240"/>
            <a:ext cx="576036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050" spc="-1" strike="noStrike">
                <a:solidFill>
                  <a:srgbClr val="6b7280"/>
                </a:solidFill>
                <a:latin typeface="Calibri"/>
              </a:rPr>
              <a:t>El SOM (objetivo a 3 años) se muestra en la tarjeta inferior: es intencionadamente una fracción muy pequeña del TAM/SAM, coherente con un plan de crecimiento realista.</a:t>
            </a:r>
            <a:endParaRPr b="0" lang="es-ES" sz="1050" spc="-1" strike="noStrike">
              <a:solidFill>
                <a:srgbClr val="000000"/>
              </a:solidFill>
              <a:latin typeface="Arial"/>
            </a:endParaRPr>
          </a:p>
        </p:txBody>
      </p:sp>
      <p:sp>
        <p:nvSpPr>
          <p:cNvPr id="199" name="Shape 4"/>
          <p:cNvSpPr/>
          <p:nvPr/>
        </p:nvSpPr>
        <p:spPr>
          <a:xfrm>
            <a:off x="6720840" y="1920240"/>
            <a:ext cx="4800240" cy="1188360"/>
          </a:xfrm>
          <a:prstGeom prst="roundRect">
            <a:avLst>
              <a:gd name="adj" fmla="val 615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00" name="Text 5"/>
          <p:cNvSpPr/>
          <p:nvPr/>
        </p:nvSpPr>
        <p:spPr>
          <a:xfrm>
            <a:off x="6949440" y="2030040"/>
            <a:ext cx="109692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000" spc="-1" strike="noStrike">
                <a:solidFill>
                  <a:srgbClr val="1a5a96"/>
                </a:solidFill>
                <a:latin typeface="Calibri"/>
              </a:rPr>
              <a:t>TAM</a:t>
            </a:r>
            <a:endParaRPr b="0" lang="es-ES" sz="2000" spc="-1" strike="noStrike">
              <a:solidFill>
                <a:srgbClr val="000000"/>
              </a:solidFill>
              <a:latin typeface="Arial"/>
            </a:endParaRPr>
          </a:p>
        </p:txBody>
      </p:sp>
      <p:sp>
        <p:nvSpPr>
          <p:cNvPr id="201" name="Text 6"/>
          <p:cNvSpPr/>
          <p:nvPr/>
        </p:nvSpPr>
        <p:spPr>
          <a:xfrm>
            <a:off x="6949440" y="2450520"/>
            <a:ext cx="43887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c2535"/>
                </a:solidFill>
                <a:latin typeface="Calibri"/>
              </a:rPr>
              <a:t>2,75 M instaladores</a:t>
            </a:r>
            <a:endParaRPr b="0" lang="es-ES" sz="1400" spc="-1" strike="noStrike">
              <a:solidFill>
                <a:srgbClr val="000000"/>
              </a:solidFill>
              <a:latin typeface="Arial"/>
            </a:endParaRPr>
          </a:p>
        </p:txBody>
      </p:sp>
      <p:sp>
        <p:nvSpPr>
          <p:cNvPr id="202" name="Text 7"/>
          <p:cNvSpPr/>
          <p:nvPr/>
        </p:nvSpPr>
        <p:spPr>
          <a:xfrm>
            <a:off x="6949440" y="2761560"/>
            <a:ext cx="43887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6b7280"/>
                </a:solidFill>
                <a:latin typeface="Calibri"/>
              </a:rPr>
              <a:t>España + LATAM objetivo (México, Colombia, Chile)</a:t>
            </a:r>
            <a:endParaRPr b="0" lang="es-ES" sz="1100" spc="-1" strike="noStrike">
              <a:solidFill>
                <a:srgbClr val="000000"/>
              </a:solidFill>
              <a:latin typeface="Arial"/>
            </a:endParaRPr>
          </a:p>
        </p:txBody>
      </p:sp>
      <p:sp>
        <p:nvSpPr>
          <p:cNvPr id="203" name="Shape 8"/>
          <p:cNvSpPr/>
          <p:nvPr/>
        </p:nvSpPr>
        <p:spPr>
          <a:xfrm>
            <a:off x="6720840" y="3337560"/>
            <a:ext cx="4800240" cy="1188360"/>
          </a:xfrm>
          <a:prstGeom prst="roundRect">
            <a:avLst>
              <a:gd name="adj" fmla="val 615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04" name="Text 9"/>
          <p:cNvSpPr/>
          <p:nvPr/>
        </p:nvSpPr>
        <p:spPr>
          <a:xfrm>
            <a:off x="6949440" y="3447360"/>
            <a:ext cx="109692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000" spc="-1" strike="noStrike">
                <a:solidFill>
                  <a:srgbClr val="1a5a96"/>
                </a:solidFill>
                <a:latin typeface="Calibri"/>
              </a:rPr>
              <a:t>SAM</a:t>
            </a:r>
            <a:endParaRPr b="0" lang="es-ES" sz="2000" spc="-1" strike="noStrike">
              <a:solidFill>
                <a:srgbClr val="000000"/>
              </a:solidFill>
              <a:latin typeface="Arial"/>
            </a:endParaRPr>
          </a:p>
        </p:txBody>
      </p:sp>
      <p:sp>
        <p:nvSpPr>
          <p:cNvPr id="205" name="Text 10"/>
          <p:cNvSpPr/>
          <p:nvPr/>
        </p:nvSpPr>
        <p:spPr>
          <a:xfrm>
            <a:off x="6949440" y="3867840"/>
            <a:ext cx="43887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c2535"/>
                </a:solidFill>
                <a:latin typeface="Calibri"/>
              </a:rPr>
              <a:t>650.000+ / 480 M€</a:t>
            </a:r>
            <a:endParaRPr b="0" lang="es-ES" sz="1400" spc="-1" strike="noStrike">
              <a:solidFill>
                <a:srgbClr val="000000"/>
              </a:solidFill>
              <a:latin typeface="Arial"/>
            </a:endParaRPr>
          </a:p>
        </p:txBody>
      </p:sp>
      <p:sp>
        <p:nvSpPr>
          <p:cNvPr id="206" name="Text 11"/>
          <p:cNvSpPr/>
          <p:nvPr/>
        </p:nvSpPr>
        <p:spPr>
          <a:xfrm>
            <a:off x="6949440" y="4178880"/>
            <a:ext cx="43887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6b7280"/>
                </a:solidFill>
                <a:latin typeface="Calibri"/>
              </a:rPr>
              <a:t>Instaladores y microempresas en España</a:t>
            </a:r>
            <a:endParaRPr b="0" lang="es-ES" sz="1100" spc="-1" strike="noStrike">
              <a:solidFill>
                <a:srgbClr val="000000"/>
              </a:solidFill>
              <a:latin typeface="Arial"/>
            </a:endParaRPr>
          </a:p>
        </p:txBody>
      </p:sp>
      <p:sp>
        <p:nvSpPr>
          <p:cNvPr id="207" name="Shape 12"/>
          <p:cNvSpPr/>
          <p:nvPr/>
        </p:nvSpPr>
        <p:spPr>
          <a:xfrm>
            <a:off x="6720840" y="4754880"/>
            <a:ext cx="4800240" cy="1188360"/>
          </a:xfrm>
          <a:prstGeom prst="roundRect">
            <a:avLst>
              <a:gd name="adj" fmla="val 6154"/>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08" name="Text 13"/>
          <p:cNvSpPr/>
          <p:nvPr/>
        </p:nvSpPr>
        <p:spPr>
          <a:xfrm>
            <a:off x="6949440" y="4864680"/>
            <a:ext cx="109692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000" spc="-1" strike="noStrike">
                <a:solidFill>
                  <a:srgbClr val="1a5a96"/>
                </a:solidFill>
                <a:latin typeface="Calibri"/>
              </a:rPr>
              <a:t>SOM</a:t>
            </a:r>
            <a:endParaRPr b="0" lang="es-ES" sz="2000" spc="-1" strike="noStrike">
              <a:solidFill>
                <a:srgbClr val="000000"/>
              </a:solidFill>
              <a:latin typeface="Arial"/>
            </a:endParaRPr>
          </a:p>
        </p:txBody>
      </p:sp>
      <p:sp>
        <p:nvSpPr>
          <p:cNvPr id="209" name="Text 14"/>
          <p:cNvSpPr/>
          <p:nvPr/>
        </p:nvSpPr>
        <p:spPr>
          <a:xfrm>
            <a:off x="6949440" y="5285160"/>
            <a:ext cx="43887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1c2535"/>
                </a:solidFill>
                <a:latin typeface="Calibri"/>
              </a:rPr>
              <a:t>541 clientes / 318.000 €</a:t>
            </a:r>
            <a:endParaRPr b="0" lang="es-ES" sz="1400" spc="-1" strike="noStrike">
              <a:solidFill>
                <a:srgbClr val="000000"/>
              </a:solidFill>
              <a:latin typeface="Arial"/>
            </a:endParaRPr>
          </a:p>
        </p:txBody>
      </p:sp>
      <p:sp>
        <p:nvSpPr>
          <p:cNvPr id="210" name="Text 15"/>
          <p:cNvSpPr/>
          <p:nvPr/>
        </p:nvSpPr>
        <p:spPr>
          <a:xfrm>
            <a:off x="6949440" y="5596200"/>
            <a:ext cx="438876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00" spc="-1" strike="noStrike">
                <a:solidFill>
                  <a:srgbClr val="6b7280"/>
                </a:solidFill>
                <a:latin typeface="Calibri"/>
              </a:rPr>
              <a:t>Objetivo a 3 años, escenario base del modelo financiero</a:t>
            </a:r>
            <a:endParaRPr b="0" lang="es-ES" sz="1100" spc="-1" strike="noStrike">
              <a:solidFill>
                <a:srgbClr val="000000"/>
              </a:solidFill>
              <a:latin typeface="Arial"/>
            </a:endParaRPr>
          </a:p>
        </p:txBody>
      </p:sp>
      <p:sp>
        <p:nvSpPr>
          <p:cNvPr id="211" name="Text 16"/>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212" name="Text 17"/>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8</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 name="Shape 0"/>
          <p:cNvSpPr/>
          <p:nvPr/>
        </p:nvSpPr>
        <p:spPr>
          <a:xfrm>
            <a:off x="640080" y="594360"/>
            <a:ext cx="685440" cy="68544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14" name="Image 0" descr="/home/claude/deck/icons/euro.png"/>
          <p:cNvPicPr/>
          <p:nvPr/>
        </p:nvPicPr>
        <p:blipFill>
          <a:blip r:embed="rId1"/>
          <a:stretch/>
        </p:blipFill>
        <p:spPr>
          <a:xfrm>
            <a:off x="729360" y="683640"/>
            <a:ext cx="507240" cy="507240"/>
          </a:xfrm>
          <a:prstGeom prst="rect">
            <a:avLst/>
          </a:prstGeom>
          <a:ln w="0">
            <a:noFill/>
          </a:ln>
        </p:spPr>
      </p:pic>
      <p:sp>
        <p:nvSpPr>
          <p:cNvPr id="215"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1a5a96"/>
                </a:solidFill>
                <a:latin typeface="Calibri"/>
                <a:ea typeface="Calibri"/>
              </a:rPr>
              <a:t>09 · MODELO DE NEGOCIO</a:t>
            </a:r>
            <a:endParaRPr b="0" lang="es-ES" sz="1300" spc="-1" strike="noStrike">
              <a:solidFill>
                <a:srgbClr val="000000"/>
              </a:solidFill>
              <a:latin typeface="Arial"/>
            </a:endParaRPr>
          </a:p>
        </p:txBody>
      </p:sp>
      <p:sp>
        <p:nvSpPr>
          <p:cNvPr id="216" name="Text 2"/>
          <p:cNvSpPr/>
          <p:nvPr/>
        </p:nvSpPr>
        <p:spPr>
          <a:xfrm>
            <a:off x="1508760" y="567000"/>
            <a:ext cx="100580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800" spc="-1" strike="noStrike">
                <a:solidFill>
                  <a:srgbClr val="1c2535"/>
                </a:solidFill>
                <a:latin typeface="Cambria"/>
                <a:ea typeface="Cambria"/>
              </a:rPr>
              <a:t>SaaS recurrente, con recorrido de expansión</a:t>
            </a:r>
            <a:endParaRPr b="0" lang="es-ES" sz="2800" spc="-1" strike="noStrike">
              <a:solidFill>
                <a:srgbClr val="000000"/>
              </a:solidFill>
              <a:latin typeface="Arial"/>
            </a:endParaRPr>
          </a:p>
        </p:txBody>
      </p:sp>
      <p:sp>
        <p:nvSpPr>
          <p:cNvPr id="217" name="Shape 3"/>
          <p:cNvSpPr/>
          <p:nvPr/>
        </p:nvSpPr>
        <p:spPr>
          <a:xfrm>
            <a:off x="640080" y="1874520"/>
            <a:ext cx="3428640" cy="1828440"/>
          </a:xfrm>
          <a:prstGeom prst="roundRect">
            <a:avLst>
              <a:gd name="adj" fmla="val 4000"/>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18" name="Text 4"/>
          <p:cNvSpPr/>
          <p:nvPr/>
        </p:nvSpPr>
        <p:spPr>
          <a:xfrm>
            <a:off x="868680" y="2057400"/>
            <a:ext cx="301716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Profesional</a:t>
            </a:r>
            <a:endParaRPr b="0" lang="es-ES" sz="1500" spc="-1" strike="noStrike">
              <a:solidFill>
                <a:srgbClr val="000000"/>
              </a:solidFill>
              <a:latin typeface="Arial"/>
            </a:endParaRPr>
          </a:p>
        </p:txBody>
      </p:sp>
      <p:sp>
        <p:nvSpPr>
          <p:cNvPr id="219" name="Text 5"/>
          <p:cNvSpPr/>
          <p:nvPr/>
        </p:nvSpPr>
        <p:spPr>
          <a:xfrm>
            <a:off x="868680" y="2423160"/>
            <a:ext cx="301716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600" spc="-1" strike="noStrike">
                <a:solidFill>
                  <a:srgbClr val="1a5a96"/>
                </a:solidFill>
                <a:latin typeface="Calibri"/>
              </a:rPr>
              <a:t>49€/mes</a:t>
            </a:r>
            <a:endParaRPr b="0" lang="es-ES" sz="2600" spc="-1" strike="noStrike">
              <a:solidFill>
                <a:srgbClr val="000000"/>
              </a:solidFill>
              <a:latin typeface="Arial"/>
            </a:endParaRPr>
          </a:p>
        </p:txBody>
      </p:sp>
      <p:sp>
        <p:nvSpPr>
          <p:cNvPr id="220" name="Text 6"/>
          <p:cNvSpPr/>
          <p:nvPr/>
        </p:nvSpPr>
        <p:spPr>
          <a:xfrm>
            <a:off x="868680" y="3063240"/>
            <a:ext cx="301716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50" spc="-1" strike="noStrike">
                <a:solidFill>
                  <a:srgbClr val="6b7280"/>
                </a:solidFill>
                <a:latin typeface="Calibri"/>
              </a:rPr>
              <a:t>Presupuestos ilimitados, facturación, 1 usuario</a:t>
            </a:r>
            <a:endParaRPr b="0" lang="es-ES" sz="1150" spc="-1" strike="noStrike">
              <a:solidFill>
                <a:srgbClr val="000000"/>
              </a:solidFill>
              <a:latin typeface="Arial"/>
            </a:endParaRPr>
          </a:p>
        </p:txBody>
      </p:sp>
      <p:sp>
        <p:nvSpPr>
          <p:cNvPr id="221" name="Shape 7"/>
          <p:cNvSpPr/>
          <p:nvPr/>
        </p:nvSpPr>
        <p:spPr>
          <a:xfrm>
            <a:off x="4343400" y="1874520"/>
            <a:ext cx="3428640" cy="1828440"/>
          </a:xfrm>
          <a:prstGeom prst="roundRect">
            <a:avLst>
              <a:gd name="adj" fmla="val 4000"/>
            </a:avLst>
          </a:prstGeom>
          <a:solidFill>
            <a:srgbClr val="1c2535"/>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ffffff"/>
              </a:solidFill>
              <a:latin typeface="Arial"/>
            </a:endParaRPr>
          </a:p>
        </p:txBody>
      </p:sp>
      <p:sp>
        <p:nvSpPr>
          <p:cNvPr id="222" name="Text 8"/>
          <p:cNvSpPr/>
          <p:nvPr/>
        </p:nvSpPr>
        <p:spPr>
          <a:xfrm>
            <a:off x="4572000" y="2057400"/>
            <a:ext cx="301716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ffffff"/>
                </a:solidFill>
                <a:latin typeface="Calibri"/>
              </a:rPr>
              <a:t>Empresa</a:t>
            </a:r>
            <a:endParaRPr b="0" lang="es-ES" sz="1500" spc="-1" strike="noStrike">
              <a:solidFill>
                <a:srgbClr val="000000"/>
              </a:solidFill>
              <a:latin typeface="Arial"/>
            </a:endParaRPr>
          </a:p>
        </p:txBody>
      </p:sp>
      <p:sp>
        <p:nvSpPr>
          <p:cNvPr id="223" name="Text 9"/>
          <p:cNvSpPr/>
          <p:nvPr/>
        </p:nvSpPr>
        <p:spPr>
          <a:xfrm>
            <a:off x="4572000" y="2423160"/>
            <a:ext cx="301716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600" spc="-1" strike="noStrike">
                <a:solidFill>
                  <a:srgbClr val="c8922a"/>
                </a:solidFill>
                <a:latin typeface="Calibri"/>
              </a:rPr>
              <a:t>89€/mes</a:t>
            </a:r>
            <a:endParaRPr b="0" lang="es-ES" sz="2600" spc="-1" strike="noStrike">
              <a:solidFill>
                <a:srgbClr val="000000"/>
              </a:solidFill>
              <a:latin typeface="Arial"/>
            </a:endParaRPr>
          </a:p>
        </p:txBody>
      </p:sp>
      <p:sp>
        <p:nvSpPr>
          <p:cNvPr id="224" name="Text 10"/>
          <p:cNvSpPr/>
          <p:nvPr/>
        </p:nvSpPr>
        <p:spPr>
          <a:xfrm>
            <a:off x="4572000" y="3063240"/>
            <a:ext cx="301716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50" spc="-1" strike="noStrike">
                <a:solidFill>
                  <a:srgbClr val="cbd5e1"/>
                </a:solidFill>
                <a:latin typeface="Calibri"/>
              </a:rPr>
              <a:t>Hasta 5 usuarios, soporte prioritario</a:t>
            </a:r>
            <a:endParaRPr b="0" lang="es-ES" sz="1150" spc="-1" strike="noStrike">
              <a:solidFill>
                <a:srgbClr val="000000"/>
              </a:solidFill>
              <a:latin typeface="Arial"/>
            </a:endParaRPr>
          </a:p>
        </p:txBody>
      </p:sp>
      <p:sp>
        <p:nvSpPr>
          <p:cNvPr id="225" name="Shape 11"/>
          <p:cNvSpPr/>
          <p:nvPr/>
        </p:nvSpPr>
        <p:spPr>
          <a:xfrm>
            <a:off x="8046720" y="1874520"/>
            <a:ext cx="3428640" cy="1828440"/>
          </a:xfrm>
          <a:prstGeom prst="roundRect">
            <a:avLst>
              <a:gd name="adj" fmla="val 4000"/>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26" name="Text 12"/>
          <p:cNvSpPr/>
          <p:nvPr/>
        </p:nvSpPr>
        <p:spPr>
          <a:xfrm>
            <a:off x="8275320" y="2057400"/>
            <a:ext cx="301716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Empresa+</a:t>
            </a:r>
            <a:endParaRPr b="0" lang="es-ES" sz="1500" spc="-1" strike="noStrike">
              <a:solidFill>
                <a:srgbClr val="000000"/>
              </a:solidFill>
              <a:latin typeface="Arial"/>
            </a:endParaRPr>
          </a:p>
        </p:txBody>
      </p:sp>
      <p:sp>
        <p:nvSpPr>
          <p:cNvPr id="227" name="Text 13"/>
          <p:cNvSpPr/>
          <p:nvPr/>
        </p:nvSpPr>
        <p:spPr>
          <a:xfrm>
            <a:off x="8275320" y="2423160"/>
            <a:ext cx="301716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600" spc="-1" strike="noStrike">
                <a:solidFill>
                  <a:srgbClr val="1a5a96"/>
                </a:solidFill>
                <a:latin typeface="Calibri"/>
              </a:rPr>
              <a:t>179€/mes</a:t>
            </a:r>
            <a:endParaRPr b="0" lang="es-ES" sz="2600" spc="-1" strike="noStrike">
              <a:solidFill>
                <a:srgbClr val="000000"/>
              </a:solidFill>
              <a:latin typeface="Arial"/>
            </a:endParaRPr>
          </a:p>
        </p:txBody>
      </p:sp>
      <p:sp>
        <p:nvSpPr>
          <p:cNvPr id="228" name="Text 14"/>
          <p:cNvSpPr/>
          <p:nvPr/>
        </p:nvSpPr>
        <p:spPr>
          <a:xfrm>
            <a:off x="8275320" y="3063240"/>
            <a:ext cx="301716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150" spc="-1" strike="noStrike">
                <a:solidFill>
                  <a:srgbClr val="6b7280"/>
                </a:solidFill>
                <a:latin typeface="Calibri"/>
              </a:rPr>
              <a:t>Hasta 15 usuarios, funcionalidades avanzadas</a:t>
            </a:r>
            <a:endParaRPr b="0" lang="es-ES" sz="1150" spc="-1" strike="noStrike">
              <a:solidFill>
                <a:srgbClr val="000000"/>
              </a:solidFill>
              <a:latin typeface="Arial"/>
            </a:endParaRPr>
          </a:p>
        </p:txBody>
      </p:sp>
      <p:sp>
        <p:nvSpPr>
          <p:cNvPr id="229" name="Text 15"/>
          <p:cNvSpPr/>
          <p:nvPr/>
        </p:nvSpPr>
        <p:spPr>
          <a:xfrm>
            <a:off x="640080" y="3977640"/>
            <a:ext cx="73148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600" spc="-1" strike="noStrike">
                <a:solidFill>
                  <a:srgbClr val="1c2535"/>
                </a:solidFill>
                <a:latin typeface="Calibri"/>
              </a:rPr>
              <a:t>Vías de expansión de ingresos</a:t>
            </a:r>
            <a:endParaRPr b="0" lang="es-ES" sz="1600" spc="-1" strike="noStrike">
              <a:solidFill>
                <a:srgbClr val="000000"/>
              </a:solidFill>
              <a:latin typeface="Arial"/>
            </a:endParaRPr>
          </a:p>
        </p:txBody>
      </p:sp>
      <p:sp>
        <p:nvSpPr>
          <p:cNvPr id="230" name="Text 16"/>
          <p:cNvSpPr/>
          <p:nvPr/>
        </p:nvSpPr>
        <p:spPr>
          <a:xfrm>
            <a:off x="640080" y="4389120"/>
            <a:ext cx="7497720" cy="1279800"/>
          </a:xfrm>
          <a:prstGeom prst="rect">
            <a:avLst/>
          </a:prstGeom>
          <a:noFill/>
          <a:ln w="0">
            <a:noFill/>
          </a:ln>
        </p:spPr>
        <p:style>
          <a:lnRef idx="0"/>
          <a:fillRef idx="0"/>
          <a:effectRef idx="0"/>
          <a:fontRef idx="minor"/>
        </p:style>
        <p:txBody>
          <a:bodyPr lIns="90000" rIns="90000" tIns="45000" bIns="45000" anchor="ctr">
            <a:noAutofit/>
          </a:bodyPr>
          <a:p>
            <a:pPr marL="343080" indent="-343080">
              <a:lnSpc>
                <a:spcPct val="100000"/>
              </a:lnSpc>
              <a:spcAft>
                <a:spcPts val="601"/>
              </a:spcAft>
              <a:buClr>
                <a:srgbClr val="374151"/>
              </a:buClr>
              <a:buFont typeface="Symbol" charset="2"/>
              <a:buChar char=""/>
            </a:pPr>
            <a:r>
              <a:rPr b="0" lang="en-US" sz="1400" spc="-1" strike="noStrike">
                <a:solidFill>
                  <a:srgbClr val="374151"/>
                </a:solidFill>
                <a:latin typeface="Calibri"/>
              </a:rPr>
              <a:t>Comisión de marketplace de proveedores integrados</a:t>
            </a:r>
            <a:endParaRPr b="0" lang="es-ES" sz="1400" spc="-1" strike="noStrike">
              <a:solidFill>
                <a:srgbClr val="000000"/>
              </a:solidFill>
              <a:latin typeface="Arial"/>
            </a:endParaRPr>
          </a:p>
          <a:p>
            <a:pPr marL="343080" indent="-343080">
              <a:lnSpc>
                <a:spcPct val="100000"/>
              </a:lnSpc>
              <a:spcAft>
                <a:spcPts val="601"/>
              </a:spcAft>
              <a:buClr>
                <a:srgbClr val="374151"/>
              </a:buClr>
              <a:buFont typeface="Symbol" charset="2"/>
              <a:buChar char=""/>
            </a:pPr>
            <a:r>
              <a:rPr b="0" lang="en-US" sz="1400" spc="-1" strike="noStrike">
                <a:solidFill>
                  <a:srgbClr val="374151"/>
                </a:solidFill>
                <a:latin typeface="Calibri"/>
              </a:rPr>
              <a:t>Financiación embebida para compra de materiales</a:t>
            </a:r>
            <a:endParaRPr b="0" lang="es-ES" sz="1400" spc="-1" strike="noStrike">
              <a:solidFill>
                <a:srgbClr val="000000"/>
              </a:solidFill>
              <a:latin typeface="Arial"/>
            </a:endParaRPr>
          </a:p>
          <a:p>
            <a:pPr marL="343080" indent="-343080">
              <a:lnSpc>
                <a:spcPct val="100000"/>
              </a:lnSpc>
              <a:spcAft>
                <a:spcPts val="601"/>
              </a:spcAft>
              <a:buClr>
                <a:srgbClr val="374151"/>
              </a:buClr>
              <a:buFont typeface="Symbol" charset="2"/>
              <a:buChar char=""/>
            </a:pPr>
            <a:r>
              <a:rPr b="0" lang="en-US" sz="1400" spc="-1" strike="noStrike">
                <a:solidFill>
                  <a:srgbClr val="374151"/>
                </a:solidFill>
                <a:latin typeface="Calibri"/>
              </a:rPr>
              <a:t>Módulos premium de automatización e integraciones ERP</a:t>
            </a:r>
            <a:endParaRPr b="0" lang="es-ES" sz="1400" spc="-1" strike="noStrike">
              <a:solidFill>
                <a:srgbClr val="000000"/>
              </a:solidFill>
              <a:latin typeface="Arial"/>
            </a:endParaRPr>
          </a:p>
        </p:txBody>
      </p:sp>
      <p:sp>
        <p:nvSpPr>
          <p:cNvPr id="231" name="Shape 17"/>
          <p:cNvSpPr/>
          <p:nvPr/>
        </p:nvSpPr>
        <p:spPr>
          <a:xfrm>
            <a:off x="9052560" y="4114800"/>
            <a:ext cx="1919880" cy="1919880"/>
          </a:xfrm>
          <a:prstGeom prst="ellipse">
            <a:avLst/>
          </a:prstGeom>
          <a:solidFill>
            <a:srgbClr val="eaf1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32" name="Image 1" descr="/home/claude/deck/icons/layer_blue.png"/>
          <p:cNvPicPr/>
          <p:nvPr/>
        </p:nvPicPr>
        <p:blipFill>
          <a:blip r:embed="rId2"/>
          <a:stretch/>
        </p:blipFill>
        <p:spPr>
          <a:xfrm>
            <a:off x="9302040" y="4364280"/>
            <a:ext cx="1420560" cy="1420560"/>
          </a:xfrm>
          <a:prstGeom prst="rect">
            <a:avLst/>
          </a:prstGeom>
          <a:ln w="0">
            <a:noFill/>
          </a:ln>
        </p:spPr>
      </p:pic>
      <p:sp>
        <p:nvSpPr>
          <p:cNvPr id="233" name="Text 18"/>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234" name="Text 19"/>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9</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5" name="Shape 0"/>
          <p:cNvSpPr/>
          <p:nvPr/>
        </p:nvSpPr>
        <p:spPr>
          <a:xfrm>
            <a:off x="640080" y="594360"/>
            <a:ext cx="685440" cy="685440"/>
          </a:xfrm>
          <a:prstGeom prst="ellipse">
            <a:avLst/>
          </a:prstGeom>
          <a:solidFill>
            <a:srgbClr val="b84e35"/>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36" name="Image 0" descr="/home/claude/deck/icons/road.png"/>
          <p:cNvPicPr/>
          <p:nvPr/>
        </p:nvPicPr>
        <p:blipFill>
          <a:blip r:embed="rId1"/>
          <a:stretch/>
        </p:blipFill>
        <p:spPr>
          <a:xfrm>
            <a:off x="729360" y="683640"/>
            <a:ext cx="507240" cy="507240"/>
          </a:xfrm>
          <a:prstGeom prst="rect">
            <a:avLst/>
          </a:prstGeom>
          <a:ln w="0">
            <a:noFill/>
          </a:ln>
        </p:spPr>
      </p:pic>
      <p:sp>
        <p:nvSpPr>
          <p:cNvPr id="237"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b84e35"/>
                </a:solidFill>
                <a:latin typeface="Calibri"/>
                <a:ea typeface="Calibri"/>
              </a:rPr>
              <a:t>10 · ROADMAP</a:t>
            </a:r>
            <a:endParaRPr b="0" lang="es-ES" sz="1300" spc="-1" strike="noStrike">
              <a:solidFill>
                <a:srgbClr val="000000"/>
              </a:solidFill>
              <a:latin typeface="Arial"/>
            </a:endParaRPr>
          </a:p>
        </p:txBody>
      </p:sp>
      <p:sp>
        <p:nvSpPr>
          <p:cNvPr id="238"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Roadmap de escalado</a:t>
            </a:r>
            <a:endParaRPr b="0" lang="es-ES" sz="3200" spc="-1" strike="noStrike">
              <a:solidFill>
                <a:srgbClr val="000000"/>
              </a:solidFill>
              <a:latin typeface="Arial"/>
            </a:endParaRPr>
          </a:p>
        </p:txBody>
      </p:sp>
      <p:sp>
        <p:nvSpPr>
          <p:cNvPr id="239" name="Shape 3"/>
          <p:cNvSpPr/>
          <p:nvPr/>
        </p:nvSpPr>
        <p:spPr>
          <a:xfrm>
            <a:off x="640080" y="3017520"/>
            <a:ext cx="10881360" cy="360"/>
          </a:xfrm>
          <a:prstGeom prst="line">
            <a:avLst/>
          </a:prstGeom>
          <a:ln w="25400">
            <a:solidFill>
              <a:srgbClr val="d1d5db"/>
            </a:solidFill>
            <a:round/>
          </a:ln>
        </p:spPr>
        <p:style>
          <a:lnRef idx="0"/>
          <a:fillRef idx="0"/>
          <a:effectRef idx="0"/>
          <a:fontRef idx="minor"/>
        </p:style>
        <p:txBody>
          <a:bodyPr lIns="90000" rIns="90000" tIns="45000" bIns="45000" anchor="t" anchorCtr="1">
            <a:noAutofit/>
          </a:bodyPr>
          <a:p>
            <a:endParaRPr b="0" lang="es-ES" sz="1800" spc="-1" strike="noStrike">
              <a:solidFill>
                <a:srgbClr val="000000"/>
              </a:solidFill>
              <a:latin typeface="Arial"/>
            </a:endParaRPr>
          </a:p>
        </p:txBody>
      </p:sp>
      <p:sp>
        <p:nvSpPr>
          <p:cNvPr id="240" name="Shape 4"/>
          <p:cNvSpPr/>
          <p:nvPr/>
        </p:nvSpPr>
        <p:spPr>
          <a:xfrm>
            <a:off x="1472040" y="2761560"/>
            <a:ext cx="511560" cy="511560"/>
          </a:xfrm>
          <a:prstGeom prst="ellipse">
            <a:avLst/>
          </a:prstGeom>
          <a:solidFill>
            <a:srgbClr val="c8922a"/>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41" name="Text 5"/>
          <p:cNvSpPr/>
          <p:nvPr/>
        </p:nvSpPr>
        <p:spPr>
          <a:xfrm>
            <a:off x="1472040" y="2761560"/>
            <a:ext cx="511560" cy="511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ffffff"/>
                </a:solidFill>
                <a:latin typeface="Calibri"/>
              </a:rPr>
              <a:t>1</a:t>
            </a:r>
            <a:endParaRPr b="0" lang="es-ES" sz="1600" spc="-1" strike="noStrike">
              <a:solidFill>
                <a:srgbClr val="000000"/>
              </a:solidFill>
              <a:latin typeface="Arial"/>
            </a:endParaRPr>
          </a:p>
        </p:txBody>
      </p:sp>
      <p:sp>
        <p:nvSpPr>
          <p:cNvPr id="242" name="Text 6"/>
          <p:cNvSpPr/>
          <p:nvPr/>
        </p:nvSpPr>
        <p:spPr>
          <a:xfrm>
            <a:off x="731520" y="3429000"/>
            <a:ext cx="199296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1c2535"/>
                </a:solidFill>
                <a:latin typeface="Calibri"/>
              </a:rPr>
              <a:t>España</a:t>
            </a:r>
            <a:endParaRPr b="0" lang="es-ES" sz="1400" spc="-1" strike="noStrike">
              <a:solidFill>
                <a:srgbClr val="000000"/>
              </a:solidFill>
              <a:latin typeface="Arial"/>
            </a:endParaRPr>
          </a:p>
        </p:txBody>
      </p:sp>
      <p:sp>
        <p:nvSpPr>
          <p:cNvPr id="243" name="Text 7"/>
          <p:cNvSpPr/>
          <p:nvPr/>
        </p:nvSpPr>
        <p:spPr>
          <a:xfrm>
            <a:off x="731520" y="3840480"/>
            <a:ext cx="1992960" cy="1096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Product-Market Fit, beta con instaladores reales</a:t>
            </a:r>
            <a:endParaRPr b="0" lang="es-ES" sz="1100" spc="-1" strike="noStrike">
              <a:solidFill>
                <a:srgbClr val="000000"/>
              </a:solidFill>
              <a:latin typeface="Arial"/>
            </a:endParaRPr>
          </a:p>
        </p:txBody>
      </p:sp>
      <p:sp>
        <p:nvSpPr>
          <p:cNvPr id="244" name="Shape 8"/>
          <p:cNvSpPr/>
          <p:nvPr/>
        </p:nvSpPr>
        <p:spPr>
          <a:xfrm>
            <a:off x="3648600" y="2761560"/>
            <a:ext cx="511560" cy="51156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45" name="Text 9"/>
          <p:cNvSpPr/>
          <p:nvPr/>
        </p:nvSpPr>
        <p:spPr>
          <a:xfrm>
            <a:off x="3648600" y="2761560"/>
            <a:ext cx="511560" cy="511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ffffff"/>
                </a:solidFill>
                <a:latin typeface="Calibri"/>
              </a:rPr>
              <a:t>2</a:t>
            </a:r>
            <a:endParaRPr b="0" lang="es-ES" sz="1600" spc="-1" strike="noStrike">
              <a:solidFill>
                <a:srgbClr val="000000"/>
              </a:solidFill>
              <a:latin typeface="Arial"/>
            </a:endParaRPr>
          </a:p>
        </p:txBody>
      </p:sp>
      <p:sp>
        <p:nvSpPr>
          <p:cNvPr id="246" name="Text 10"/>
          <p:cNvSpPr/>
          <p:nvPr/>
        </p:nvSpPr>
        <p:spPr>
          <a:xfrm>
            <a:off x="2907720" y="3429000"/>
            <a:ext cx="199296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1c2535"/>
                </a:solidFill>
                <a:latin typeface="Calibri"/>
              </a:rPr>
              <a:t>Asociaciones</a:t>
            </a:r>
            <a:endParaRPr b="0" lang="es-ES" sz="1400" spc="-1" strike="noStrike">
              <a:solidFill>
                <a:srgbClr val="000000"/>
              </a:solidFill>
              <a:latin typeface="Arial"/>
            </a:endParaRPr>
          </a:p>
        </p:txBody>
      </p:sp>
      <p:sp>
        <p:nvSpPr>
          <p:cNvPr id="247" name="Text 11"/>
          <p:cNvSpPr/>
          <p:nvPr/>
        </p:nvSpPr>
        <p:spPr>
          <a:xfrm>
            <a:off x="2907720" y="3840480"/>
            <a:ext cx="1992960" cy="1096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CONAIF y FENIE como canal de confianza</a:t>
            </a:r>
            <a:endParaRPr b="0" lang="es-ES" sz="1100" spc="-1" strike="noStrike">
              <a:solidFill>
                <a:srgbClr val="000000"/>
              </a:solidFill>
              <a:latin typeface="Arial"/>
            </a:endParaRPr>
          </a:p>
        </p:txBody>
      </p:sp>
      <p:sp>
        <p:nvSpPr>
          <p:cNvPr id="248" name="Shape 12"/>
          <p:cNvSpPr/>
          <p:nvPr/>
        </p:nvSpPr>
        <p:spPr>
          <a:xfrm>
            <a:off x="5824800" y="2761560"/>
            <a:ext cx="511560" cy="51156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49" name="Text 13"/>
          <p:cNvSpPr/>
          <p:nvPr/>
        </p:nvSpPr>
        <p:spPr>
          <a:xfrm>
            <a:off x="5824800" y="2761560"/>
            <a:ext cx="511560" cy="511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ffffff"/>
                </a:solidFill>
                <a:latin typeface="Calibri"/>
              </a:rPr>
              <a:t>3</a:t>
            </a:r>
            <a:endParaRPr b="0" lang="es-ES" sz="1600" spc="-1" strike="noStrike">
              <a:solidFill>
                <a:srgbClr val="000000"/>
              </a:solidFill>
              <a:latin typeface="Arial"/>
            </a:endParaRPr>
          </a:p>
        </p:txBody>
      </p:sp>
      <p:sp>
        <p:nvSpPr>
          <p:cNvPr id="250" name="Text 14"/>
          <p:cNvSpPr/>
          <p:nvPr/>
        </p:nvSpPr>
        <p:spPr>
          <a:xfrm>
            <a:off x="5083920" y="3429000"/>
            <a:ext cx="199296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1c2535"/>
                </a:solidFill>
                <a:latin typeface="Calibri"/>
              </a:rPr>
              <a:t>Marketplace</a:t>
            </a:r>
            <a:endParaRPr b="0" lang="es-ES" sz="1400" spc="-1" strike="noStrike">
              <a:solidFill>
                <a:srgbClr val="000000"/>
              </a:solidFill>
              <a:latin typeface="Arial"/>
            </a:endParaRPr>
          </a:p>
        </p:txBody>
      </p:sp>
      <p:sp>
        <p:nvSpPr>
          <p:cNvPr id="251" name="Text 15"/>
          <p:cNvSpPr/>
          <p:nvPr/>
        </p:nvSpPr>
        <p:spPr>
          <a:xfrm>
            <a:off x="5083920" y="3840480"/>
            <a:ext cx="1992960" cy="1096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Proveedores integrados, financiación embebida</a:t>
            </a:r>
            <a:endParaRPr b="0" lang="es-ES" sz="1100" spc="-1" strike="noStrike">
              <a:solidFill>
                <a:srgbClr val="000000"/>
              </a:solidFill>
              <a:latin typeface="Arial"/>
            </a:endParaRPr>
          </a:p>
        </p:txBody>
      </p:sp>
      <p:sp>
        <p:nvSpPr>
          <p:cNvPr id="252" name="Shape 16"/>
          <p:cNvSpPr/>
          <p:nvPr/>
        </p:nvSpPr>
        <p:spPr>
          <a:xfrm>
            <a:off x="8001000" y="2761560"/>
            <a:ext cx="511560" cy="51156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53" name="Text 17"/>
          <p:cNvSpPr/>
          <p:nvPr/>
        </p:nvSpPr>
        <p:spPr>
          <a:xfrm>
            <a:off x="8001000" y="2761560"/>
            <a:ext cx="511560" cy="511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ffffff"/>
                </a:solidFill>
                <a:latin typeface="Calibri"/>
              </a:rPr>
              <a:t>4</a:t>
            </a:r>
            <a:endParaRPr b="0" lang="es-ES" sz="1600" spc="-1" strike="noStrike">
              <a:solidFill>
                <a:srgbClr val="000000"/>
              </a:solidFill>
              <a:latin typeface="Arial"/>
            </a:endParaRPr>
          </a:p>
        </p:txBody>
      </p:sp>
      <p:sp>
        <p:nvSpPr>
          <p:cNvPr id="254" name="Text 18"/>
          <p:cNvSpPr/>
          <p:nvPr/>
        </p:nvSpPr>
        <p:spPr>
          <a:xfrm>
            <a:off x="7260480" y="3429000"/>
            <a:ext cx="199296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1c2535"/>
                </a:solidFill>
                <a:latin typeface="Calibri"/>
              </a:rPr>
              <a:t>LATAM</a:t>
            </a:r>
            <a:endParaRPr b="0" lang="es-ES" sz="1400" spc="-1" strike="noStrike">
              <a:solidFill>
                <a:srgbClr val="000000"/>
              </a:solidFill>
              <a:latin typeface="Arial"/>
            </a:endParaRPr>
          </a:p>
        </p:txBody>
      </p:sp>
      <p:sp>
        <p:nvSpPr>
          <p:cNvPr id="255" name="Text 19"/>
          <p:cNvSpPr/>
          <p:nvPr/>
        </p:nvSpPr>
        <p:spPr>
          <a:xfrm>
            <a:off x="7260480" y="3840480"/>
            <a:ext cx="1992960" cy="1096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México, Colombia, Chile</a:t>
            </a:r>
            <a:endParaRPr b="0" lang="es-ES" sz="1100" spc="-1" strike="noStrike">
              <a:solidFill>
                <a:srgbClr val="000000"/>
              </a:solidFill>
              <a:latin typeface="Arial"/>
            </a:endParaRPr>
          </a:p>
        </p:txBody>
      </p:sp>
      <p:sp>
        <p:nvSpPr>
          <p:cNvPr id="256" name="Shape 20"/>
          <p:cNvSpPr/>
          <p:nvPr/>
        </p:nvSpPr>
        <p:spPr>
          <a:xfrm>
            <a:off x="10177200" y="2761560"/>
            <a:ext cx="511560" cy="51156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57" name="Text 21"/>
          <p:cNvSpPr/>
          <p:nvPr/>
        </p:nvSpPr>
        <p:spPr>
          <a:xfrm>
            <a:off x="10177200" y="2761560"/>
            <a:ext cx="511560" cy="511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pc="-1" strike="noStrike">
                <a:solidFill>
                  <a:srgbClr val="ffffff"/>
                </a:solidFill>
                <a:latin typeface="Calibri"/>
              </a:rPr>
              <a:t>5</a:t>
            </a:r>
            <a:endParaRPr b="0" lang="es-ES" sz="1600" spc="-1" strike="noStrike">
              <a:solidFill>
                <a:srgbClr val="000000"/>
              </a:solidFill>
              <a:latin typeface="Arial"/>
            </a:endParaRPr>
          </a:p>
        </p:txBody>
      </p:sp>
      <p:sp>
        <p:nvSpPr>
          <p:cNvPr id="258" name="Text 22"/>
          <p:cNvSpPr/>
          <p:nvPr/>
        </p:nvSpPr>
        <p:spPr>
          <a:xfrm>
            <a:off x="9436680" y="3429000"/>
            <a:ext cx="199296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400" spc="-1" strike="noStrike">
                <a:solidFill>
                  <a:srgbClr val="1c2535"/>
                </a:solidFill>
                <a:latin typeface="Calibri"/>
              </a:rPr>
              <a:t>Infraestructura</a:t>
            </a:r>
            <a:endParaRPr b="0" lang="es-ES" sz="1400" spc="-1" strike="noStrike">
              <a:solidFill>
                <a:srgbClr val="000000"/>
              </a:solidFill>
              <a:latin typeface="Arial"/>
            </a:endParaRPr>
          </a:p>
        </p:txBody>
      </p:sp>
      <p:sp>
        <p:nvSpPr>
          <p:cNvPr id="259" name="Text 23"/>
          <p:cNvSpPr/>
          <p:nvPr/>
        </p:nvSpPr>
        <p:spPr>
          <a:xfrm>
            <a:off x="9436680" y="3840480"/>
            <a:ext cx="1992960" cy="1096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Licencia a verticales adyacentes</a:t>
            </a:r>
            <a:endParaRPr b="0" lang="es-ES" sz="1100" spc="-1" strike="noStrike">
              <a:solidFill>
                <a:srgbClr val="000000"/>
              </a:solidFill>
              <a:latin typeface="Arial"/>
            </a:endParaRPr>
          </a:p>
        </p:txBody>
      </p:sp>
      <p:sp>
        <p:nvSpPr>
          <p:cNvPr id="260" name="Text 24"/>
          <p:cNvSpPr/>
          <p:nvPr/>
        </p:nvSpPr>
        <p:spPr>
          <a:xfrm>
            <a:off x="640080" y="5303520"/>
            <a:ext cx="1088100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350" spc="-1" strike="noStrike">
                <a:solidFill>
                  <a:srgbClr val="374151"/>
                </a:solidFill>
                <a:latin typeface="Calibri"/>
              </a:rPr>
              <a:t>Indicador North Star: tiempo hasta el primer presupuesto enviado — objetivo: bajar de 10 a menos de 3 minutos.</a:t>
            </a:r>
            <a:endParaRPr b="0" lang="es-ES" sz="1350" spc="-1" strike="noStrike">
              <a:solidFill>
                <a:srgbClr val="000000"/>
              </a:solidFill>
              <a:latin typeface="Arial"/>
            </a:endParaRPr>
          </a:p>
        </p:txBody>
      </p:sp>
      <p:sp>
        <p:nvSpPr>
          <p:cNvPr id="261" name="Text 25"/>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262" name="Text 26"/>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10</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3" name="Shape 0"/>
          <p:cNvSpPr/>
          <p:nvPr/>
        </p:nvSpPr>
        <p:spPr>
          <a:xfrm>
            <a:off x="640080" y="594360"/>
            <a:ext cx="685440" cy="685440"/>
          </a:xfrm>
          <a:prstGeom prst="ellipse">
            <a:avLst/>
          </a:prstGeom>
          <a:solidFill>
            <a:srgbClr val="4a674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64" name="Image 0" descr="/home/claude/deck/icons/hands.png"/>
          <p:cNvPicPr/>
          <p:nvPr/>
        </p:nvPicPr>
        <p:blipFill>
          <a:blip r:embed="rId1"/>
          <a:stretch/>
        </p:blipFill>
        <p:spPr>
          <a:xfrm>
            <a:off x="729360" y="683640"/>
            <a:ext cx="507240" cy="507240"/>
          </a:xfrm>
          <a:prstGeom prst="rect">
            <a:avLst/>
          </a:prstGeom>
          <a:ln w="0">
            <a:noFill/>
          </a:ln>
        </p:spPr>
      </p:pic>
      <p:sp>
        <p:nvSpPr>
          <p:cNvPr id="265"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4a6741"/>
                </a:solidFill>
                <a:latin typeface="Calibri"/>
                <a:ea typeface="Calibri"/>
              </a:rPr>
              <a:t>11 · IMPACTO ESPERADO</a:t>
            </a:r>
            <a:endParaRPr b="0" lang="es-ES" sz="1300" spc="-1" strike="noStrike">
              <a:solidFill>
                <a:srgbClr val="000000"/>
              </a:solidFill>
              <a:latin typeface="Arial"/>
            </a:endParaRPr>
          </a:p>
        </p:txBody>
      </p:sp>
      <p:sp>
        <p:nvSpPr>
          <p:cNvPr id="266"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Impacto más allá del negocio</a:t>
            </a:r>
            <a:endParaRPr b="0" lang="es-ES" sz="3200" spc="-1" strike="noStrike">
              <a:solidFill>
                <a:srgbClr val="000000"/>
              </a:solidFill>
              <a:latin typeface="Arial"/>
            </a:endParaRPr>
          </a:p>
        </p:txBody>
      </p:sp>
      <p:sp>
        <p:nvSpPr>
          <p:cNvPr id="267" name="Shape 3"/>
          <p:cNvSpPr/>
          <p:nvPr/>
        </p:nvSpPr>
        <p:spPr>
          <a:xfrm>
            <a:off x="640080" y="1874520"/>
            <a:ext cx="2514240" cy="3108600"/>
          </a:xfrm>
          <a:prstGeom prst="roundRect">
            <a:avLst>
              <a:gd name="adj" fmla="val 2909"/>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68" name="Shape 4"/>
          <p:cNvSpPr/>
          <p:nvPr/>
        </p:nvSpPr>
        <p:spPr>
          <a:xfrm>
            <a:off x="160020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69" name="Image 1" descr="/home/claude/deck/icons/briefcase.png"/>
          <p:cNvPicPr/>
          <p:nvPr/>
        </p:nvPicPr>
        <p:blipFill>
          <a:blip r:embed="rId2"/>
          <a:stretch/>
        </p:blipFill>
        <p:spPr>
          <a:xfrm>
            <a:off x="1677600" y="2226240"/>
            <a:ext cx="439560" cy="439560"/>
          </a:xfrm>
          <a:prstGeom prst="rect">
            <a:avLst/>
          </a:prstGeom>
          <a:ln w="0">
            <a:noFill/>
          </a:ln>
        </p:spPr>
      </p:pic>
      <p:sp>
        <p:nvSpPr>
          <p:cNvPr id="270" name="Text 5"/>
          <p:cNvSpPr/>
          <p:nvPr/>
        </p:nvSpPr>
        <p:spPr>
          <a:xfrm>
            <a:off x="640080" y="2971800"/>
            <a:ext cx="2514240" cy="594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1c2535"/>
                </a:solidFill>
                <a:latin typeface="Calibri"/>
              </a:rPr>
              <a:t>4-6</a:t>
            </a:r>
            <a:endParaRPr b="0" lang="es-ES" sz="2800" spc="-1" strike="noStrike">
              <a:solidFill>
                <a:srgbClr val="000000"/>
              </a:solidFill>
              <a:latin typeface="Arial"/>
            </a:endParaRPr>
          </a:p>
        </p:txBody>
      </p:sp>
      <p:sp>
        <p:nvSpPr>
          <p:cNvPr id="271" name="Text 6"/>
          <p:cNvSpPr/>
          <p:nvPr/>
        </p:nvSpPr>
        <p:spPr>
          <a:xfrm>
            <a:off x="640080" y="3566160"/>
            <a:ext cx="2514240" cy="3196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1a5a96"/>
                </a:solidFill>
                <a:latin typeface="Calibri"/>
              </a:rPr>
              <a:t>Empleo</a:t>
            </a:r>
            <a:endParaRPr b="0" lang="es-ES" sz="1300" spc="-1" strike="noStrike">
              <a:solidFill>
                <a:srgbClr val="000000"/>
              </a:solidFill>
              <a:latin typeface="Arial"/>
            </a:endParaRPr>
          </a:p>
        </p:txBody>
      </p:sp>
      <p:sp>
        <p:nvSpPr>
          <p:cNvPr id="272" name="Text 7"/>
          <p:cNvSpPr/>
          <p:nvPr/>
        </p:nvSpPr>
        <p:spPr>
          <a:xfrm>
            <a:off x="822960" y="3931920"/>
            <a:ext cx="2148480" cy="8226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empleos cualificados directos a 36 meses</a:t>
            </a:r>
            <a:endParaRPr b="0" lang="es-ES" sz="1100" spc="-1" strike="noStrike">
              <a:solidFill>
                <a:srgbClr val="000000"/>
              </a:solidFill>
              <a:latin typeface="Arial"/>
            </a:endParaRPr>
          </a:p>
        </p:txBody>
      </p:sp>
      <p:sp>
        <p:nvSpPr>
          <p:cNvPr id="273" name="Shape 8"/>
          <p:cNvSpPr/>
          <p:nvPr/>
        </p:nvSpPr>
        <p:spPr>
          <a:xfrm>
            <a:off x="3364920" y="1874520"/>
            <a:ext cx="2514240" cy="3108600"/>
          </a:xfrm>
          <a:prstGeom prst="roundRect">
            <a:avLst>
              <a:gd name="adj" fmla="val 2909"/>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74" name="Shape 9"/>
          <p:cNvSpPr/>
          <p:nvPr/>
        </p:nvSpPr>
        <p:spPr>
          <a:xfrm>
            <a:off x="432504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75" name="Image 2" descr="/home/claude/deck/icons/network.png"/>
          <p:cNvPicPr/>
          <p:nvPr/>
        </p:nvPicPr>
        <p:blipFill>
          <a:blip r:embed="rId3"/>
          <a:stretch/>
        </p:blipFill>
        <p:spPr>
          <a:xfrm>
            <a:off x="4402440" y="2226240"/>
            <a:ext cx="439560" cy="439560"/>
          </a:xfrm>
          <a:prstGeom prst="rect">
            <a:avLst/>
          </a:prstGeom>
          <a:ln w="0">
            <a:noFill/>
          </a:ln>
        </p:spPr>
      </p:pic>
      <p:sp>
        <p:nvSpPr>
          <p:cNvPr id="276" name="Text 10"/>
          <p:cNvSpPr/>
          <p:nvPr/>
        </p:nvSpPr>
        <p:spPr>
          <a:xfrm>
            <a:off x="3364920" y="2971800"/>
            <a:ext cx="2514240" cy="594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1c2535"/>
                </a:solidFill>
                <a:latin typeface="Calibri"/>
              </a:rPr>
              <a:t>500+</a:t>
            </a:r>
            <a:endParaRPr b="0" lang="es-ES" sz="2800" spc="-1" strike="noStrike">
              <a:solidFill>
                <a:srgbClr val="000000"/>
              </a:solidFill>
              <a:latin typeface="Arial"/>
            </a:endParaRPr>
          </a:p>
        </p:txBody>
      </p:sp>
      <p:sp>
        <p:nvSpPr>
          <p:cNvPr id="277" name="Text 11"/>
          <p:cNvSpPr/>
          <p:nvPr/>
        </p:nvSpPr>
        <p:spPr>
          <a:xfrm>
            <a:off x="3364920" y="3566160"/>
            <a:ext cx="2514240" cy="3196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1a5a96"/>
                </a:solidFill>
                <a:latin typeface="Calibri"/>
              </a:rPr>
              <a:t>Digitalización</a:t>
            </a:r>
            <a:endParaRPr b="0" lang="es-ES" sz="1300" spc="-1" strike="noStrike">
              <a:solidFill>
                <a:srgbClr val="000000"/>
              </a:solidFill>
              <a:latin typeface="Arial"/>
            </a:endParaRPr>
          </a:p>
        </p:txBody>
      </p:sp>
      <p:sp>
        <p:nvSpPr>
          <p:cNvPr id="278" name="Text 12"/>
          <p:cNvSpPr/>
          <p:nvPr/>
        </p:nvSpPr>
        <p:spPr>
          <a:xfrm>
            <a:off x="3547800" y="3931920"/>
            <a:ext cx="2148480" cy="8226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pymes y autónomos digitalizados (objetivo)</a:t>
            </a:r>
            <a:endParaRPr b="0" lang="es-ES" sz="1100" spc="-1" strike="noStrike">
              <a:solidFill>
                <a:srgbClr val="000000"/>
              </a:solidFill>
              <a:latin typeface="Arial"/>
            </a:endParaRPr>
          </a:p>
        </p:txBody>
      </p:sp>
      <p:sp>
        <p:nvSpPr>
          <p:cNvPr id="279" name="Shape 13"/>
          <p:cNvSpPr/>
          <p:nvPr/>
        </p:nvSpPr>
        <p:spPr>
          <a:xfrm>
            <a:off x="6089760" y="1874520"/>
            <a:ext cx="2514240" cy="3108600"/>
          </a:xfrm>
          <a:prstGeom prst="roundRect">
            <a:avLst>
              <a:gd name="adj" fmla="val 2909"/>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80" name="Shape 14"/>
          <p:cNvSpPr/>
          <p:nvPr/>
        </p:nvSpPr>
        <p:spPr>
          <a:xfrm>
            <a:off x="704988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81" name="Image 3" descr="/home/claude/deck/icons/globe.png"/>
          <p:cNvPicPr/>
          <p:nvPr/>
        </p:nvPicPr>
        <p:blipFill>
          <a:blip r:embed="rId4"/>
          <a:stretch/>
        </p:blipFill>
        <p:spPr>
          <a:xfrm>
            <a:off x="7127280" y="2226240"/>
            <a:ext cx="439560" cy="439560"/>
          </a:xfrm>
          <a:prstGeom prst="rect">
            <a:avLst/>
          </a:prstGeom>
          <a:ln w="0">
            <a:noFill/>
          </a:ln>
        </p:spPr>
      </p:pic>
      <p:sp>
        <p:nvSpPr>
          <p:cNvPr id="282" name="Text 15"/>
          <p:cNvSpPr/>
          <p:nvPr/>
        </p:nvSpPr>
        <p:spPr>
          <a:xfrm>
            <a:off x="6089760" y="2971800"/>
            <a:ext cx="2514240" cy="594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1c2535"/>
                </a:solidFill>
                <a:latin typeface="Calibri"/>
              </a:rPr>
              <a:t>2,1 M</a:t>
            </a:r>
            <a:endParaRPr b="0" lang="es-ES" sz="2800" spc="-1" strike="noStrike">
              <a:solidFill>
                <a:srgbClr val="000000"/>
              </a:solidFill>
              <a:latin typeface="Arial"/>
            </a:endParaRPr>
          </a:p>
        </p:txBody>
      </p:sp>
      <p:sp>
        <p:nvSpPr>
          <p:cNvPr id="283" name="Text 16"/>
          <p:cNvSpPr/>
          <p:nvPr/>
        </p:nvSpPr>
        <p:spPr>
          <a:xfrm>
            <a:off x="6089760" y="3566160"/>
            <a:ext cx="2514240" cy="3196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1a5a96"/>
                </a:solidFill>
                <a:latin typeface="Calibri"/>
              </a:rPr>
              <a:t>Exportación</a:t>
            </a:r>
            <a:endParaRPr b="0" lang="es-ES" sz="1300" spc="-1" strike="noStrike">
              <a:solidFill>
                <a:srgbClr val="000000"/>
              </a:solidFill>
              <a:latin typeface="Arial"/>
            </a:endParaRPr>
          </a:p>
        </p:txBody>
      </p:sp>
      <p:sp>
        <p:nvSpPr>
          <p:cNvPr id="284" name="Text 17"/>
          <p:cNvSpPr/>
          <p:nvPr/>
        </p:nvSpPr>
        <p:spPr>
          <a:xfrm>
            <a:off x="6272640" y="3931920"/>
            <a:ext cx="2148480" cy="8226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instaladores potenciales en LATAM</a:t>
            </a:r>
            <a:endParaRPr b="0" lang="es-ES" sz="1100" spc="-1" strike="noStrike">
              <a:solidFill>
                <a:srgbClr val="000000"/>
              </a:solidFill>
              <a:latin typeface="Arial"/>
            </a:endParaRPr>
          </a:p>
        </p:txBody>
      </p:sp>
      <p:sp>
        <p:nvSpPr>
          <p:cNvPr id="285" name="Shape 18"/>
          <p:cNvSpPr/>
          <p:nvPr/>
        </p:nvSpPr>
        <p:spPr>
          <a:xfrm>
            <a:off x="8814960" y="1874520"/>
            <a:ext cx="2514240" cy="3108600"/>
          </a:xfrm>
          <a:prstGeom prst="roundRect">
            <a:avLst>
              <a:gd name="adj" fmla="val 2909"/>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286" name="Shape 19"/>
          <p:cNvSpPr/>
          <p:nvPr/>
        </p:nvSpPr>
        <p:spPr>
          <a:xfrm>
            <a:off x="977508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87" name="Image 4" descr="/home/claude/deck/icons/brain.png"/>
          <p:cNvPicPr/>
          <p:nvPr/>
        </p:nvPicPr>
        <p:blipFill>
          <a:blip r:embed="rId5"/>
          <a:stretch/>
        </p:blipFill>
        <p:spPr>
          <a:xfrm>
            <a:off x="9852120" y="2226240"/>
            <a:ext cx="439560" cy="439560"/>
          </a:xfrm>
          <a:prstGeom prst="rect">
            <a:avLst/>
          </a:prstGeom>
          <a:ln w="0">
            <a:noFill/>
          </a:ln>
        </p:spPr>
      </p:pic>
      <p:sp>
        <p:nvSpPr>
          <p:cNvPr id="288" name="Text 20"/>
          <p:cNvSpPr/>
          <p:nvPr/>
        </p:nvSpPr>
        <p:spPr>
          <a:xfrm>
            <a:off x="8814960" y="2971800"/>
            <a:ext cx="2514240" cy="594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2800" spc="-1" strike="noStrike">
                <a:solidFill>
                  <a:srgbClr val="1c2535"/>
                </a:solidFill>
                <a:latin typeface="Calibri"/>
              </a:rPr>
              <a:t>93%</a:t>
            </a:r>
            <a:endParaRPr b="0" lang="es-ES" sz="2800" spc="-1" strike="noStrike">
              <a:solidFill>
                <a:srgbClr val="000000"/>
              </a:solidFill>
              <a:latin typeface="Arial"/>
            </a:endParaRPr>
          </a:p>
        </p:txBody>
      </p:sp>
      <p:sp>
        <p:nvSpPr>
          <p:cNvPr id="289" name="Text 21"/>
          <p:cNvSpPr/>
          <p:nvPr/>
        </p:nvSpPr>
        <p:spPr>
          <a:xfrm>
            <a:off x="8814960" y="3566160"/>
            <a:ext cx="2514240" cy="3196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US" sz="1300" spc="-1" strike="noStrike">
                <a:solidFill>
                  <a:srgbClr val="1a5a96"/>
                </a:solidFill>
                <a:latin typeface="Calibri"/>
              </a:rPr>
              <a:t>IA aplicada</a:t>
            </a:r>
            <a:endParaRPr b="0" lang="es-ES" sz="1300" spc="-1" strike="noStrike">
              <a:solidFill>
                <a:srgbClr val="000000"/>
              </a:solidFill>
              <a:latin typeface="Arial"/>
            </a:endParaRPr>
          </a:p>
        </p:txBody>
      </p:sp>
      <p:sp>
        <p:nvSpPr>
          <p:cNvPr id="290" name="Text 22"/>
          <p:cNvSpPr/>
          <p:nvPr/>
        </p:nvSpPr>
        <p:spPr>
          <a:xfrm>
            <a:off x="8997840" y="3931920"/>
            <a:ext cx="2148480" cy="8226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1100" spc="-1" strike="noStrike">
                <a:solidFill>
                  <a:srgbClr val="6b7280"/>
                </a:solidFill>
                <a:latin typeface="Calibri"/>
              </a:rPr>
              <a:t>precisión del motor, ya validada</a:t>
            </a:r>
            <a:endParaRPr b="0" lang="es-ES" sz="1100" spc="-1" strike="noStrike">
              <a:solidFill>
                <a:srgbClr val="000000"/>
              </a:solidFill>
              <a:latin typeface="Arial"/>
            </a:endParaRPr>
          </a:p>
        </p:txBody>
      </p:sp>
      <p:sp>
        <p:nvSpPr>
          <p:cNvPr id="291" name="Text 23"/>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292" name="Text 24"/>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11</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3" name="Shape 0"/>
          <p:cNvSpPr/>
          <p:nvPr/>
        </p:nvSpPr>
        <p:spPr>
          <a:xfrm>
            <a:off x="640080" y="594360"/>
            <a:ext cx="685440" cy="685440"/>
          </a:xfrm>
          <a:prstGeom prst="ellipse">
            <a:avLst/>
          </a:prstGeom>
          <a:solidFill>
            <a:srgbClr val="c8922a"/>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294" name="Image 0" descr="/home/claude/deck/icons/coins.png"/>
          <p:cNvPicPr/>
          <p:nvPr/>
        </p:nvPicPr>
        <p:blipFill>
          <a:blip r:embed="rId1"/>
          <a:stretch/>
        </p:blipFill>
        <p:spPr>
          <a:xfrm>
            <a:off x="729360" y="683640"/>
            <a:ext cx="507240" cy="507240"/>
          </a:xfrm>
          <a:prstGeom prst="rect">
            <a:avLst/>
          </a:prstGeom>
          <a:ln w="0">
            <a:noFill/>
          </a:ln>
        </p:spPr>
      </p:pic>
      <p:sp>
        <p:nvSpPr>
          <p:cNvPr id="295"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c8922a"/>
                </a:solidFill>
                <a:latin typeface="Calibri"/>
                <a:ea typeface="Calibri"/>
              </a:rPr>
              <a:t>12 · NECESIDADES DE FINANCIACIÓN</a:t>
            </a:r>
            <a:endParaRPr b="0" lang="es-ES" sz="1300" spc="-1" strike="noStrike">
              <a:solidFill>
                <a:srgbClr val="000000"/>
              </a:solidFill>
              <a:latin typeface="Arial"/>
            </a:endParaRPr>
          </a:p>
        </p:txBody>
      </p:sp>
      <p:sp>
        <p:nvSpPr>
          <p:cNvPr id="296" name="Text 2"/>
          <p:cNvSpPr/>
          <p:nvPr/>
        </p:nvSpPr>
        <p:spPr>
          <a:xfrm>
            <a:off x="1508760" y="567000"/>
            <a:ext cx="100580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600" spc="-1" strike="noStrike">
                <a:solidFill>
                  <a:srgbClr val="1c2535"/>
                </a:solidFill>
                <a:latin typeface="Cambria"/>
                <a:ea typeface="Cambria"/>
              </a:rPr>
              <a:t>Qué queremos construir con apoyo institucional</a:t>
            </a:r>
            <a:endParaRPr b="0" lang="es-ES" sz="2600" spc="-1" strike="noStrike">
              <a:solidFill>
                <a:srgbClr val="000000"/>
              </a:solidFill>
              <a:latin typeface="Arial"/>
            </a:endParaRPr>
          </a:p>
        </p:txBody>
      </p:sp>
      <p:sp>
        <p:nvSpPr>
          <p:cNvPr id="297" name="Text 3"/>
          <p:cNvSpPr/>
          <p:nvPr/>
        </p:nvSpPr>
        <p:spPr>
          <a:xfrm>
            <a:off x="640080" y="1737360"/>
            <a:ext cx="54860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600" spc="-1" strike="noStrike">
                <a:solidFill>
                  <a:srgbClr val="1a5a96"/>
                </a:solidFill>
                <a:latin typeface="Calibri"/>
              </a:rPr>
              <a:t>150.000 € – 250.000 €</a:t>
            </a:r>
            <a:endParaRPr b="0" lang="es-ES" sz="2600" spc="-1" strike="noStrike">
              <a:solidFill>
                <a:srgbClr val="000000"/>
              </a:solidFill>
              <a:latin typeface="Arial"/>
            </a:endParaRPr>
          </a:p>
        </p:txBody>
      </p:sp>
      <p:sp>
        <p:nvSpPr>
          <p:cNvPr id="298" name="Text 4"/>
          <p:cNvSpPr/>
          <p:nvPr/>
        </p:nvSpPr>
        <p:spPr>
          <a:xfrm>
            <a:off x="640080" y="2240280"/>
            <a:ext cx="54860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6b7280"/>
                </a:solidFill>
                <a:latin typeface="Calibri"/>
              </a:rPr>
              <a:t>necesidad estimada para la primera fase de aceleración (12-18 meses)</a:t>
            </a:r>
            <a:endParaRPr b="0" lang="es-ES" sz="1300" spc="-1" strike="noStrike">
              <a:solidFill>
                <a:srgbClr val="000000"/>
              </a:solidFill>
              <a:latin typeface="Arial"/>
            </a:endParaRPr>
          </a:p>
        </p:txBody>
      </p:sp>
      <p:graphicFrame>
        <p:nvGraphicFramePr>
          <p:cNvPr id="299" name="Chart 0"/>
          <p:cNvGraphicFramePr/>
          <p:nvPr/>
        </p:nvGraphicFramePr>
        <p:xfrm>
          <a:off x="548640" y="2697480"/>
          <a:ext cx="4205880" cy="3565800"/>
        </p:xfrm>
        <a:graphic>
          <a:graphicData uri="http://schemas.openxmlformats.org/drawingml/2006/chart">
            <c:chart xmlns:c="http://schemas.openxmlformats.org/drawingml/2006/chart" xmlns:r="http://schemas.openxmlformats.org/officeDocument/2006/relationships" r:id="rId2"/>
          </a:graphicData>
        </a:graphic>
      </p:graphicFrame>
      <p:sp>
        <p:nvSpPr>
          <p:cNvPr id="300" name="Shape 5"/>
          <p:cNvSpPr/>
          <p:nvPr/>
        </p:nvSpPr>
        <p:spPr>
          <a:xfrm>
            <a:off x="5120640" y="2697480"/>
            <a:ext cx="6400440" cy="1051200"/>
          </a:xfrm>
          <a:prstGeom prst="roundRect">
            <a:avLst>
              <a:gd name="adj" fmla="val 6957"/>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01" name="Text 6"/>
          <p:cNvSpPr/>
          <p:nvPr/>
        </p:nvSpPr>
        <p:spPr>
          <a:xfrm>
            <a:off x="5349240" y="2788920"/>
            <a:ext cx="59432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800" spc="-1" strike="noStrike">
                <a:solidFill>
                  <a:srgbClr val="1c2535"/>
                </a:solidFill>
                <a:latin typeface="Calibri"/>
              </a:rPr>
              <a:t>✔ </a:t>
            </a:r>
            <a:r>
              <a:rPr b="1" lang="en-US" sz="1800" spc="-1" strike="noStrike">
                <a:solidFill>
                  <a:srgbClr val="1c2535"/>
                </a:solidFill>
                <a:latin typeface="Calibri"/>
              </a:rPr>
              <a:t>Producto desarrollado</a:t>
            </a:r>
            <a:endParaRPr b="0" lang="es-ES" sz="1800" spc="-1" strike="noStrike">
              <a:solidFill>
                <a:srgbClr val="000000"/>
              </a:solidFill>
              <a:latin typeface="Arial"/>
            </a:endParaRPr>
          </a:p>
        </p:txBody>
      </p:sp>
      <p:sp>
        <p:nvSpPr>
          <p:cNvPr id="302" name="Text 7"/>
          <p:cNvSpPr/>
          <p:nvPr/>
        </p:nvSpPr>
        <p:spPr>
          <a:xfrm>
            <a:off x="5349240" y="3173040"/>
            <a:ext cx="594324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6b7280"/>
                </a:solidFill>
                <a:latin typeface="Calibri"/>
              </a:rPr>
              <a:t>Motor IA, arquitectura cloud, aplicación web y base de conocimiento operativos.</a:t>
            </a:r>
            <a:endParaRPr b="0" lang="es-ES" sz="1300" spc="-1" strike="noStrike">
              <a:solidFill>
                <a:srgbClr val="000000"/>
              </a:solidFill>
              <a:latin typeface="Arial"/>
            </a:endParaRPr>
          </a:p>
        </p:txBody>
      </p:sp>
      <p:sp>
        <p:nvSpPr>
          <p:cNvPr id="303" name="Shape 8"/>
          <p:cNvSpPr/>
          <p:nvPr/>
        </p:nvSpPr>
        <p:spPr>
          <a:xfrm>
            <a:off x="5120640" y="3931920"/>
            <a:ext cx="6400440" cy="1051200"/>
          </a:xfrm>
          <a:prstGeom prst="roundRect">
            <a:avLst>
              <a:gd name="adj" fmla="val 6957"/>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04" name="Text 9"/>
          <p:cNvSpPr/>
          <p:nvPr/>
        </p:nvSpPr>
        <p:spPr>
          <a:xfrm>
            <a:off x="5349240" y="4023360"/>
            <a:ext cx="59432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800" spc="-1" strike="noStrike">
                <a:solidFill>
                  <a:srgbClr val="1c2535"/>
                </a:solidFill>
                <a:latin typeface="Calibri"/>
              </a:rPr>
              <a:t>✔ </a:t>
            </a:r>
            <a:r>
              <a:rPr b="1" lang="en-US" sz="1800" spc="-1" strike="noStrike">
                <a:solidFill>
                  <a:srgbClr val="1c2535"/>
                </a:solidFill>
                <a:latin typeface="Calibri"/>
              </a:rPr>
              <a:t>Validación en curso</a:t>
            </a:r>
            <a:endParaRPr b="0" lang="es-ES" sz="1800" spc="-1" strike="noStrike">
              <a:solidFill>
                <a:srgbClr val="000000"/>
              </a:solidFill>
              <a:latin typeface="Arial"/>
            </a:endParaRPr>
          </a:p>
        </p:txBody>
      </p:sp>
      <p:sp>
        <p:nvSpPr>
          <p:cNvPr id="305" name="Text 10"/>
          <p:cNvSpPr/>
          <p:nvPr/>
        </p:nvSpPr>
        <p:spPr>
          <a:xfrm>
            <a:off x="5349240" y="4407480"/>
            <a:ext cx="594324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6b7280"/>
                </a:solidFill>
                <a:latin typeface="Calibri"/>
              </a:rPr>
              <a:t>Pruebas con instaladores reales y colaboración con entidades del sector.</a:t>
            </a:r>
            <a:endParaRPr b="0" lang="es-ES" sz="1300" spc="-1" strike="noStrike">
              <a:solidFill>
                <a:srgbClr val="000000"/>
              </a:solidFill>
              <a:latin typeface="Arial"/>
            </a:endParaRPr>
          </a:p>
        </p:txBody>
      </p:sp>
      <p:sp>
        <p:nvSpPr>
          <p:cNvPr id="306" name="Shape 11"/>
          <p:cNvSpPr/>
          <p:nvPr/>
        </p:nvSpPr>
        <p:spPr>
          <a:xfrm>
            <a:off x="5120640" y="5166360"/>
            <a:ext cx="6400440" cy="1051200"/>
          </a:xfrm>
          <a:prstGeom prst="roundRect">
            <a:avLst>
              <a:gd name="adj" fmla="val 6957"/>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07" name="Text 12"/>
          <p:cNvSpPr/>
          <p:nvPr/>
        </p:nvSpPr>
        <p:spPr>
          <a:xfrm>
            <a:off x="5349240" y="5257800"/>
            <a:ext cx="59432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800" spc="-1" strike="noStrike">
                <a:solidFill>
                  <a:srgbClr val="1c2535"/>
                </a:solidFill>
                <a:latin typeface="Calibri"/>
              </a:rPr>
              <a:t>► </a:t>
            </a:r>
            <a:r>
              <a:rPr b="1" lang="en-US" sz="1800" spc="-1" strike="noStrike">
                <a:solidFill>
                  <a:srgbClr val="1c2535"/>
                </a:solidFill>
                <a:latin typeface="Calibri"/>
              </a:rPr>
              <a:t>Próxima fase</a:t>
            </a:r>
            <a:endParaRPr b="0" lang="es-ES" sz="1800" spc="-1" strike="noStrike">
              <a:solidFill>
                <a:srgbClr val="000000"/>
              </a:solidFill>
              <a:latin typeface="Arial"/>
            </a:endParaRPr>
          </a:p>
        </p:txBody>
      </p:sp>
      <p:sp>
        <p:nvSpPr>
          <p:cNvPr id="308" name="Text 13"/>
          <p:cNvSpPr/>
          <p:nvPr/>
        </p:nvSpPr>
        <p:spPr>
          <a:xfrm>
            <a:off x="5349240" y="5641920"/>
            <a:ext cx="5943240" cy="5025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6b7280"/>
                </a:solidFill>
                <a:latin typeface="Calibri"/>
              </a:rPr>
              <a:t>Escalado comercial, certificación VeriFactu, fortalecimiento tecnológico y crecimiento del equipo. (Incorporación de CTO, perfil de datos/IA y responsable comercial)</a:t>
            </a:r>
            <a:endParaRPr b="0" lang="es-ES" sz="1300" spc="-1" strike="noStrike">
              <a:solidFill>
                <a:srgbClr val="000000"/>
              </a:solidFill>
              <a:latin typeface="Arial"/>
            </a:endParaRPr>
          </a:p>
        </p:txBody>
      </p:sp>
      <p:sp>
        <p:nvSpPr>
          <p:cNvPr id="309" name="Text 14"/>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310" name="Text 15"/>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12</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1" name="Shape 0"/>
          <p:cNvSpPr/>
          <p:nvPr/>
        </p:nvSpPr>
        <p:spPr>
          <a:xfrm>
            <a:off x="640080" y="594360"/>
            <a:ext cx="685440" cy="685440"/>
          </a:xfrm>
          <a:prstGeom prst="ellipse">
            <a:avLst/>
          </a:prstGeom>
          <a:solidFill>
            <a:srgbClr val="4a6741"/>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12" name="Image 0" descr="/home/claude/deck/icons/mountain.png"/>
          <p:cNvPicPr/>
          <p:nvPr/>
        </p:nvPicPr>
        <p:blipFill>
          <a:blip r:embed="rId1"/>
          <a:stretch/>
        </p:blipFill>
        <p:spPr>
          <a:xfrm>
            <a:off x="729360" y="683640"/>
            <a:ext cx="507240" cy="507240"/>
          </a:xfrm>
          <a:prstGeom prst="rect">
            <a:avLst/>
          </a:prstGeom>
          <a:ln w="0">
            <a:noFill/>
          </a:ln>
        </p:spPr>
      </p:pic>
      <p:sp>
        <p:nvSpPr>
          <p:cNvPr id="313"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4a6741"/>
                </a:solidFill>
                <a:latin typeface="Calibri"/>
                <a:ea typeface="Calibri"/>
              </a:rPr>
              <a:t>13 · POR QUÉ CANTABRIA</a:t>
            </a:r>
            <a:endParaRPr b="0" lang="es-ES" sz="1300" spc="-1" strike="noStrike">
              <a:solidFill>
                <a:srgbClr val="000000"/>
              </a:solidFill>
              <a:latin typeface="Arial"/>
            </a:endParaRPr>
          </a:p>
        </p:txBody>
      </p:sp>
      <p:sp>
        <p:nvSpPr>
          <p:cNvPr id="314" name="Text 2"/>
          <p:cNvSpPr/>
          <p:nvPr/>
        </p:nvSpPr>
        <p:spPr>
          <a:xfrm>
            <a:off x="1508760" y="567000"/>
            <a:ext cx="100580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2800" spc="-1" strike="noStrike">
                <a:solidFill>
                  <a:srgbClr val="1c2535"/>
                </a:solidFill>
                <a:latin typeface="Cambria"/>
                <a:ea typeface="Cambria"/>
              </a:rPr>
              <a:t>Por qué queremos construirlo desde aquí</a:t>
            </a:r>
            <a:endParaRPr b="0" lang="es-ES" sz="2800" spc="-1" strike="noStrike">
              <a:solidFill>
                <a:srgbClr val="000000"/>
              </a:solidFill>
              <a:latin typeface="Arial"/>
            </a:endParaRPr>
          </a:p>
        </p:txBody>
      </p:sp>
      <p:sp>
        <p:nvSpPr>
          <p:cNvPr id="315" name="Shape 3"/>
          <p:cNvSpPr/>
          <p:nvPr/>
        </p:nvSpPr>
        <p:spPr>
          <a:xfrm>
            <a:off x="640080" y="1874520"/>
            <a:ext cx="594000" cy="594000"/>
          </a:xfrm>
          <a:prstGeom prst="ellipse">
            <a:avLst/>
          </a:prstGeom>
          <a:solidFill>
            <a:srgbClr val="e7efe9"/>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16" name="Image 1" descr="/home/claude/deck/icons/graduation_ink.png"/>
          <p:cNvPicPr/>
          <p:nvPr/>
        </p:nvPicPr>
        <p:blipFill>
          <a:blip r:embed="rId2"/>
          <a:stretch/>
        </p:blipFill>
        <p:spPr>
          <a:xfrm>
            <a:off x="717480" y="1951920"/>
            <a:ext cx="439560" cy="439560"/>
          </a:xfrm>
          <a:prstGeom prst="rect">
            <a:avLst/>
          </a:prstGeom>
          <a:ln w="0">
            <a:noFill/>
          </a:ln>
        </p:spPr>
      </p:pic>
      <p:sp>
        <p:nvSpPr>
          <p:cNvPr id="317" name="Text 4"/>
          <p:cNvSpPr/>
          <p:nvPr/>
        </p:nvSpPr>
        <p:spPr>
          <a:xfrm>
            <a:off x="1417320" y="1847160"/>
            <a:ext cx="393156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Talento técnico disponible</a:t>
            </a:r>
            <a:endParaRPr b="0" lang="es-ES" sz="1500" spc="-1" strike="noStrike">
              <a:solidFill>
                <a:srgbClr val="000000"/>
              </a:solidFill>
              <a:latin typeface="Arial"/>
            </a:endParaRPr>
          </a:p>
        </p:txBody>
      </p:sp>
      <p:sp>
        <p:nvSpPr>
          <p:cNvPr id="318" name="Text 5"/>
          <p:cNvSpPr/>
          <p:nvPr/>
        </p:nvSpPr>
        <p:spPr>
          <a:xfrm>
            <a:off x="5577840" y="1828800"/>
            <a:ext cx="5943240" cy="86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374151"/>
                </a:solidFill>
                <a:latin typeface="Calibri"/>
              </a:rPr>
              <a:t>Perfiles de desarrollo e IA formados en la región, con coste de vida competitivo frente a Madrid o Barcelona.</a:t>
            </a:r>
            <a:endParaRPr b="0" lang="es-ES" sz="1300" spc="-1" strike="noStrike">
              <a:solidFill>
                <a:srgbClr val="000000"/>
              </a:solidFill>
              <a:latin typeface="Arial"/>
            </a:endParaRPr>
          </a:p>
        </p:txBody>
      </p:sp>
      <p:sp>
        <p:nvSpPr>
          <p:cNvPr id="319" name="Shape 6"/>
          <p:cNvSpPr/>
          <p:nvPr/>
        </p:nvSpPr>
        <p:spPr>
          <a:xfrm>
            <a:off x="640080" y="3291840"/>
            <a:ext cx="594000" cy="594000"/>
          </a:xfrm>
          <a:prstGeom prst="ellipse">
            <a:avLst/>
          </a:prstGeom>
          <a:solidFill>
            <a:srgbClr val="e7efe9"/>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20" name="Image 2" descr="/home/claude/deck/icons/handshake_ink.png"/>
          <p:cNvPicPr/>
          <p:nvPr/>
        </p:nvPicPr>
        <p:blipFill>
          <a:blip r:embed="rId3"/>
          <a:stretch/>
        </p:blipFill>
        <p:spPr>
          <a:xfrm>
            <a:off x="717480" y="3369240"/>
            <a:ext cx="439560" cy="439560"/>
          </a:xfrm>
          <a:prstGeom prst="rect">
            <a:avLst/>
          </a:prstGeom>
          <a:ln w="0">
            <a:noFill/>
          </a:ln>
        </p:spPr>
      </p:pic>
      <p:sp>
        <p:nvSpPr>
          <p:cNvPr id="321" name="Text 7"/>
          <p:cNvSpPr/>
          <p:nvPr/>
        </p:nvSpPr>
        <p:spPr>
          <a:xfrm>
            <a:off x="1417320" y="3264480"/>
            <a:ext cx="393156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Ecosistema de acompañamiento</a:t>
            </a:r>
            <a:endParaRPr b="0" lang="es-ES" sz="1500" spc="-1" strike="noStrike">
              <a:solidFill>
                <a:srgbClr val="000000"/>
              </a:solidFill>
              <a:latin typeface="Arial"/>
            </a:endParaRPr>
          </a:p>
        </p:txBody>
      </p:sp>
      <p:sp>
        <p:nvSpPr>
          <p:cNvPr id="322" name="Text 8"/>
          <p:cNvSpPr/>
          <p:nvPr/>
        </p:nvSpPr>
        <p:spPr>
          <a:xfrm>
            <a:off x="5577840" y="3246120"/>
            <a:ext cx="5943240" cy="86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374151"/>
                </a:solidFill>
                <a:latin typeface="Calibri"/>
              </a:rPr>
              <a:t>SODERCAN ofrece un marco institucional serio para proyectos tecnológicos en fase temprana.</a:t>
            </a:r>
            <a:endParaRPr b="0" lang="es-ES" sz="1300" spc="-1" strike="noStrike">
              <a:solidFill>
                <a:srgbClr val="000000"/>
              </a:solidFill>
              <a:latin typeface="Arial"/>
            </a:endParaRPr>
          </a:p>
        </p:txBody>
      </p:sp>
      <p:sp>
        <p:nvSpPr>
          <p:cNvPr id="323" name="Shape 9"/>
          <p:cNvSpPr/>
          <p:nvPr/>
        </p:nvSpPr>
        <p:spPr>
          <a:xfrm>
            <a:off x="640080" y="4709160"/>
            <a:ext cx="594000" cy="594000"/>
          </a:xfrm>
          <a:prstGeom prst="ellipse">
            <a:avLst/>
          </a:prstGeom>
          <a:solidFill>
            <a:srgbClr val="e7efe9"/>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24" name="Image 3" descr="/home/claude/deck/icons/target_ink.png"/>
          <p:cNvPicPr/>
          <p:nvPr/>
        </p:nvPicPr>
        <p:blipFill>
          <a:blip r:embed="rId4"/>
          <a:stretch/>
        </p:blipFill>
        <p:spPr>
          <a:xfrm>
            <a:off x="717480" y="4786560"/>
            <a:ext cx="439560" cy="439560"/>
          </a:xfrm>
          <a:prstGeom prst="rect">
            <a:avLst/>
          </a:prstGeom>
          <a:ln w="0">
            <a:noFill/>
          </a:ln>
        </p:spPr>
      </p:pic>
      <p:sp>
        <p:nvSpPr>
          <p:cNvPr id="325" name="Text 10"/>
          <p:cNvSpPr/>
          <p:nvPr/>
        </p:nvSpPr>
        <p:spPr>
          <a:xfrm>
            <a:off x="1417320" y="4681800"/>
            <a:ext cx="393156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Ser un caso de referencia</a:t>
            </a:r>
            <a:endParaRPr b="0" lang="es-ES" sz="1500" spc="-1" strike="noStrike">
              <a:solidFill>
                <a:srgbClr val="000000"/>
              </a:solidFill>
              <a:latin typeface="Arial"/>
            </a:endParaRPr>
          </a:p>
        </p:txBody>
      </p:sp>
      <p:sp>
        <p:nvSpPr>
          <p:cNvPr id="326" name="Text 11"/>
          <p:cNvSpPr/>
          <p:nvPr/>
        </p:nvSpPr>
        <p:spPr>
          <a:xfrm>
            <a:off x="5577840" y="4663440"/>
            <a:ext cx="5943240" cy="86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300" spc="-1" strike="noStrike">
                <a:solidFill>
                  <a:srgbClr val="374151"/>
                </a:solidFill>
                <a:latin typeface="Calibri"/>
              </a:rPr>
              <a:t>Cantabria como origen de un proyecto de IA aplicada con proyección nacional e internacional.</a:t>
            </a:r>
            <a:endParaRPr b="0" lang="es-ES" sz="1300" spc="-1" strike="noStrike">
              <a:solidFill>
                <a:srgbClr val="000000"/>
              </a:solidFill>
              <a:latin typeface="Arial"/>
            </a:endParaRPr>
          </a:p>
        </p:txBody>
      </p:sp>
      <p:sp>
        <p:nvSpPr>
          <p:cNvPr id="327" name="Shape 12"/>
          <p:cNvSpPr/>
          <p:nvPr/>
        </p:nvSpPr>
        <p:spPr>
          <a:xfrm>
            <a:off x="640080" y="5806440"/>
            <a:ext cx="10881000" cy="685440"/>
          </a:xfrm>
          <a:prstGeom prst="roundRect">
            <a:avLst>
              <a:gd name="adj" fmla="val 10667"/>
            </a:avLst>
          </a:prstGeom>
          <a:solidFill>
            <a:srgbClr val="f4f6f8"/>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28" name="Text 13"/>
          <p:cNvSpPr/>
          <p:nvPr/>
        </p:nvSpPr>
        <p:spPr>
          <a:xfrm>
            <a:off x="868680" y="5806440"/>
            <a:ext cx="10423800" cy="6854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1250" spc="-1" strike="noStrike">
                <a:solidFill>
                  <a:srgbClr val="1c2535"/>
                </a:solidFill>
                <a:latin typeface="Calibri"/>
              </a:rPr>
              <a:t>Este es el punto de partida de una conversación: queremos explorar con SODERCAN si Cantabria es la mejor base para crecer.</a:t>
            </a:r>
            <a:endParaRPr b="0" lang="es-ES" sz="1250" spc="-1" strike="noStrike">
              <a:solidFill>
                <a:srgbClr val="000000"/>
              </a:solidFill>
              <a:latin typeface="Arial"/>
            </a:endParaRPr>
          </a:p>
        </p:txBody>
      </p:sp>
      <p:sp>
        <p:nvSpPr>
          <p:cNvPr id="329" name="Text 14"/>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330" name="Text 15"/>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13</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1" name="Shape 0"/>
          <p:cNvSpPr/>
          <p:nvPr/>
        </p:nvSpPr>
        <p:spPr>
          <a:xfrm>
            <a:off x="640080" y="594360"/>
            <a:ext cx="685440" cy="68544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32" name="Image 0" descr="/home/claude/deck/icons/handshake.png"/>
          <p:cNvPicPr/>
          <p:nvPr/>
        </p:nvPicPr>
        <p:blipFill>
          <a:blip r:embed="rId1"/>
          <a:stretch/>
        </p:blipFill>
        <p:spPr>
          <a:xfrm>
            <a:off x="729360" y="683640"/>
            <a:ext cx="507240" cy="507240"/>
          </a:xfrm>
          <a:prstGeom prst="rect">
            <a:avLst/>
          </a:prstGeom>
          <a:ln w="0">
            <a:noFill/>
          </a:ln>
        </p:spPr>
      </p:pic>
      <p:sp>
        <p:nvSpPr>
          <p:cNvPr id="333" name="Text 1"/>
          <p:cNvSpPr/>
          <p:nvPr/>
        </p:nvSpPr>
        <p:spPr>
          <a:xfrm>
            <a:off x="640080" y="384120"/>
            <a:ext cx="7314840" cy="3196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300" spc="199" strike="noStrike">
                <a:solidFill>
                  <a:srgbClr val="1a5a96"/>
                </a:solidFill>
                <a:latin typeface="Calibri"/>
                <a:ea typeface="Calibri"/>
              </a:rPr>
              <a:t>14 · COLABORACIÓN CON SODERCAN</a:t>
            </a:r>
            <a:endParaRPr b="0" lang="es-ES" sz="1300" spc="-1" strike="noStrike">
              <a:solidFill>
                <a:srgbClr val="000000"/>
              </a:solidFill>
              <a:latin typeface="Arial"/>
            </a:endParaRPr>
          </a:p>
        </p:txBody>
      </p:sp>
      <p:sp>
        <p:nvSpPr>
          <p:cNvPr id="334" name="Text 2"/>
          <p:cNvSpPr/>
          <p:nvPr/>
        </p:nvSpPr>
        <p:spPr>
          <a:xfrm>
            <a:off x="1508760" y="567000"/>
            <a:ext cx="9143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3200" spc="-1" strike="noStrike">
                <a:solidFill>
                  <a:srgbClr val="1c2535"/>
                </a:solidFill>
                <a:latin typeface="Cambria"/>
                <a:ea typeface="Cambria"/>
              </a:rPr>
              <a:t>Cómo podemos colaborar</a:t>
            </a:r>
            <a:endParaRPr b="0" lang="es-ES" sz="3200" spc="-1" strike="noStrike">
              <a:solidFill>
                <a:srgbClr val="000000"/>
              </a:solidFill>
              <a:latin typeface="Arial"/>
            </a:endParaRPr>
          </a:p>
        </p:txBody>
      </p:sp>
      <p:sp>
        <p:nvSpPr>
          <p:cNvPr id="335" name="Shape 3"/>
          <p:cNvSpPr/>
          <p:nvPr/>
        </p:nvSpPr>
        <p:spPr>
          <a:xfrm>
            <a:off x="640080" y="1874520"/>
            <a:ext cx="3428640" cy="2834280"/>
          </a:xfrm>
          <a:prstGeom prst="roundRect">
            <a:avLst>
              <a:gd name="adj" fmla="val 2581"/>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36" name="Shape 4"/>
          <p:cNvSpPr/>
          <p:nvPr/>
        </p:nvSpPr>
        <p:spPr>
          <a:xfrm>
            <a:off x="89604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37" name="Image 1" descr="/home/claude/deck/icons/coins.png"/>
          <p:cNvPicPr/>
          <p:nvPr/>
        </p:nvPicPr>
        <p:blipFill>
          <a:blip r:embed="rId2"/>
          <a:stretch/>
        </p:blipFill>
        <p:spPr>
          <a:xfrm>
            <a:off x="973440" y="2226240"/>
            <a:ext cx="439560" cy="439560"/>
          </a:xfrm>
          <a:prstGeom prst="rect">
            <a:avLst/>
          </a:prstGeom>
          <a:ln w="0">
            <a:noFill/>
          </a:ln>
        </p:spPr>
      </p:pic>
      <p:sp>
        <p:nvSpPr>
          <p:cNvPr id="338" name="Text 5"/>
          <p:cNvSpPr/>
          <p:nvPr/>
        </p:nvSpPr>
        <p:spPr>
          <a:xfrm>
            <a:off x="896040" y="2880360"/>
            <a:ext cx="29257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Evaluar el instrumento adecuado</a:t>
            </a:r>
            <a:endParaRPr b="0" lang="es-ES" sz="1500" spc="-1" strike="noStrike">
              <a:solidFill>
                <a:srgbClr val="000000"/>
              </a:solidFill>
              <a:latin typeface="Arial"/>
            </a:endParaRPr>
          </a:p>
        </p:txBody>
      </p:sp>
      <p:sp>
        <p:nvSpPr>
          <p:cNvPr id="339" name="Text 6"/>
          <p:cNvSpPr/>
          <p:nvPr/>
        </p:nvSpPr>
        <p:spPr>
          <a:xfrm>
            <a:off x="896040" y="3520440"/>
            <a:ext cx="2971440" cy="10512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6b7280"/>
                </a:solidFill>
                <a:latin typeface="Calibri"/>
              </a:rPr>
              <a:t>Subvención a la innovación, préstamo participativo o ambos, según la fase del proyecto.</a:t>
            </a:r>
            <a:endParaRPr b="0" lang="es-ES" sz="1200" spc="-1" strike="noStrike">
              <a:solidFill>
                <a:srgbClr val="000000"/>
              </a:solidFill>
              <a:latin typeface="Arial"/>
            </a:endParaRPr>
          </a:p>
        </p:txBody>
      </p:sp>
      <p:sp>
        <p:nvSpPr>
          <p:cNvPr id="340" name="Shape 7"/>
          <p:cNvSpPr/>
          <p:nvPr/>
        </p:nvSpPr>
        <p:spPr>
          <a:xfrm>
            <a:off x="4343400" y="1874520"/>
            <a:ext cx="3428640" cy="2834280"/>
          </a:xfrm>
          <a:prstGeom prst="roundRect">
            <a:avLst>
              <a:gd name="adj" fmla="val 2581"/>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41" name="Shape 8"/>
          <p:cNvSpPr/>
          <p:nvPr/>
        </p:nvSpPr>
        <p:spPr>
          <a:xfrm>
            <a:off x="459936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42" name="Image 2" descr="/home/claude/deck/icons/network.png"/>
          <p:cNvPicPr/>
          <p:nvPr/>
        </p:nvPicPr>
        <p:blipFill>
          <a:blip r:embed="rId3"/>
          <a:stretch/>
        </p:blipFill>
        <p:spPr>
          <a:xfrm>
            <a:off x="4676760" y="2226240"/>
            <a:ext cx="439560" cy="439560"/>
          </a:xfrm>
          <a:prstGeom prst="rect">
            <a:avLst/>
          </a:prstGeom>
          <a:ln w="0">
            <a:noFill/>
          </a:ln>
        </p:spPr>
      </p:pic>
      <p:sp>
        <p:nvSpPr>
          <p:cNvPr id="343" name="Text 9"/>
          <p:cNvSpPr/>
          <p:nvPr/>
        </p:nvSpPr>
        <p:spPr>
          <a:xfrm>
            <a:off x="4599360" y="2880360"/>
            <a:ext cx="29257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Acceso a la red institucional</a:t>
            </a:r>
            <a:endParaRPr b="0" lang="es-ES" sz="1500" spc="-1" strike="noStrike">
              <a:solidFill>
                <a:srgbClr val="000000"/>
              </a:solidFill>
              <a:latin typeface="Arial"/>
            </a:endParaRPr>
          </a:p>
        </p:txBody>
      </p:sp>
      <p:sp>
        <p:nvSpPr>
          <p:cNvPr id="344" name="Text 10"/>
          <p:cNvSpPr/>
          <p:nvPr/>
        </p:nvSpPr>
        <p:spPr>
          <a:xfrm>
            <a:off x="4599360" y="3520440"/>
            <a:ext cx="2971440" cy="10512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6b7280"/>
                </a:solidFill>
                <a:latin typeface="Calibri"/>
              </a:rPr>
              <a:t>Contacto con otras empresas tecnológicas y agentes del ecosistema de innovación regional.</a:t>
            </a:r>
            <a:endParaRPr b="0" lang="es-ES" sz="1200" spc="-1" strike="noStrike">
              <a:solidFill>
                <a:srgbClr val="000000"/>
              </a:solidFill>
              <a:latin typeface="Arial"/>
            </a:endParaRPr>
          </a:p>
        </p:txBody>
      </p:sp>
      <p:sp>
        <p:nvSpPr>
          <p:cNvPr id="345" name="Shape 11"/>
          <p:cNvSpPr/>
          <p:nvPr/>
        </p:nvSpPr>
        <p:spPr>
          <a:xfrm>
            <a:off x="8046720" y="1874520"/>
            <a:ext cx="3428640" cy="2834280"/>
          </a:xfrm>
          <a:prstGeom prst="roundRect">
            <a:avLst>
              <a:gd name="adj" fmla="val 2581"/>
            </a:avLst>
          </a:prstGeom>
          <a:solidFill>
            <a:srgbClr val="f4f6f8"/>
          </a:solidFill>
          <a:ln w="0">
            <a:noFill/>
          </a:ln>
          <a:effectLst>
            <a:outerShdw algn="bl" blurRad="101520" dir="2700000" dist="37674"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sp>
        <p:nvSpPr>
          <p:cNvPr id="346" name="Shape 12"/>
          <p:cNvSpPr/>
          <p:nvPr/>
        </p:nvSpPr>
        <p:spPr>
          <a:xfrm>
            <a:off x="8302680" y="2148840"/>
            <a:ext cx="594000" cy="594000"/>
          </a:xfrm>
          <a:prstGeom prst="ellipse">
            <a:avLst/>
          </a:prstGeom>
          <a:solidFill>
            <a:srgbClr val="1a5a96"/>
          </a:solidFill>
          <a:ln w="0">
            <a:noFill/>
          </a:ln>
        </p:spPr>
        <p:style>
          <a:lnRef idx="0"/>
          <a:fillRef idx="0"/>
          <a:effectRef idx="0"/>
          <a:fontRef idx="minor"/>
        </p:style>
        <p:txBody>
          <a:bodyPr lIns="90000" rIns="90000" tIns="45000" bIns="45000" anchor="t">
            <a:noAutofit/>
          </a:bodyPr>
          <a:p>
            <a:endParaRPr b="0" lang="es-ES" sz="1800" spc="-1" strike="noStrike">
              <a:solidFill>
                <a:srgbClr val="000000"/>
              </a:solidFill>
              <a:latin typeface="Arial"/>
            </a:endParaRPr>
          </a:p>
        </p:txBody>
      </p:sp>
      <p:pic>
        <p:nvPicPr>
          <p:cNvPr id="347" name="Image 3" descr="/home/claude/deck/icons/graduation.png"/>
          <p:cNvPicPr/>
          <p:nvPr/>
        </p:nvPicPr>
        <p:blipFill>
          <a:blip r:embed="rId4"/>
          <a:stretch/>
        </p:blipFill>
        <p:spPr>
          <a:xfrm>
            <a:off x="8380080" y="2226240"/>
            <a:ext cx="439560" cy="439560"/>
          </a:xfrm>
          <a:prstGeom prst="rect">
            <a:avLst/>
          </a:prstGeom>
          <a:ln w="0">
            <a:noFill/>
          </a:ln>
        </p:spPr>
      </p:pic>
      <p:sp>
        <p:nvSpPr>
          <p:cNvPr id="348" name="Text 13"/>
          <p:cNvSpPr/>
          <p:nvPr/>
        </p:nvSpPr>
        <p:spPr>
          <a:xfrm>
            <a:off x="8302680" y="2880360"/>
            <a:ext cx="292572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500" spc="-1" strike="noStrike">
                <a:solidFill>
                  <a:srgbClr val="1c2535"/>
                </a:solidFill>
                <a:latin typeface="Calibri"/>
              </a:rPr>
              <a:t>Acompañamiento en la instalación</a:t>
            </a:r>
            <a:endParaRPr b="0" lang="es-ES" sz="1500" spc="-1" strike="noStrike">
              <a:solidFill>
                <a:srgbClr val="000000"/>
              </a:solidFill>
              <a:latin typeface="Arial"/>
            </a:endParaRPr>
          </a:p>
        </p:txBody>
      </p:sp>
      <p:sp>
        <p:nvSpPr>
          <p:cNvPr id="349" name="Text 14"/>
          <p:cNvSpPr/>
          <p:nvPr/>
        </p:nvSpPr>
        <p:spPr>
          <a:xfrm>
            <a:off x="8302680" y="3520440"/>
            <a:ext cx="2971440" cy="10512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1200" spc="-1" strike="noStrike">
                <a:solidFill>
                  <a:srgbClr val="6b7280"/>
                </a:solidFill>
                <a:latin typeface="Calibri"/>
              </a:rPr>
              <a:t>Orientación sobre talento, espacios y condiciones para establecer una base operativa en Cantabria.</a:t>
            </a:r>
            <a:endParaRPr b="0" lang="es-ES" sz="1200" spc="-1" strike="noStrike">
              <a:solidFill>
                <a:srgbClr val="000000"/>
              </a:solidFill>
              <a:latin typeface="Arial"/>
            </a:endParaRPr>
          </a:p>
        </p:txBody>
      </p:sp>
      <p:sp>
        <p:nvSpPr>
          <p:cNvPr id="350" name="Text 15"/>
          <p:cNvSpPr/>
          <p:nvPr/>
        </p:nvSpPr>
        <p:spPr>
          <a:xfrm>
            <a:off x="640080" y="5029200"/>
            <a:ext cx="1088100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i="1" lang="en-US" sz="1500" spc="-1" strike="noStrike">
                <a:solidFill>
                  <a:srgbClr val="1a5a96"/>
                </a:solidFill>
                <a:latin typeface="Calibri"/>
              </a:rPr>
              <a:t>Buscamos una relación a largo plazo, no una subvención puntual.</a:t>
            </a:r>
            <a:endParaRPr b="0" lang="es-ES" sz="1500" spc="-1" strike="noStrike">
              <a:solidFill>
                <a:srgbClr val="000000"/>
              </a:solidFill>
              <a:latin typeface="Arial"/>
            </a:endParaRPr>
          </a:p>
        </p:txBody>
      </p:sp>
      <p:sp>
        <p:nvSpPr>
          <p:cNvPr id="351" name="Text 16"/>
          <p:cNvSpPr/>
          <p:nvPr/>
        </p:nvSpPr>
        <p:spPr>
          <a:xfrm>
            <a:off x="640080" y="6400800"/>
            <a:ext cx="1828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100" spc="-1" strike="noStrike">
                <a:solidFill>
                  <a:srgbClr val="6b7280"/>
                </a:solidFill>
                <a:latin typeface="Calibri"/>
              </a:rPr>
              <a:t>Trabflow</a:t>
            </a:r>
            <a:endParaRPr b="0" lang="es-ES" sz="1100" spc="-1" strike="noStrike">
              <a:solidFill>
                <a:srgbClr val="000000"/>
              </a:solidFill>
              <a:latin typeface="Arial"/>
            </a:endParaRPr>
          </a:p>
        </p:txBody>
      </p:sp>
      <p:sp>
        <p:nvSpPr>
          <p:cNvPr id="352" name="Text 17"/>
          <p:cNvSpPr/>
          <p:nvPr/>
        </p:nvSpPr>
        <p:spPr>
          <a:xfrm>
            <a:off x="11548800" y="6400800"/>
            <a:ext cx="365400" cy="27396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1100" spc="-1" strike="noStrike">
                <a:solidFill>
                  <a:srgbClr val="6b7280"/>
                </a:solidFill>
                <a:latin typeface="Calibri"/>
              </a:rPr>
              <a:t>14</a:t>
            </a:r>
            <a:endParaRPr b="0" lang="es-E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2535"/>
        </a:solidFill>
      </p:bgPr>
    </p:bg>
    <p:spTree>
      <p:nvGrpSpPr>
        <p:cNvPr id="1" name=""/>
        <p:cNvGrpSpPr/>
        <p:nvPr/>
      </p:nvGrpSpPr>
      <p:grpSpPr>
        <a:xfrm>
          <a:off x="0" y="0"/>
          <a:ext cx="0" cy="0"/>
          <a:chOff x="0" y="0"/>
          <a:chExt cx="0" cy="0"/>
        </a:xfrm>
      </p:grpSpPr>
      <p:sp>
        <p:nvSpPr>
          <p:cNvPr id="353" name="Text 0"/>
          <p:cNvSpPr/>
          <p:nvPr/>
        </p:nvSpPr>
        <p:spPr>
          <a:xfrm>
            <a:off x="822960" y="2103120"/>
            <a:ext cx="9143640" cy="118836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6000" spc="-1" strike="noStrike">
                <a:solidFill>
                  <a:srgbClr val="ffffff"/>
                </a:solidFill>
                <a:latin typeface="Cambria"/>
                <a:ea typeface="Cambria"/>
              </a:rPr>
              <a:t>Gracias</a:t>
            </a:r>
            <a:endParaRPr b="0" lang="es-ES" sz="6000" spc="-1" strike="noStrike">
              <a:solidFill>
                <a:srgbClr val="ffffff"/>
              </a:solidFill>
              <a:latin typeface="Arial"/>
            </a:endParaRPr>
          </a:p>
        </p:txBody>
      </p:sp>
      <p:sp>
        <p:nvSpPr>
          <p:cNvPr id="354" name="Text 1"/>
          <p:cNvSpPr/>
          <p:nvPr/>
        </p:nvSpPr>
        <p:spPr>
          <a:xfrm>
            <a:off x="822960" y="3246120"/>
            <a:ext cx="9600840" cy="6397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i="1" lang="en-US" sz="2000" spc="-1" strike="noStrike">
                <a:solidFill>
                  <a:srgbClr val="cbd5e1"/>
                </a:solidFill>
                <a:latin typeface="Calibri"/>
              </a:rPr>
              <a:t>Construyamos juntos el sistema operativo del instalador autónomo.</a:t>
            </a:r>
            <a:endParaRPr b="0" lang="es-ES" sz="2000" spc="-1" strike="noStrike">
              <a:solidFill>
                <a:srgbClr val="ffffff"/>
              </a:solidFill>
              <a:latin typeface="Arial"/>
            </a:endParaRPr>
          </a:p>
        </p:txBody>
      </p:sp>
      <p:sp>
        <p:nvSpPr>
          <p:cNvPr id="355" name="Shape 2"/>
          <p:cNvSpPr/>
          <p:nvPr/>
        </p:nvSpPr>
        <p:spPr>
          <a:xfrm>
            <a:off x="822960" y="4023360"/>
            <a:ext cx="2011680" cy="360"/>
          </a:xfrm>
          <a:prstGeom prst="line">
            <a:avLst/>
          </a:prstGeom>
          <a:ln w="31750">
            <a:solidFill>
              <a:srgbClr val="c8922a"/>
            </a:solidFill>
            <a:round/>
          </a:ln>
        </p:spPr>
        <p:style>
          <a:lnRef idx="0"/>
          <a:fillRef idx="0"/>
          <a:effectRef idx="0"/>
          <a:fontRef idx="minor"/>
        </p:style>
        <p:txBody>
          <a:bodyPr lIns="90000" rIns="90000" tIns="45000" bIns="45000" anchor="t" anchorCtr="1">
            <a:noAutofit/>
          </a:bodyPr>
          <a:p>
            <a:endParaRPr b="0" lang="es-ES" sz="1800" spc="-1" strike="noStrike">
              <a:solidFill>
                <a:srgbClr val="ffffff"/>
              </a:solidFill>
              <a:latin typeface="Arial"/>
            </a:endParaRPr>
          </a:p>
        </p:txBody>
      </p:sp>
      <p:sp>
        <p:nvSpPr>
          <p:cNvPr id="356" name="Text 3"/>
          <p:cNvSpPr/>
          <p:nvPr/>
        </p:nvSpPr>
        <p:spPr>
          <a:xfrm>
            <a:off x="822960" y="4480560"/>
            <a:ext cx="8229240" cy="100548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1" lang="en-US" sz="1400" spc="-1" strike="noStrike">
                <a:solidFill>
                  <a:srgbClr val="9aa5b1"/>
                </a:solidFill>
                <a:latin typeface="Calibri"/>
              </a:rPr>
              <a:t>Fernando Carbonell Cabo</a:t>
            </a:r>
            <a:endParaRPr b="0" lang="es-ES" sz="1400" spc="-1" strike="noStrike">
              <a:solidFill>
                <a:srgbClr val="ffffff"/>
              </a:solidFill>
              <a:latin typeface="Arial"/>
            </a:endParaRPr>
          </a:p>
          <a:p>
            <a:pPr>
              <a:lnSpc>
                <a:spcPct val="100000"/>
              </a:lnSpc>
              <a:tabLst>
                <a:tab algn="l" pos="0"/>
              </a:tabLst>
            </a:pPr>
            <a:r>
              <a:rPr b="0" lang="en-US" sz="1400" spc="-1" strike="noStrike">
                <a:solidFill>
                  <a:srgbClr val="9aa5b1"/>
                </a:solidFill>
                <a:latin typeface="Calibri"/>
              </a:rPr>
              <a:t>Fundador y Administrador Único, TrabFlow Technologies, S.L.</a:t>
            </a:r>
            <a:endParaRPr b="0" lang="es-ES" sz="1400" spc="-1" strike="noStrike">
              <a:solidFill>
                <a:srgbClr val="ffffff"/>
              </a:solidFill>
              <a:latin typeface="Arial"/>
            </a:endParaRPr>
          </a:p>
          <a:p>
            <a:pPr>
              <a:lnSpc>
                <a:spcPct val="100000"/>
              </a:lnSpc>
              <a:tabLst>
                <a:tab algn="l" pos="0"/>
              </a:tabLst>
            </a:pPr>
            <a:r>
              <a:rPr b="0" lang="en-US" sz="1400" spc="-1" strike="noStrike">
                <a:solidFill>
                  <a:srgbClr val="9aa5b1"/>
                </a:solidFill>
                <a:latin typeface="Calibri"/>
              </a:rPr>
              <a:t>fercarboc@gmail.com   ·   trabflow.com</a:t>
            </a:r>
            <a:endParaRPr b="0" lang="es-ES" sz="1400" spc="-1" strike="noStrike">
              <a:solidFill>
                <a:srgbClr val="ffffff"/>
              </a:solidFill>
              <a:latin typeface="Arial"/>
            </a:endParaRPr>
          </a:p>
        </p:txBody>
      </p:sp>
      <p:sp>
        <p:nvSpPr>
          <p:cNvPr id="357" name="Shape 4"/>
          <p:cNvSpPr/>
          <p:nvPr/>
        </p:nvSpPr>
        <p:spPr>
          <a:xfrm>
            <a:off x="10241280" y="5212080"/>
            <a:ext cx="1005480" cy="1005480"/>
          </a:xfrm>
          <a:prstGeom prst="ellipse">
            <a:avLst/>
          </a:prstGeom>
          <a:solidFill>
            <a:srgbClr val="22304a"/>
          </a:solidFill>
          <a:ln w="0">
            <a:noFill/>
          </a:ln>
        </p:spPr>
        <p:style>
          <a:lnRef idx="0"/>
          <a:fillRef idx="0"/>
          <a:effectRef idx="0"/>
          <a:fontRef idx="minor"/>
        </p:style>
        <p:txBody>
          <a:bodyPr lIns="90000" rIns="90000" tIns="45000" bIns="45000" anchor="t">
            <a:noAutofit/>
          </a:bodyPr>
          <a:p>
            <a:endParaRPr b="0" lang="es-ES" sz="1800" spc="-1" strike="noStrike">
              <a:solidFill>
                <a:srgbClr val="ffffff"/>
              </a:solidFill>
              <a:latin typeface="Arial"/>
            </a:endParaRPr>
          </a:p>
        </p:txBody>
      </p:sp>
      <p:pic>
        <p:nvPicPr>
          <p:cNvPr id="358" name="Image 0" descr="/home/claude/deck/icons/check.png"/>
          <p:cNvPicPr/>
          <p:nvPr/>
        </p:nvPicPr>
        <p:blipFill>
          <a:blip r:embed="rId1"/>
          <a:stretch/>
        </p:blipFill>
        <p:spPr>
          <a:xfrm>
            <a:off x="10371960" y="5342760"/>
            <a:ext cx="744120" cy="744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31</TotalTime>
  <Application>LibreOffice/7.4.3.2$Windows_X86_64 LibreOffice_project/1048a8393ae2eeec98dff31b5c133c5f1d08b890</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2026-07-06T21:36:59Z</dcterms:created>
  <dc:creator>TrabFlow Technologies, S.L.</dc:creator>
  <dc:description/>
  <dc:language>es-ES</dc:language>
  <cp:lastModifiedBy/>
  <dcterms:modified xsi:type="dcterms:W3CDTF">2026-07-11T12:44:32Z</dcterms:modified>
  <cp:revision>4</cp:revision>
  <dc:subject>PptxGenJS Presentation</dc:subject>
  <dc:title>TradeFlow — Presentación institucional SODERCAN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